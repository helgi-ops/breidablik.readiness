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In the next eight minutes, we're going to walk through a single training day at Breiðablik FC — Monday, April twenty-second, twenty twenty-six. You'll see the actual coach view at three key moments: the morning dashboard before the players arrive, the post-session sync after training, and the moment the coach locks in tomorrow's plan. Real players. Real flags. Real decisions.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day at a glance. Breiðablik trains Monday morning at ten — the kind of session that shapes the rest of the week. The coach has three key touch-points with MicroPulse: morning dashboard before the players arrive, the post-session sync at one fifteen when training data flows in, and the moment at five p.m. when tomorrow's plan gets locked. We'll follow five real players through the 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thirty. Coach gets up, opens MicroPulse on his phone before he even leaves the house. This is what he sees. Five players checked in overnight. Three green, one yellow, one red. The names are real Breiðablik first-team players. The numbers are real readings from the night before. Notice — the coach hasn't read any questionnaire. He hasn't done any analysis. He sees five rows. One of them is 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coach taps Andri Yeoman. Twenty-one-year-old midfielder. All five wellness metrics are within his personal standard-deviation band — within his own normal. Composite load is at zero point nine, basically baseline. ACWR one point one, right in the sweet spot. The recommendation panel says, full session. Andri trains. No conversation needed. Coach moves to the next name.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Arnór Tristan. Defender. The flag is red. Look at the metric breakdown — fatigue is four point three standard deviations below his own normal. Sleep duration, two below. Stress, two point three below. Soreness, two point three below. Four metrics all crashing at once — the pattern MicroPulse recognises as general illness or severe under-recovery, not a single isolated issue. The recommendation: recovery day. Coach now knows: don't train Tristan. Send him to medical. One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Viktor Karl. Forward. Also red — but for a completely different reason. Look at the breakdown. Stress is fine. Sleep quality is fine. The story is one number. Soreness, three point seven standard deviations below his baseline. Plus moderate fatigue. This is classic post-match DOMS — delayed onset muscle soreness — from the ninety minutes he played Saturday against Stjarnan. The recommendation panel knows: this isn't illness. It's recovery. No eccentric drills today. Coach plans Viktor for pool work and mobility. Different conversation. Different action.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watch this one carefully. Arnór Gauti. Winger. Total wellness twenty-two out of twenty-five — that's high. Everything looks great. But MicroPulse flags him yellow anyway. Why? Look at the breakdown. Sleep duration alone is four point four standard deviations below his personal baseline. The worst single-metric drop anyone on the squad has had in twenty-eight days. The total looks healthy. The underlying signal isn't. Without MicroPulse, the coach sees a healthy total and moves on. With MicroPulse, the coach knows to pull Gauti aside for a thirty-second conversation. 'How was your sleep?' Maybe it's nothing. Maybe it's a relationship issue. Maybe it's a phone-in-the-bedroom problem. Either way, the conversation happens.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fifteen. Coach goes back to the week setup view. The plan he made on Friday had everyone training together — high-intensity tactical with pressing and conditioning. He adjusts. Main squad runs the full plan. Arnór Gauti gets reduced volume — pull him out of sprint conditioning. Viktor Karl pivots to pool work and mobility — no eccentric loading. Arnór Tristan is off entirely, going straight to medical. Three modifications. Five minutes of work. Every decision is evidence-based, defensible, and documented in MicroPulse. Coach drives to the training ground.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fifteen. Training is finishing. Players grab their phones, open the MicroPulse app, tap their session R-P-E. It takes ten seconds. The coach's view fills up live as the values arrive. Notice — Viktor Karl's session is logged separately. Pool work, thirty-five minutes, R-P-E three. The system knows he was on a modified plan and weights it accordingly. Arnór Gauti — sixty minutes, R-P-E five. Reduced volume exactly as planned. Compliance baked into the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thirty. The Catapult pods sync to MicroPulse automatically. The system runs what's called a decoupling check — comparing each player's internal cost (R-P-E times duration) against their external work (kilometres covered). If the internal cost is higher than usual for the same external load — that's an early-warning fatigue signal, even before the player feels it. Today, three players show drift. Andri is fine. Magnús is yellow — slight elevation. Kristinn — two point four standard deviations above his personal baseline. He paid a much higher metabolic price for the same work today than he usually does. Worth watching.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pulls up Kristinn's decoupling card. His usual ratio of internal cost — R-P-E times duration — divided by external work in kilometres, is around ninety-two. Today it's one hundred and sixty-five. Eighty percent more internal cost for the same external work. The Halson twenty-fourteen research calls this the classic early-warning fatigue signal — often appearing twenty-four to forty-eight hours before subjective wellness reflects it. Kristinn felt fine this morning. His wellness questionnaire was normal. But his body is telling a different story. Coach sends the medical team a message: keep an eye on Kristinn this week.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p.m. Coach finalises Tuesday's plan. Every routing decision is informed by today's data. Andri — full session, cleared. Magnús — full session but flagged for monitoring because of his yellow decoupling today. Kristinn — reduced thirty percent and flagged for medical follow-up. Arnór Gauti — full session but sleep watch on him. Viktor Karl — tactical only, no sprint work, still in DOMS recovery. Arnór Tristan — off entirely, awaiting medical clearance. Six players. Six different plans. All locked in before the players have even seen tomorrow's schedule.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back. Today the coach had three conversations he wouldn't have had without MicroPulse. A sleep check with Gauti — flagged because of an outlier his total score hid. A medical referral for Tristan — caught the illness pattern before it broke down further. And a decoupling watch on Kristinn — fatigue signal twenty-four hours before his subjective wellness will reflect it. Three conversations. Three potential injuries avoided or de-escalated. One typical Monday.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Want to see this with your players? We're offering a ninety-day pilot with full platform access. Your players' data. Your coaching decisions. We document everything so you walk away with a case study whether you decide to continue or not. Per-athlete baselines from day fourteen. Decoupling early-warnings from session one. Coach-explain panels on every flag. Let's talk.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5486400" cy="365760"/>
          </a:xfrm>
          <a:prstGeom prst="rect">
            <a:avLst/>
          </a:prstGeom>
          <a:noFill/>
        </p:spPr>
        <p:txBody>
          <a:bodyPr wrap="square" lIns="0" rIns="0" tIns="0" bIns="0" anchor="t">
            <a:spAutoFit/>
          </a:bodyPr>
          <a:lstStyle/>
          <a:p>
            <a:pPr algn="l"/>
            <a:r>
              <a:rPr sz="1100" b="1">
                <a:solidFill>
                  <a:srgbClr val="29B7E6"/>
                </a:solidFill>
                <a:latin typeface="Calibri"/>
              </a:rPr>
              <a:t>MICROPULSE</a:t>
            </a:r>
          </a:p>
        </p:txBody>
      </p:sp>
      <p:sp>
        <p:nvSpPr>
          <p:cNvPr id="4" name="TextBox 3"/>
          <p:cNvSpPr txBox="1"/>
          <p:nvPr/>
        </p:nvSpPr>
        <p:spPr>
          <a:xfrm>
            <a:off x="640080" y="822960"/>
            <a:ext cx="5486400" cy="365760"/>
          </a:xfrm>
          <a:prstGeom prst="rect">
            <a:avLst/>
          </a:prstGeom>
          <a:noFill/>
        </p:spPr>
        <p:txBody>
          <a:bodyPr wrap="square" lIns="0" rIns="0" tIns="0" bIns="0" anchor="t">
            <a:spAutoFit/>
          </a:bodyPr>
          <a:lstStyle/>
          <a:p>
            <a:pPr algn="l"/>
            <a:r>
              <a:rPr sz="1000" b="0">
                <a:solidFill>
                  <a:srgbClr val="94A3B8"/>
                </a:solidFill>
                <a:latin typeface="Calibri"/>
              </a:rPr>
              <a:t>BREIÐABLIK FC  ·  PILOT YEAR 1</a:t>
            </a:r>
          </a:p>
        </p:txBody>
      </p:sp>
      <p:sp>
        <p:nvSpPr>
          <p:cNvPr id="5" name="TextBox 4"/>
          <p:cNvSpPr txBox="1"/>
          <p:nvPr/>
        </p:nvSpPr>
        <p:spPr>
          <a:xfrm>
            <a:off x="640080" y="1828800"/>
            <a:ext cx="11430000" cy="1097280"/>
          </a:xfrm>
          <a:prstGeom prst="rect">
            <a:avLst/>
          </a:prstGeom>
          <a:noFill/>
        </p:spPr>
        <p:txBody>
          <a:bodyPr wrap="square" lIns="0" rIns="0" tIns="0" bIns="0" anchor="t">
            <a:spAutoFit/>
          </a:bodyPr>
          <a:lstStyle/>
          <a:p>
            <a:pPr algn="l"/>
            <a:r>
              <a:rPr sz="5400" b="1">
                <a:solidFill>
                  <a:srgbClr val="FFFFFF"/>
                </a:solidFill>
                <a:latin typeface="Arial Black"/>
              </a:rPr>
              <a:t>A day with the coach view</a:t>
            </a:r>
          </a:p>
        </p:txBody>
      </p:sp>
      <p:sp>
        <p:nvSpPr>
          <p:cNvPr id="6" name="TextBox 5"/>
          <p:cNvSpPr txBox="1"/>
          <p:nvPr/>
        </p:nvSpPr>
        <p:spPr>
          <a:xfrm>
            <a:off x="640080" y="3017520"/>
            <a:ext cx="10972800" cy="548640"/>
          </a:xfrm>
          <a:prstGeom prst="rect">
            <a:avLst/>
          </a:prstGeom>
          <a:noFill/>
        </p:spPr>
        <p:txBody>
          <a:bodyPr wrap="square" lIns="0" rIns="0" tIns="0" bIns="0" anchor="t">
            <a:spAutoFit/>
          </a:bodyPr>
          <a:lstStyle/>
          <a:p>
            <a:pPr algn="l"/>
            <a:r>
              <a:rPr sz="2200" b="0">
                <a:solidFill>
                  <a:srgbClr val="29B7E6"/>
                </a:solidFill>
                <a:latin typeface="Calibri"/>
              </a:rPr>
              <a:t>Real players. Real flags. Real decisions.</a:t>
            </a:r>
          </a:p>
        </p:txBody>
      </p:sp>
      <p:sp>
        <p:nvSpPr>
          <p:cNvPr id="7" name="TextBox 6"/>
          <p:cNvSpPr txBox="1"/>
          <p:nvPr/>
        </p:nvSpPr>
        <p:spPr>
          <a:xfrm>
            <a:off x="640080" y="3520440"/>
            <a:ext cx="10972800" cy="548640"/>
          </a:xfrm>
          <a:prstGeom prst="rect">
            <a:avLst/>
          </a:prstGeom>
          <a:noFill/>
        </p:spPr>
        <p:txBody>
          <a:bodyPr wrap="square" lIns="0" rIns="0" tIns="0" bIns="0" anchor="t">
            <a:spAutoFit/>
          </a:bodyPr>
          <a:lstStyle/>
          <a:p>
            <a:pPr algn="l"/>
            <a:r>
              <a:rPr sz="1800" b="0">
                <a:solidFill>
                  <a:srgbClr val="94A3B8"/>
                </a:solidFill>
                <a:latin typeface="Calibri"/>
              </a:rPr>
              <a:t>Monday Apr 22, 2026 · Breiðablik FC</a:t>
            </a:r>
          </a:p>
        </p:txBody>
      </p:sp>
      <p:sp>
        <p:nvSpPr>
          <p:cNvPr id="8" name="Rounded Rectangle 7"/>
          <p:cNvSpPr/>
          <p:nvPr/>
        </p:nvSpPr>
        <p:spPr>
          <a:xfrm>
            <a:off x="540867" y="4937760"/>
            <a:ext cx="3520440" cy="1463040"/>
          </a:xfrm>
          <a:prstGeom prst="roundRect">
            <a:avLst>
              <a:gd name="adj" fmla="val 6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0867" y="5074920"/>
            <a:ext cx="3520440" cy="411480"/>
          </a:xfrm>
          <a:prstGeom prst="rect">
            <a:avLst/>
          </a:prstGeom>
          <a:noFill/>
        </p:spPr>
        <p:txBody>
          <a:bodyPr wrap="square" lIns="0" rIns="0" tIns="0" bIns="0" anchor="t">
            <a:spAutoFit/>
          </a:bodyPr>
          <a:lstStyle/>
          <a:p>
            <a:pPr algn="ctr"/>
            <a:r>
              <a:rPr sz="2200" b="1">
                <a:solidFill>
                  <a:srgbClr val="29B7E6"/>
                </a:solidFill>
                <a:latin typeface="Arial Black"/>
              </a:rPr>
              <a:t>06:30</a:t>
            </a:r>
          </a:p>
        </p:txBody>
      </p:sp>
      <p:sp>
        <p:nvSpPr>
          <p:cNvPr id="10" name="TextBox 9"/>
          <p:cNvSpPr txBox="1"/>
          <p:nvPr/>
        </p:nvSpPr>
        <p:spPr>
          <a:xfrm>
            <a:off x="540867" y="5532120"/>
            <a:ext cx="3520440" cy="320040"/>
          </a:xfrm>
          <a:prstGeom prst="rect">
            <a:avLst/>
          </a:prstGeom>
          <a:noFill/>
        </p:spPr>
        <p:txBody>
          <a:bodyPr wrap="square" lIns="0" rIns="0" tIns="0" bIns="0" anchor="t">
            <a:spAutoFit/>
          </a:bodyPr>
          <a:lstStyle/>
          <a:p>
            <a:pPr algn="ctr"/>
            <a:r>
              <a:rPr sz="1000" b="1">
                <a:solidFill>
                  <a:srgbClr val="FFFFFF"/>
                </a:solidFill>
                <a:latin typeface="Calibri"/>
              </a:rPr>
              <a:t>MORNING DASHBOARD</a:t>
            </a:r>
          </a:p>
        </p:txBody>
      </p:sp>
      <p:sp>
        <p:nvSpPr>
          <p:cNvPr id="11" name="TextBox 10"/>
          <p:cNvSpPr txBox="1"/>
          <p:nvPr/>
        </p:nvSpPr>
        <p:spPr>
          <a:xfrm>
            <a:off x="723747" y="5897880"/>
            <a:ext cx="3154680" cy="365760"/>
          </a:xfrm>
          <a:prstGeom prst="rect">
            <a:avLst/>
          </a:prstGeom>
          <a:noFill/>
        </p:spPr>
        <p:txBody>
          <a:bodyPr wrap="square" lIns="0" rIns="0" tIns="0" bIns="0" anchor="t">
            <a:spAutoFit/>
          </a:bodyPr>
          <a:lstStyle/>
          <a:p>
            <a:pPr algn="ctr"/>
            <a:r>
              <a:rPr sz="1100" b="0">
                <a:solidFill>
                  <a:srgbClr val="94A3B8"/>
                </a:solidFill>
                <a:latin typeface="Calibri"/>
              </a:rPr>
              <a:t>Who's red, why, what to change</a:t>
            </a:r>
          </a:p>
        </p:txBody>
      </p:sp>
      <p:sp>
        <p:nvSpPr>
          <p:cNvPr id="12" name="Rounded Rectangle 11"/>
          <p:cNvSpPr/>
          <p:nvPr/>
        </p:nvSpPr>
        <p:spPr>
          <a:xfrm>
            <a:off x="4335627" y="4937760"/>
            <a:ext cx="3520440" cy="1463040"/>
          </a:xfrm>
          <a:prstGeom prst="roundRect">
            <a:avLst>
              <a:gd name="adj" fmla="val 6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35627" y="5074920"/>
            <a:ext cx="3520440" cy="411480"/>
          </a:xfrm>
          <a:prstGeom prst="rect">
            <a:avLst/>
          </a:prstGeom>
          <a:noFill/>
        </p:spPr>
        <p:txBody>
          <a:bodyPr wrap="square" lIns="0" rIns="0" tIns="0" bIns="0" anchor="t">
            <a:spAutoFit/>
          </a:bodyPr>
          <a:lstStyle/>
          <a:p>
            <a:pPr algn="ctr"/>
            <a:r>
              <a:rPr sz="2200" b="1">
                <a:solidFill>
                  <a:srgbClr val="29B7E6"/>
                </a:solidFill>
                <a:latin typeface="Arial Black"/>
              </a:rPr>
              <a:t>13:15</a:t>
            </a:r>
          </a:p>
        </p:txBody>
      </p:sp>
      <p:sp>
        <p:nvSpPr>
          <p:cNvPr id="14" name="TextBox 13"/>
          <p:cNvSpPr txBox="1"/>
          <p:nvPr/>
        </p:nvSpPr>
        <p:spPr>
          <a:xfrm>
            <a:off x="4335627" y="5532120"/>
            <a:ext cx="3520440" cy="320040"/>
          </a:xfrm>
          <a:prstGeom prst="rect">
            <a:avLst/>
          </a:prstGeom>
          <a:noFill/>
        </p:spPr>
        <p:txBody>
          <a:bodyPr wrap="square" lIns="0" rIns="0" tIns="0" bIns="0" anchor="t">
            <a:spAutoFit/>
          </a:bodyPr>
          <a:lstStyle/>
          <a:p>
            <a:pPr algn="ctr"/>
            <a:r>
              <a:rPr sz="1000" b="1">
                <a:solidFill>
                  <a:srgbClr val="FFFFFF"/>
                </a:solidFill>
                <a:latin typeface="Calibri"/>
              </a:rPr>
              <a:t>POST-SESSION SYNC</a:t>
            </a:r>
          </a:p>
        </p:txBody>
      </p:sp>
      <p:sp>
        <p:nvSpPr>
          <p:cNvPr id="15" name="TextBox 14"/>
          <p:cNvSpPr txBox="1"/>
          <p:nvPr/>
        </p:nvSpPr>
        <p:spPr>
          <a:xfrm>
            <a:off x="4518507" y="5897880"/>
            <a:ext cx="3154680" cy="365760"/>
          </a:xfrm>
          <a:prstGeom prst="rect">
            <a:avLst/>
          </a:prstGeom>
          <a:noFill/>
        </p:spPr>
        <p:txBody>
          <a:bodyPr wrap="square" lIns="0" rIns="0" tIns="0" bIns="0" anchor="t">
            <a:spAutoFit/>
          </a:bodyPr>
          <a:lstStyle/>
          <a:p>
            <a:pPr algn="ctr"/>
            <a:r>
              <a:rPr sz="1100" b="0">
                <a:solidFill>
                  <a:srgbClr val="94A3B8"/>
                </a:solidFill>
                <a:latin typeface="Calibri"/>
              </a:rPr>
              <a:t>RPE in, GPS in, decoupling check</a:t>
            </a:r>
          </a:p>
        </p:txBody>
      </p:sp>
      <p:sp>
        <p:nvSpPr>
          <p:cNvPr id="16" name="Rounded Rectangle 15"/>
          <p:cNvSpPr/>
          <p:nvPr/>
        </p:nvSpPr>
        <p:spPr>
          <a:xfrm>
            <a:off x="8130387" y="4937760"/>
            <a:ext cx="3520440" cy="1463040"/>
          </a:xfrm>
          <a:prstGeom prst="roundRect">
            <a:avLst>
              <a:gd name="adj" fmla="val 6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0387" y="5074920"/>
            <a:ext cx="3520440" cy="411480"/>
          </a:xfrm>
          <a:prstGeom prst="rect">
            <a:avLst/>
          </a:prstGeom>
          <a:noFill/>
        </p:spPr>
        <p:txBody>
          <a:bodyPr wrap="square" lIns="0" rIns="0" tIns="0" bIns="0" anchor="t">
            <a:spAutoFit/>
          </a:bodyPr>
          <a:lstStyle/>
          <a:p>
            <a:pPr algn="ctr"/>
            <a:r>
              <a:rPr sz="2200" b="1">
                <a:solidFill>
                  <a:srgbClr val="29B7E6"/>
                </a:solidFill>
                <a:latin typeface="Arial Black"/>
              </a:rPr>
              <a:t>17:00</a:t>
            </a:r>
          </a:p>
        </p:txBody>
      </p:sp>
      <p:sp>
        <p:nvSpPr>
          <p:cNvPr id="18" name="TextBox 17"/>
          <p:cNvSpPr txBox="1"/>
          <p:nvPr/>
        </p:nvSpPr>
        <p:spPr>
          <a:xfrm>
            <a:off x="8130387" y="5532120"/>
            <a:ext cx="3520440" cy="320040"/>
          </a:xfrm>
          <a:prstGeom prst="rect">
            <a:avLst/>
          </a:prstGeom>
          <a:noFill/>
        </p:spPr>
        <p:txBody>
          <a:bodyPr wrap="square" lIns="0" rIns="0" tIns="0" bIns="0" anchor="t">
            <a:spAutoFit/>
          </a:bodyPr>
          <a:lstStyle/>
          <a:p>
            <a:pPr algn="ctr"/>
            <a:r>
              <a:rPr sz="1000" b="1">
                <a:solidFill>
                  <a:srgbClr val="FFFFFF"/>
                </a:solidFill>
                <a:latin typeface="Calibri"/>
              </a:rPr>
              <a:t>TOMORROW LOCKED</a:t>
            </a:r>
          </a:p>
        </p:txBody>
      </p:sp>
      <p:sp>
        <p:nvSpPr>
          <p:cNvPr id="19" name="TextBox 18"/>
          <p:cNvSpPr txBox="1"/>
          <p:nvPr/>
        </p:nvSpPr>
        <p:spPr>
          <a:xfrm>
            <a:off x="8313267" y="5897880"/>
            <a:ext cx="3154680" cy="365760"/>
          </a:xfrm>
          <a:prstGeom prst="rect">
            <a:avLst/>
          </a:prstGeom>
          <a:noFill/>
        </p:spPr>
        <p:txBody>
          <a:bodyPr wrap="square" lIns="0" rIns="0" tIns="0" bIns="0" anchor="t">
            <a:spAutoFit/>
          </a:bodyPr>
          <a:lstStyle/>
          <a:p>
            <a:pPr algn="ctr"/>
            <a:r>
              <a:rPr sz="1100" b="0">
                <a:solidFill>
                  <a:srgbClr val="94A3B8"/>
                </a:solidFill>
                <a:latin typeface="Calibri"/>
              </a:rPr>
              <a:t>Plan adjusted before the players know</a:t>
            </a:r>
          </a:p>
        </p:txBody>
      </p:sp>
      <p:sp>
        <p:nvSpPr>
          <p:cNvPr id="20" name="TextBox 19"/>
          <p:cNvSpPr txBox="1"/>
          <p:nvPr/>
        </p:nvSpPr>
        <p:spPr>
          <a:xfrm>
            <a:off x="11247120" y="6446520"/>
            <a:ext cx="914400" cy="274320"/>
          </a:xfrm>
          <a:prstGeom prst="rect">
            <a:avLst/>
          </a:prstGeom>
          <a:noFill/>
        </p:spPr>
        <p:txBody>
          <a:bodyPr wrap="square" lIns="0" rIns="0" tIns="0" bIns="0" anchor="t">
            <a:spAutoFit/>
          </a:bodyPr>
          <a:lstStyle/>
          <a:p>
            <a:pPr algn="r"/>
            <a:r>
              <a:rPr sz="900" b="0">
                <a:solidFill>
                  <a:srgbClr val="FFFFFF"/>
                </a:solidFill>
                <a:latin typeface="Calibri"/>
              </a:rPr>
              <a:t>01 / 14</a:t>
            </a:r>
          </a:p>
        </p:txBody>
      </p:sp>
      <p:sp>
        <p:nvSpPr>
          <p:cNvPr id="21" name="TextBox 20"/>
          <p:cNvSpPr txBox="1"/>
          <p:nvPr/>
        </p:nvSpPr>
        <p:spPr>
          <a:xfrm>
            <a:off x="365760" y="6446520"/>
            <a:ext cx="5486400" cy="274320"/>
          </a:xfrm>
          <a:prstGeom prst="rect">
            <a:avLst/>
          </a:prstGeom>
          <a:noFill/>
        </p:spPr>
        <p:txBody>
          <a:bodyPr wrap="square" lIns="0" rIns="0" tIns="0" bIns="0" anchor="t">
            <a:spAutoFit/>
          </a:bodyPr>
          <a:lstStyle/>
          <a:p>
            <a:pPr algn="l"/>
            <a:r>
              <a:rPr sz="900" b="0">
                <a:solidFill>
                  <a:srgbClr val="FFFFFF"/>
                </a:solidFill>
                <a:latin typeface="Calibri"/>
              </a:rPr>
              <a:t>MICROPULSE  ·  performance intelligence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594360"/>
            <a:ext cx="7315200" cy="274320"/>
          </a:xfrm>
          <a:prstGeom prst="rect">
            <a:avLst/>
          </a:prstGeom>
          <a:noFill/>
        </p:spPr>
        <p:txBody>
          <a:bodyPr wrap="square" lIns="0" rIns="0" tIns="0" bIns="0" anchor="t">
            <a:spAutoFit/>
          </a:bodyPr>
          <a:lstStyle/>
          <a:p>
            <a:pPr algn="l"/>
            <a:r>
              <a:rPr sz="1100" b="1">
                <a:solidFill>
                  <a:srgbClr val="005A2B"/>
                </a:solidFill>
                <a:latin typeface="Calibri"/>
              </a:rPr>
              <a:t>MONDAY · APR 22 · BREIÐABLIK FC</a:t>
            </a:r>
          </a:p>
        </p:txBody>
      </p:sp>
      <p:sp>
        <p:nvSpPr>
          <p:cNvPr id="5" name="TextBox 4"/>
          <p:cNvSpPr txBox="1"/>
          <p:nvPr/>
        </p:nvSpPr>
        <p:spPr>
          <a:xfrm>
            <a:off x="365760" y="868680"/>
            <a:ext cx="11430000" cy="640080"/>
          </a:xfrm>
          <a:prstGeom prst="rect">
            <a:avLst/>
          </a:prstGeom>
          <a:noFill/>
        </p:spPr>
        <p:txBody>
          <a:bodyPr wrap="square" lIns="0" rIns="0" tIns="0" bIns="0" anchor="t">
            <a:spAutoFit/>
          </a:bodyPr>
          <a:lstStyle/>
          <a:p>
            <a:pPr algn="l"/>
            <a:r>
              <a:rPr sz="2800" b="1">
                <a:solidFill>
                  <a:srgbClr val="1E293B"/>
                </a:solidFill>
                <a:latin typeface="Calibri"/>
              </a:rPr>
              <a:t>Three moments. One day. Five players.</a:t>
            </a:r>
          </a:p>
        </p:txBody>
      </p:sp>
      <p:sp>
        <p:nvSpPr>
          <p:cNvPr id="6" name="Rectangle 5"/>
          <p:cNvSpPr/>
          <p:nvPr/>
        </p:nvSpPr>
        <p:spPr>
          <a:xfrm>
            <a:off x="914400" y="3200400"/>
            <a:ext cx="10332720" cy="36576"/>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3081528"/>
            <a:ext cx="274320" cy="274320"/>
          </a:xfrm>
          <a:prstGeom prst="ellipse">
            <a:avLst/>
          </a:prstGeom>
          <a:solidFill>
            <a:srgbClr val="29B7E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3611880"/>
            <a:ext cx="1828800" cy="320040"/>
          </a:xfrm>
          <a:prstGeom prst="rect">
            <a:avLst/>
          </a:prstGeom>
          <a:noFill/>
        </p:spPr>
        <p:txBody>
          <a:bodyPr wrap="square" lIns="0" rIns="0" tIns="0" bIns="0" anchor="t">
            <a:spAutoFit/>
          </a:bodyPr>
          <a:lstStyle/>
          <a:p>
            <a:pPr algn="ctr"/>
            <a:r>
              <a:rPr sz="1400" b="1">
                <a:solidFill>
                  <a:srgbClr val="29B7E6"/>
                </a:solidFill>
                <a:latin typeface="Calibri"/>
              </a:rPr>
              <a:t>06:30</a:t>
            </a:r>
          </a:p>
        </p:txBody>
      </p:sp>
      <p:sp>
        <p:nvSpPr>
          <p:cNvPr id="9" name="TextBox 8"/>
          <p:cNvSpPr txBox="1"/>
          <p:nvPr/>
        </p:nvSpPr>
        <p:spPr>
          <a:xfrm>
            <a:off x="-91440" y="3977639"/>
            <a:ext cx="2011680" cy="365760"/>
          </a:xfrm>
          <a:prstGeom prst="rect">
            <a:avLst/>
          </a:prstGeom>
          <a:noFill/>
        </p:spPr>
        <p:txBody>
          <a:bodyPr wrap="square" lIns="0" rIns="0" tIns="0" bIns="0" anchor="t">
            <a:spAutoFit/>
          </a:bodyPr>
          <a:lstStyle/>
          <a:p>
            <a:pPr algn="ctr"/>
            <a:r>
              <a:rPr sz="1200" b="1">
                <a:solidFill>
                  <a:srgbClr val="1E293B"/>
                </a:solidFill>
                <a:latin typeface="Calibri"/>
              </a:rPr>
              <a:t>Morning dashboard</a:t>
            </a:r>
          </a:p>
        </p:txBody>
      </p:sp>
      <p:sp>
        <p:nvSpPr>
          <p:cNvPr id="10" name="TextBox 9"/>
          <p:cNvSpPr txBox="1"/>
          <p:nvPr/>
        </p:nvSpPr>
        <p:spPr>
          <a:xfrm>
            <a:off x="-182879" y="4297680"/>
            <a:ext cx="2194560" cy="365760"/>
          </a:xfrm>
          <a:prstGeom prst="rect">
            <a:avLst/>
          </a:prstGeom>
          <a:noFill/>
        </p:spPr>
        <p:txBody>
          <a:bodyPr wrap="square" lIns="0" rIns="0" tIns="0" bIns="0" anchor="t">
            <a:spAutoFit/>
          </a:bodyPr>
          <a:lstStyle/>
          <a:p>
            <a:pPr algn="ctr"/>
            <a:r>
              <a:rPr sz="1000" b="0">
                <a:solidFill>
                  <a:srgbClr val="64748B"/>
                </a:solidFill>
                <a:latin typeface="Calibri"/>
              </a:rPr>
              <a:t>Coach checks team flags</a:t>
            </a:r>
          </a:p>
        </p:txBody>
      </p:sp>
      <p:sp>
        <p:nvSpPr>
          <p:cNvPr id="11" name="Oval 10"/>
          <p:cNvSpPr/>
          <p:nvPr/>
        </p:nvSpPr>
        <p:spPr>
          <a:xfrm>
            <a:off x="3154680" y="3081528"/>
            <a:ext cx="274320" cy="274320"/>
          </a:xfrm>
          <a:prstGeom prst="ellipse">
            <a:avLst/>
          </a:prstGeom>
          <a:solidFill>
            <a:srgbClr val="94A3B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77440" y="3611880"/>
            <a:ext cx="1828800" cy="320040"/>
          </a:xfrm>
          <a:prstGeom prst="rect">
            <a:avLst/>
          </a:prstGeom>
          <a:noFill/>
        </p:spPr>
        <p:txBody>
          <a:bodyPr wrap="square" lIns="0" rIns="0" tIns="0" bIns="0" anchor="t">
            <a:spAutoFit/>
          </a:bodyPr>
          <a:lstStyle/>
          <a:p>
            <a:pPr algn="ctr"/>
            <a:r>
              <a:rPr sz="1400" b="1">
                <a:solidFill>
                  <a:srgbClr val="94A3B8"/>
                </a:solidFill>
                <a:latin typeface="Calibri"/>
              </a:rPr>
              <a:t>10:00</a:t>
            </a:r>
          </a:p>
        </p:txBody>
      </p:sp>
      <p:sp>
        <p:nvSpPr>
          <p:cNvPr id="13" name="TextBox 12"/>
          <p:cNvSpPr txBox="1"/>
          <p:nvPr/>
        </p:nvSpPr>
        <p:spPr>
          <a:xfrm>
            <a:off x="2286000" y="3977639"/>
            <a:ext cx="2011680" cy="365760"/>
          </a:xfrm>
          <a:prstGeom prst="rect">
            <a:avLst/>
          </a:prstGeom>
          <a:noFill/>
        </p:spPr>
        <p:txBody>
          <a:bodyPr wrap="square" lIns="0" rIns="0" tIns="0" bIns="0" anchor="t">
            <a:spAutoFit/>
          </a:bodyPr>
          <a:lstStyle/>
          <a:p>
            <a:pPr algn="ctr"/>
            <a:r>
              <a:rPr sz="1200" b="1">
                <a:solidFill>
                  <a:srgbClr val="1E293B"/>
                </a:solidFill>
                <a:latin typeface="Calibri"/>
              </a:rPr>
              <a:t>Players arrive</a:t>
            </a:r>
          </a:p>
        </p:txBody>
      </p:sp>
      <p:sp>
        <p:nvSpPr>
          <p:cNvPr id="14" name="TextBox 13"/>
          <p:cNvSpPr txBox="1"/>
          <p:nvPr/>
        </p:nvSpPr>
        <p:spPr>
          <a:xfrm>
            <a:off x="2194560" y="4297680"/>
            <a:ext cx="2194560" cy="365760"/>
          </a:xfrm>
          <a:prstGeom prst="rect">
            <a:avLst/>
          </a:prstGeom>
          <a:noFill/>
        </p:spPr>
        <p:txBody>
          <a:bodyPr wrap="square" lIns="0" rIns="0" tIns="0" bIns="0" anchor="t">
            <a:spAutoFit/>
          </a:bodyPr>
          <a:lstStyle/>
          <a:p>
            <a:pPr algn="ctr"/>
            <a:r>
              <a:rPr sz="1000" b="0">
                <a:solidFill>
                  <a:srgbClr val="64748B"/>
                </a:solidFill>
                <a:latin typeface="Calibri"/>
              </a:rPr>
              <a:t>Briefing reflects MP data</a:t>
            </a:r>
          </a:p>
        </p:txBody>
      </p:sp>
      <p:sp>
        <p:nvSpPr>
          <p:cNvPr id="15" name="Oval 14"/>
          <p:cNvSpPr/>
          <p:nvPr/>
        </p:nvSpPr>
        <p:spPr>
          <a:xfrm>
            <a:off x="5532120" y="3081528"/>
            <a:ext cx="274320" cy="274320"/>
          </a:xfrm>
          <a:prstGeom prst="ellipse">
            <a:avLst/>
          </a:prstGeom>
          <a:solidFill>
            <a:srgbClr val="29B7E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3611880"/>
            <a:ext cx="1828800" cy="320040"/>
          </a:xfrm>
          <a:prstGeom prst="rect">
            <a:avLst/>
          </a:prstGeom>
          <a:noFill/>
        </p:spPr>
        <p:txBody>
          <a:bodyPr wrap="square" lIns="0" rIns="0" tIns="0" bIns="0" anchor="t">
            <a:spAutoFit/>
          </a:bodyPr>
          <a:lstStyle/>
          <a:p>
            <a:pPr algn="ctr"/>
            <a:r>
              <a:rPr sz="1400" b="1">
                <a:solidFill>
                  <a:srgbClr val="29B7E6"/>
                </a:solidFill>
                <a:latin typeface="Calibri"/>
              </a:rPr>
              <a:t>13:15</a:t>
            </a:r>
          </a:p>
        </p:txBody>
      </p:sp>
      <p:sp>
        <p:nvSpPr>
          <p:cNvPr id="17" name="TextBox 16"/>
          <p:cNvSpPr txBox="1"/>
          <p:nvPr/>
        </p:nvSpPr>
        <p:spPr>
          <a:xfrm>
            <a:off x="4663440" y="3977639"/>
            <a:ext cx="2011680" cy="365760"/>
          </a:xfrm>
          <a:prstGeom prst="rect">
            <a:avLst/>
          </a:prstGeom>
          <a:noFill/>
        </p:spPr>
        <p:txBody>
          <a:bodyPr wrap="square" lIns="0" rIns="0" tIns="0" bIns="0" anchor="t">
            <a:spAutoFit/>
          </a:bodyPr>
          <a:lstStyle/>
          <a:p>
            <a:pPr algn="ctr"/>
            <a:r>
              <a:rPr sz="1200" b="1">
                <a:solidFill>
                  <a:srgbClr val="1E293B"/>
                </a:solidFill>
                <a:latin typeface="Calibri"/>
              </a:rPr>
              <a:t>Post-session sync</a:t>
            </a:r>
          </a:p>
        </p:txBody>
      </p:sp>
      <p:sp>
        <p:nvSpPr>
          <p:cNvPr id="18" name="TextBox 17"/>
          <p:cNvSpPr txBox="1"/>
          <p:nvPr/>
        </p:nvSpPr>
        <p:spPr>
          <a:xfrm>
            <a:off x="4572000" y="4297680"/>
            <a:ext cx="2194560" cy="365760"/>
          </a:xfrm>
          <a:prstGeom prst="rect">
            <a:avLst/>
          </a:prstGeom>
          <a:noFill/>
        </p:spPr>
        <p:txBody>
          <a:bodyPr wrap="square" lIns="0" rIns="0" tIns="0" bIns="0" anchor="t">
            <a:spAutoFit/>
          </a:bodyPr>
          <a:lstStyle/>
          <a:p>
            <a:pPr algn="ctr"/>
            <a:r>
              <a:rPr sz="1000" b="0">
                <a:solidFill>
                  <a:srgbClr val="64748B"/>
                </a:solidFill>
                <a:latin typeface="Calibri"/>
              </a:rPr>
              <a:t>RPE + GPS + decoupling</a:t>
            </a:r>
          </a:p>
        </p:txBody>
      </p:sp>
      <p:sp>
        <p:nvSpPr>
          <p:cNvPr id="19" name="Oval 18"/>
          <p:cNvSpPr/>
          <p:nvPr/>
        </p:nvSpPr>
        <p:spPr>
          <a:xfrm>
            <a:off x="7909560" y="3081528"/>
            <a:ext cx="274320" cy="274320"/>
          </a:xfrm>
          <a:prstGeom prst="ellipse">
            <a:avLst/>
          </a:prstGeom>
          <a:solidFill>
            <a:srgbClr val="94A3B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0" y="3611880"/>
            <a:ext cx="1828800" cy="320040"/>
          </a:xfrm>
          <a:prstGeom prst="rect">
            <a:avLst/>
          </a:prstGeom>
          <a:noFill/>
        </p:spPr>
        <p:txBody>
          <a:bodyPr wrap="square" lIns="0" rIns="0" tIns="0" bIns="0" anchor="t">
            <a:spAutoFit/>
          </a:bodyPr>
          <a:lstStyle/>
          <a:p>
            <a:pPr algn="ctr"/>
            <a:r>
              <a:rPr sz="1400" b="1">
                <a:solidFill>
                  <a:srgbClr val="94A3B8"/>
                </a:solidFill>
                <a:latin typeface="Calibri"/>
              </a:rPr>
              <a:t>15:30</a:t>
            </a:r>
          </a:p>
        </p:txBody>
      </p:sp>
      <p:sp>
        <p:nvSpPr>
          <p:cNvPr id="21" name="TextBox 20"/>
          <p:cNvSpPr txBox="1"/>
          <p:nvPr/>
        </p:nvSpPr>
        <p:spPr>
          <a:xfrm>
            <a:off x="7040880" y="3977639"/>
            <a:ext cx="2011680" cy="365760"/>
          </a:xfrm>
          <a:prstGeom prst="rect">
            <a:avLst/>
          </a:prstGeom>
          <a:noFill/>
        </p:spPr>
        <p:txBody>
          <a:bodyPr wrap="square" lIns="0" rIns="0" tIns="0" bIns="0" anchor="t">
            <a:spAutoFit/>
          </a:bodyPr>
          <a:lstStyle/>
          <a:p>
            <a:pPr algn="ctr"/>
            <a:r>
              <a:rPr sz="1200" b="1">
                <a:solidFill>
                  <a:srgbClr val="1E293B"/>
                </a:solidFill>
                <a:latin typeface="Calibri"/>
              </a:rPr>
              <a:t>Coach review</a:t>
            </a:r>
          </a:p>
        </p:txBody>
      </p:sp>
      <p:sp>
        <p:nvSpPr>
          <p:cNvPr id="22" name="TextBox 21"/>
          <p:cNvSpPr txBox="1"/>
          <p:nvPr/>
        </p:nvSpPr>
        <p:spPr>
          <a:xfrm>
            <a:off x="6949440" y="4297680"/>
            <a:ext cx="2194560" cy="365760"/>
          </a:xfrm>
          <a:prstGeom prst="rect">
            <a:avLst/>
          </a:prstGeom>
          <a:noFill/>
        </p:spPr>
        <p:txBody>
          <a:bodyPr wrap="square" lIns="0" rIns="0" tIns="0" bIns="0" anchor="t">
            <a:spAutoFit/>
          </a:bodyPr>
          <a:lstStyle/>
          <a:p>
            <a:pPr algn="ctr"/>
            <a:r>
              <a:rPr sz="1000" b="0">
                <a:solidFill>
                  <a:srgbClr val="64748B"/>
                </a:solidFill>
                <a:latin typeface="Calibri"/>
              </a:rPr>
              <a:t>Today's flags update</a:t>
            </a:r>
          </a:p>
        </p:txBody>
      </p:sp>
      <p:sp>
        <p:nvSpPr>
          <p:cNvPr id="23" name="Oval 22"/>
          <p:cNvSpPr/>
          <p:nvPr/>
        </p:nvSpPr>
        <p:spPr>
          <a:xfrm>
            <a:off x="10287000" y="3081528"/>
            <a:ext cx="274320" cy="274320"/>
          </a:xfrm>
          <a:prstGeom prst="ellipse">
            <a:avLst/>
          </a:prstGeom>
          <a:solidFill>
            <a:srgbClr val="29B7E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60" y="3611880"/>
            <a:ext cx="1828800" cy="320040"/>
          </a:xfrm>
          <a:prstGeom prst="rect">
            <a:avLst/>
          </a:prstGeom>
          <a:noFill/>
        </p:spPr>
        <p:txBody>
          <a:bodyPr wrap="square" lIns="0" rIns="0" tIns="0" bIns="0" anchor="t">
            <a:spAutoFit/>
          </a:bodyPr>
          <a:lstStyle/>
          <a:p>
            <a:pPr algn="ctr"/>
            <a:r>
              <a:rPr sz="1400" b="1">
                <a:solidFill>
                  <a:srgbClr val="29B7E6"/>
                </a:solidFill>
                <a:latin typeface="Calibri"/>
              </a:rPr>
              <a:t>17:00</a:t>
            </a:r>
          </a:p>
        </p:txBody>
      </p:sp>
      <p:sp>
        <p:nvSpPr>
          <p:cNvPr id="25" name="TextBox 24"/>
          <p:cNvSpPr txBox="1"/>
          <p:nvPr/>
        </p:nvSpPr>
        <p:spPr>
          <a:xfrm>
            <a:off x="9418320" y="3977639"/>
            <a:ext cx="2011680" cy="365760"/>
          </a:xfrm>
          <a:prstGeom prst="rect">
            <a:avLst/>
          </a:prstGeom>
          <a:noFill/>
        </p:spPr>
        <p:txBody>
          <a:bodyPr wrap="square" lIns="0" rIns="0" tIns="0" bIns="0" anchor="t">
            <a:spAutoFit/>
          </a:bodyPr>
          <a:lstStyle/>
          <a:p>
            <a:pPr algn="ctr"/>
            <a:r>
              <a:rPr sz="1200" b="1">
                <a:solidFill>
                  <a:srgbClr val="1E293B"/>
                </a:solidFill>
                <a:latin typeface="Calibri"/>
              </a:rPr>
              <a:t>Tomorrow locked</a:t>
            </a:r>
          </a:p>
        </p:txBody>
      </p:sp>
      <p:sp>
        <p:nvSpPr>
          <p:cNvPr id="26" name="TextBox 25"/>
          <p:cNvSpPr txBox="1"/>
          <p:nvPr/>
        </p:nvSpPr>
        <p:spPr>
          <a:xfrm>
            <a:off x="9326880" y="4297680"/>
            <a:ext cx="2194560" cy="365760"/>
          </a:xfrm>
          <a:prstGeom prst="rect">
            <a:avLst/>
          </a:prstGeom>
          <a:noFill/>
        </p:spPr>
        <p:txBody>
          <a:bodyPr wrap="square" lIns="0" rIns="0" tIns="0" bIns="0" anchor="t">
            <a:spAutoFit/>
          </a:bodyPr>
          <a:lstStyle/>
          <a:p>
            <a:pPr algn="ctr"/>
            <a:r>
              <a:rPr sz="1000" b="0">
                <a:solidFill>
                  <a:srgbClr val="64748B"/>
                </a:solidFill>
                <a:latin typeface="Calibri"/>
              </a:rPr>
              <a:t>Plan updated for the team</a:t>
            </a:r>
          </a:p>
        </p:txBody>
      </p:sp>
      <p:sp>
        <p:nvSpPr>
          <p:cNvPr id="27" name="TextBox 26"/>
          <p:cNvSpPr txBox="1"/>
          <p:nvPr/>
        </p:nvSpPr>
        <p:spPr>
          <a:xfrm>
            <a:off x="365760" y="5486400"/>
            <a:ext cx="10972800" cy="365760"/>
          </a:xfrm>
          <a:prstGeom prst="rect">
            <a:avLst/>
          </a:prstGeom>
          <a:noFill/>
        </p:spPr>
        <p:txBody>
          <a:bodyPr wrap="square" lIns="0" rIns="0" tIns="0" bIns="0" anchor="t">
            <a:spAutoFit/>
          </a:bodyPr>
          <a:lstStyle/>
          <a:p>
            <a:pPr algn="l"/>
            <a:r>
              <a:rPr sz="1100" b="1">
                <a:solidFill>
                  <a:srgbClr val="64748B"/>
                </a:solidFill>
                <a:latin typeface="Calibri"/>
              </a:rPr>
              <a:t>FIVE PLAYERS YOU'LL MEET</a:t>
            </a:r>
          </a:p>
        </p:txBody>
      </p:sp>
      <p:sp>
        <p:nvSpPr>
          <p:cNvPr id="28" name="Rounded Rectangle 27"/>
          <p:cNvSpPr/>
          <p:nvPr/>
        </p:nvSpPr>
        <p:spPr>
          <a:xfrm>
            <a:off x="365760" y="5897880"/>
            <a:ext cx="2194560" cy="50292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016752"/>
            <a:ext cx="2194560" cy="274320"/>
          </a:xfrm>
          <a:prstGeom prst="rect">
            <a:avLst/>
          </a:prstGeom>
          <a:noFill/>
        </p:spPr>
        <p:txBody>
          <a:bodyPr wrap="square" lIns="0" rIns="0" tIns="0" bIns="0" anchor="t">
            <a:spAutoFit/>
          </a:bodyPr>
          <a:lstStyle/>
          <a:p>
            <a:pPr algn="ctr"/>
            <a:r>
              <a:rPr sz="1200" b="1">
                <a:solidFill>
                  <a:srgbClr val="1E293B"/>
                </a:solidFill>
                <a:latin typeface="Calibri"/>
              </a:rPr>
              <a:t>Andri Yeoman</a:t>
            </a:r>
          </a:p>
        </p:txBody>
      </p:sp>
      <p:sp>
        <p:nvSpPr>
          <p:cNvPr id="30" name="Rounded Rectangle 29"/>
          <p:cNvSpPr/>
          <p:nvPr/>
        </p:nvSpPr>
        <p:spPr>
          <a:xfrm>
            <a:off x="2697480" y="5897880"/>
            <a:ext cx="2194560" cy="50292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97480" y="6016752"/>
            <a:ext cx="2194560" cy="274320"/>
          </a:xfrm>
          <a:prstGeom prst="rect">
            <a:avLst/>
          </a:prstGeom>
          <a:noFill/>
        </p:spPr>
        <p:txBody>
          <a:bodyPr wrap="square" lIns="0" rIns="0" tIns="0" bIns="0" anchor="t">
            <a:spAutoFit/>
          </a:bodyPr>
          <a:lstStyle/>
          <a:p>
            <a:pPr algn="ctr"/>
            <a:r>
              <a:rPr sz="1200" b="1">
                <a:solidFill>
                  <a:srgbClr val="1E293B"/>
                </a:solidFill>
                <a:latin typeface="Calibri"/>
              </a:rPr>
              <a:t>Arnór Tristan</a:t>
            </a:r>
          </a:p>
        </p:txBody>
      </p:sp>
      <p:sp>
        <p:nvSpPr>
          <p:cNvPr id="32" name="Rounded Rectangle 31"/>
          <p:cNvSpPr/>
          <p:nvPr/>
        </p:nvSpPr>
        <p:spPr>
          <a:xfrm>
            <a:off x="5029200" y="5897880"/>
            <a:ext cx="2194560" cy="50292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0" y="6016752"/>
            <a:ext cx="2194560" cy="274320"/>
          </a:xfrm>
          <a:prstGeom prst="rect">
            <a:avLst/>
          </a:prstGeom>
          <a:noFill/>
        </p:spPr>
        <p:txBody>
          <a:bodyPr wrap="square" lIns="0" rIns="0" tIns="0" bIns="0" anchor="t">
            <a:spAutoFit/>
          </a:bodyPr>
          <a:lstStyle/>
          <a:p>
            <a:pPr algn="ctr"/>
            <a:r>
              <a:rPr sz="1200" b="1">
                <a:solidFill>
                  <a:srgbClr val="1E293B"/>
                </a:solidFill>
                <a:latin typeface="Calibri"/>
              </a:rPr>
              <a:t>Viktor Karl</a:t>
            </a:r>
          </a:p>
        </p:txBody>
      </p:sp>
      <p:sp>
        <p:nvSpPr>
          <p:cNvPr id="34" name="Rounded Rectangle 33"/>
          <p:cNvSpPr/>
          <p:nvPr/>
        </p:nvSpPr>
        <p:spPr>
          <a:xfrm>
            <a:off x="7360920" y="5897880"/>
            <a:ext cx="2194560" cy="50292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60920" y="6016752"/>
            <a:ext cx="2194560" cy="274320"/>
          </a:xfrm>
          <a:prstGeom prst="rect">
            <a:avLst/>
          </a:prstGeom>
          <a:noFill/>
        </p:spPr>
        <p:txBody>
          <a:bodyPr wrap="square" lIns="0" rIns="0" tIns="0" bIns="0" anchor="t">
            <a:spAutoFit/>
          </a:bodyPr>
          <a:lstStyle/>
          <a:p>
            <a:pPr algn="ctr"/>
            <a:r>
              <a:rPr sz="1200" b="1">
                <a:solidFill>
                  <a:srgbClr val="1E293B"/>
                </a:solidFill>
                <a:latin typeface="Calibri"/>
              </a:rPr>
              <a:t>Arnór Gauti</a:t>
            </a:r>
          </a:p>
        </p:txBody>
      </p:sp>
      <p:sp>
        <p:nvSpPr>
          <p:cNvPr id="36" name="Rounded Rectangle 35"/>
          <p:cNvSpPr/>
          <p:nvPr/>
        </p:nvSpPr>
        <p:spPr>
          <a:xfrm>
            <a:off x="9692640" y="5897880"/>
            <a:ext cx="2194560" cy="50292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92640" y="6016752"/>
            <a:ext cx="2194560" cy="274320"/>
          </a:xfrm>
          <a:prstGeom prst="rect">
            <a:avLst/>
          </a:prstGeom>
          <a:noFill/>
        </p:spPr>
        <p:txBody>
          <a:bodyPr wrap="square" lIns="0" rIns="0" tIns="0" bIns="0" anchor="t">
            <a:spAutoFit/>
          </a:bodyPr>
          <a:lstStyle/>
          <a:p>
            <a:pPr algn="ctr"/>
            <a:r>
              <a:rPr sz="1200" b="1">
                <a:solidFill>
                  <a:srgbClr val="1E293B"/>
                </a:solidFill>
                <a:latin typeface="Calibri"/>
              </a:rPr>
              <a:t>Kristinn S.</a:t>
            </a:r>
          </a:p>
        </p:txBody>
      </p:sp>
      <p:sp>
        <p:nvSpPr>
          <p:cNvPr id="38" name="TextBox 37"/>
          <p:cNvSpPr txBox="1"/>
          <p:nvPr/>
        </p:nvSpPr>
        <p:spPr>
          <a:xfrm>
            <a:off x="11247120" y="6446520"/>
            <a:ext cx="914400" cy="274320"/>
          </a:xfrm>
          <a:prstGeom prst="rect">
            <a:avLst/>
          </a:prstGeom>
          <a:noFill/>
        </p:spPr>
        <p:txBody>
          <a:bodyPr wrap="square" lIns="0" rIns="0" tIns="0" bIns="0" anchor="t">
            <a:spAutoFit/>
          </a:bodyPr>
          <a:lstStyle/>
          <a:p>
            <a:pPr algn="r"/>
            <a:r>
              <a:rPr sz="900" b="0">
                <a:solidFill>
                  <a:srgbClr val="64748B"/>
                </a:solidFill>
                <a:latin typeface="Calibri"/>
              </a:rPr>
              <a:t>02 / 14</a:t>
            </a:r>
          </a:p>
        </p:txBody>
      </p:sp>
      <p:sp>
        <p:nvSpPr>
          <p:cNvPr id="39" name="TextBox 38"/>
          <p:cNvSpPr txBox="1"/>
          <p:nvPr/>
        </p:nvSpPr>
        <p:spPr>
          <a:xfrm>
            <a:off x="365760" y="6446520"/>
            <a:ext cx="54864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828800" cy="274320"/>
          </a:xfrm>
          <a:prstGeom prst="rect">
            <a:avLst/>
          </a:prstGeom>
          <a:noFill/>
        </p:spPr>
        <p:txBody>
          <a:bodyPr wrap="square" lIns="0" rIns="0" tIns="0" bIns="0" anchor="t">
            <a:spAutoFit/>
          </a:bodyPr>
          <a:lstStyle/>
          <a:p>
            <a:pPr algn="l"/>
            <a:r>
              <a:rPr sz="1000" b="1">
                <a:solidFill>
                  <a:srgbClr val="29B7E6"/>
                </a:solidFill>
                <a:latin typeface="Calibri"/>
              </a:rPr>
              <a:t>MICROPULSE  ·  COACH</a:t>
            </a:r>
          </a:p>
        </p:txBody>
      </p:sp>
      <p:sp>
        <p:nvSpPr>
          <p:cNvPr id="5" name="TextBox 4"/>
          <p:cNvSpPr txBox="1"/>
          <p:nvPr/>
        </p:nvSpPr>
        <p:spPr>
          <a:xfrm>
            <a:off x="2468880" y="91440"/>
            <a:ext cx="6400800" cy="274320"/>
          </a:xfrm>
          <a:prstGeom prst="rect">
            <a:avLst/>
          </a:prstGeom>
          <a:noFill/>
        </p:spPr>
        <p:txBody>
          <a:bodyPr wrap="square" lIns="0" rIns="0" tIns="0" bIns="0" anchor="t">
            <a:spAutoFit/>
          </a:bodyPr>
          <a:lstStyle/>
          <a:p>
            <a:pPr algn="l"/>
            <a:r>
              <a:rPr sz="1000" b="0">
                <a:solidFill>
                  <a:srgbClr val="FFFFFF"/>
                </a:solidFill>
                <a:latin typeface="Calibri"/>
              </a:rPr>
              <a:t>/coach  ·  Breiðablik · Monday Apr 22</a:t>
            </a:r>
          </a:p>
        </p:txBody>
      </p:sp>
      <p:sp>
        <p:nvSpPr>
          <p:cNvPr id="6" name="TextBox 5"/>
          <p:cNvSpPr txBox="1"/>
          <p:nvPr/>
        </p:nvSpPr>
        <p:spPr>
          <a:xfrm>
            <a:off x="10515600" y="91440"/>
            <a:ext cx="1371600" cy="274320"/>
          </a:xfrm>
          <a:prstGeom prst="rect">
            <a:avLst/>
          </a:prstGeom>
          <a:noFill/>
        </p:spPr>
        <p:txBody>
          <a:bodyPr wrap="square" lIns="0" rIns="0" tIns="0" bIns="0" anchor="t">
            <a:spAutoFit/>
          </a:bodyPr>
          <a:lstStyle/>
          <a:p>
            <a:pPr algn="r"/>
            <a:r>
              <a:rPr sz="1000" b="0">
                <a:solidFill>
                  <a:srgbClr val="29B7E6"/>
                </a:solidFill>
                <a:latin typeface="Calibri"/>
              </a:rPr>
              <a:t>06:30</a:t>
            </a:r>
          </a:p>
        </p:txBody>
      </p:sp>
      <p:sp>
        <p:nvSpPr>
          <p:cNvPr id="7" name="TextBox 6"/>
          <p:cNvSpPr txBox="1"/>
          <p:nvPr/>
        </p:nvSpPr>
        <p:spPr>
          <a:xfrm>
            <a:off x="365760" y="594360"/>
            <a:ext cx="7315200" cy="274320"/>
          </a:xfrm>
          <a:prstGeom prst="rect">
            <a:avLst/>
          </a:prstGeom>
          <a:noFill/>
        </p:spPr>
        <p:txBody>
          <a:bodyPr wrap="square" lIns="0" rIns="0" tIns="0" bIns="0" anchor="t">
            <a:spAutoFit/>
          </a:bodyPr>
          <a:lstStyle/>
          <a:p>
            <a:pPr algn="l"/>
            <a:r>
              <a:rPr sz="1100" b="1">
                <a:solidFill>
                  <a:srgbClr val="005A2B"/>
                </a:solidFill>
                <a:latin typeface="Calibri"/>
              </a:rPr>
              <a:t>06:30  ·  MORNING DASHBOARD</a:t>
            </a:r>
          </a:p>
        </p:txBody>
      </p:sp>
      <p:sp>
        <p:nvSpPr>
          <p:cNvPr id="8" name="TextBox 7"/>
          <p:cNvSpPr txBox="1"/>
          <p:nvPr/>
        </p:nvSpPr>
        <p:spPr>
          <a:xfrm>
            <a:off x="365760" y="868680"/>
            <a:ext cx="11430000" cy="640080"/>
          </a:xfrm>
          <a:prstGeom prst="rect">
            <a:avLst/>
          </a:prstGeom>
          <a:noFill/>
        </p:spPr>
        <p:txBody>
          <a:bodyPr wrap="square" lIns="0" rIns="0" tIns="0" bIns="0" anchor="t">
            <a:spAutoFit/>
          </a:bodyPr>
          <a:lstStyle/>
          <a:p>
            <a:pPr algn="l"/>
            <a:r>
              <a:rPr sz="2800" b="1">
                <a:solidFill>
                  <a:srgbClr val="1E293B"/>
                </a:solidFill>
                <a:latin typeface="Calibri"/>
              </a:rPr>
              <a:t>Coach opens the team view before the players arrive.</a:t>
            </a:r>
          </a:p>
        </p:txBody>
      </p:sp>
      <p:sp>
        <p:nvSpPr>
          <p:cNvPr id="9" name="Rounded Rectangle 8"/>
          <p:cNvSpPr/>
          <p:nvPr/>
        </p:nvSpPr>
        <p:spPr>
          <a:xfrm>
            <a:off x="457200" y="1828800"/>
            <a:ext cx="11338560" cy="420624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11680"/>
            <a:ext cx="7315200" cy="365760"/>
          </a:xfrm>
          <a:prstGeom prst="rect">
            <a:avLst/>
          </a:prstGeom>
          <a:noFill/>
        </p:spPr>
        <p:txBody>
          <a:bodyPr wrap="square" lIns="0" rIns="0" tIns="0" bIns="0" anchor="t">
            <a:spAutoFit/>
          </a:bodyPr>
          <a:lstStyle/>
          <a:p>
            <a:pPr algn="l"/>
            <a:r>
              <a:rPr sz="1100" b="1">
                <a:solidFill>
                  <a:srgbClr val="64748B"/>
                </a:solidFill>
                <a:latin typeface="Calibri"/>
              </a:rPr>
              <a:t>TODAY · 5 of 22 players checked in</a:t>
            </a:r>
          </a:p>
        </p:txBody>
      </p:sp>
      <p:sp>
        <p:nvSpPr>
          <p:cNvPr id="11" name="TextBox 10"/>
          <p:cNvSpPr txBox="1"/>
          <p:nvPr/>
        </p:nvSpPr>
        <p:spPr>
          <a:xfrm>
            <a:off x="731520" y="2286000"/>
            <a:ext cx="7315200" cy="457200"/>
          </a:xfrm>
          <a:prstGeom prst="rect">
            <a:avLst/>
          </a:prstGeom>
          <a:noFill/>
        </p:spPr>
        <p:txBody>
          <a:bodyPr wrap="square" lIns="0" rIns="0" tIns="0" bIns="0" anchor="t">
            <a:spAutoFit/>
          </a:bodyPr>
          <a:lstStyle/>
          <a:p>
            <a:pPr algn="l"/>
            <a:r>
              <a:rPr sz="2200" b="1">
                <a:solidFill>
                  <a:srgbClr val="1E293B"/>
                </a:solidFill>
                <a:latin typeface="Calibri"/>
              </a:rPr>
              <a:t>Team Snapshot</a:t>
            </a:r>
          </a:p>
        </p:txBody>
      </p:sp>
      <p:sp>
        <p:nvSpPr>
          <p:cNvPr id="12" name="Rounded Rectangle 11"/>
          <p:cNvSpPr/>
          <p:nvPr/>
        </p:nvSpPr>
        <p:spPr>
          <a:xfrm>
            <a:off x="7772400" y="2194560"/>
            <a:ext cx="1280160" cy="411480"/>
          </a:xfrm>
          <a:prstGeom prst="roundRect">
            <a:avLst>
              <a:gd name="adj" fmla="val 30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2258568"/>
            <a:ext cx="1280160" cy="320040"/>
          </a:xfrm>
          <a:prstGeom prst="rect">
            <a:avLst/>
          </a:prstGeom>
          <a:noFill/>
        </p:spPr>
        <p:txBody>
          <a:bodyPr wrap="square" lIns="0" rIns="0" tIns="0" bIns="0" anchor="t">
            <a:spAutoFit/>
          </a:bodyPr>
          <a:lstStyle/>
          <a:p>
            <a:pPr algn="ctr"/>
            <a:r>
              <a:rPr sz="1100" b="1">
                <a:solidFill>
                  <a:srgbClr val="FFFFFF"/>
                </a:solidFill>
                <a:latin typeface="Calibri"/>
              </a:rPr>
              <a:t>GREEN  3</a:t>
            </a:r>
          </a:p>
        </p:txBody>
      </p:sp>
      <p:sp>
        <p:nvSpPr>
          <p:cNvPr id="14" name="Rounded Rectangle 13"/>
          <p:cNvSpPr/>
          <p:nvPr/>
        </p:nvSpPr>
        <p:spPr>
          <a:xfrm>
            <a:off x="9144000" y="2194560"/>
            <a:ext cx="1280160" cy="411480"/>
          </a:xfrm>
          <a:prstGeom prst="roundRect">
            <a:avLst>
              <a:gd name="adj" fmla="val 3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2258568"/>
            <a:ext cx="1280160" cy="320040"/>
          </a:xfrm>
          <a:prstGeom prst="rect">
            <a:avLst/>
          </a:prstGeom>
          <a:noFill/>
        </p:spPr>
        <p:txBody>
          <a:bodyPr wrap="square" lIns="0" rIns="0" tIns="0" bIns="0" anchor="t">
            <a:spAutoFit/>
          </a:bodyPr>
          <a:lstStyle/>
          <a:p>
            <a:pPr algn="ctr"/>
            <a:r>
              <a:rPr sz="1100" b="1">
                <a:solidFill>
                  <a:srgbClr val="FFFFFF"/>
                </a:solidFill>
                <a:latin typeface="Calibri"/>
              </a:rPr>
              <a:t>YELLOW  1</a:t>
            </a:r>
          </a:p>
        </p:txBody>
      </p:sp>
      <p:sp>
        <p:nvSpPr>
          <p:cNvPr id="16" name="Rounded Rectangle 15"/>
          <p:cNvSpPr/>
          <p:nvPr/>
        </p:nvSpPr>
        <p:spPr>
          <a:xfrm>
            <a:off x="10515600" y="2194560"/>
            <a:ext cx="1280160" cy="411480"/>
          </a:xfrm>
          <a:prstGeom prst="roundRect">
            <a:avLst>
              <a:gd name="adj" fmla="val 30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0" y="2258568"/>
            <a:ext cx="1280160" cy="320040"/>
          </a:xfrm>
          <a:prstGeom prst="rect">
            <a:avLst/>
          </a:prstGeom>
          <a:noFill/>
        </p:spPr>
        <p:txBody>
          <a:bodyPr wrap="square" lIns="0" rIns="0" tIns="0" bIns="0" anchor="t">
            <a:spAutoFit/>
          </a:bodyPr>
          <a:lstStyle/>
          <a:p>
            <a:pPr algn="ctr"/>
            <a:r>
              <a:rPr sz="1100" b="1">
                <a:solidFill>
                  <a:srgbClr val="FFFFFF"/>
                </a:solidFill>
                <a:latin typeface="Calibri"/>
              </a:rPr>
              <a:t>RED  1</a:t>
            </a:r>
          </a:p>
        </p:txBody>
      </p:sp>
      <p:sp>
        <p:nvSpPr>
          <p:cNvPr id="18" name="TextBox 17"/>
          <p:cNvSpPr txBox="1"/>
          <p:nvPr/>
        </p:nvSpPr>
        <p:spPr>
          <a:xfrm>
            <a:off x="731520" y="2971800"/>
            <a:ext cx="2560320" cy="274320"/>
          </a:xfrm>
          <a:prstGeom prst="rect">
            <a:avLst/>
          </a:prstGeom>
          <a:noFill/>
        </p:spPr>
        <p:txBody>
          <a:bodyPr wrap="square" lIns="0" rIns="0" tIns="0" bIns="0" anchor="t">
            <a:spAutoFit/>
          </a:bodyPr>
          <a:lstStyle/>
          <a:p>
            <a:pPr algn="l"/>
            <a:r>
              <a:rPr sz="1000" b="1">
                <a:solidFill>
                  <a:srgbClr val="64748B"/>
                </a:solidFill>
                <a:latin typeface="Calibri"/>
              </a:rPr>
              <a:t>PLAYER</a:t>
            </a:r>
          </a:p>
        </p:txBody>
      </p:sp>
      <p:sp>
        <p:nvSpPr>
          <p:cNvPr id="19" name="TextBox 18"/>
          <p:cNvSpPr txBox="1"/>
          <p:nvPr/>
        </p:nvSpPr>
        <p:spPr>
          <a:xfrm>
            <a:off x="3383280" y="2971800"/>
            <a:ext cx="1371600" cy="274320"/>
          </a:xfrm>
          <a:prstGeom prst="rect">
            <a:avLst/>
          </a:prstGeom>
          <a:noFill/>
        </p:spPr>
        <p:txBody>
          <a:bodyPr wrap="square" lIns="0" rIns="0" tIns="0" bIns="0" anchor="t">
            <a:spAutoFit/>
          </a:bodyPr>
          <a:lstStyle/>
          <a:p>
            <a:pPr algn="ctr"/>
            <a:r>
              <a:rPr sz="1000" b="1">
                <a:solidFill>
                  <a:srgbClr val="64748B"/>
                </a:solidFill>
                <a:latin typeface="Calibri"/>
              </a:rPr>
              <a:t>FLAG</a:t>
            </a:r>
          </a:p>
        </p:txBody>
      </p:sp>
      <p:sp>
        <p:nvSpPr>
          <p:cNvPr id="20" name="TextBox 19"/>
          <p:cNvSpPr txBox="1"/>
          <p:nvPr/>
        </p:nvSpPr>
        <p:spPr>
          <a:xfrm>
            <a:off x="4937760" y="2971800"/>
            <a:ext cx="1280160" cy="274320"/>
          </a:xfrm>
          <a:prstGeom prst="rect">
            <a:avLst/>
          </a:prstGeom>
          <a:noFill/>
        </p:spPr>
        <p:txBody>
          <a:bodyPr wrap="square" lIns="0" rIns="0" tIns="0" bIns="0" anchor="t">
            <a:spAutoFit/>
          </a:bodyPr>
          <a:lstStyle/>
          <a:p>
            <a:pPr algn="ctr"/>
            <a:r>
              <a:rPr sz="1000" b="1">
                <a:solidFill>
                  <a:srgbClr val="64748B"/>
                </a:solidFill>
                <a:latin typeface="Calibri"/>
              </a:rPr>
              <a:t>TOTAL</a:t>
            </a:r>
          </a:p>
        </p:txBody>
      </p:sp>
      <p:sp>
        <p:nvSpPr>
          <p:cNvPr id="21" name="TextBox 20"/>
          <p:cNvSpPr txBox="1"/>
          <p:nvPr/>
        </p:nvSpPr>
        <p:spPr>
          <a:xfrm>
            <a:off x="6400800" y="2971800"/>
            <a:ext cx="1280160" cy="274320"/>
          </a:xfrm>
          <a:prstGeom prst="rect">
            <a:avLst/>
          </a:prstGeom>
          <a:noFill/>
        </p:spPr>
        <p:txBody>
          <a:bodyPr wrap="square" lIns="0" rIns="0" tIns="0" bIns="0" anchor="t">
            <a:spAutoFit/>
          </a:bodyPr>
          <a:lstStyle/>
          <a:p>
            <a:pPr algn="ctr"/>
            <a:r>
              <a:rPr sz="1000" b="1">
                <a:solidFill>
                  <a:srgbClr val="64748B"/>
                </a:solidFill>
                <a:latin typeface="Calibri"/>
              </a:rPr>
              <a:t>Δ vs YESTERDAY</a:t>
            </a:r>
          </a:p>
        </p:txBody>
      </p:sp>
      <p:sp>
        <p:nvSpPr>
          <p:cNvPr id="22" name="TextBox 21"/>
          <p:cNvSpPr txBox="1"/>
          <p:nvPr/>
        </p:nvSpPr>
        <p:spPr>
          <a:xfrm>
            <a:off x="7955279" y="2971800"/>
            <a:ext cx="3474720" cy="274320"/>
          </a:xfrm>
          <a:prstGeom prst="rect">
            <a:avLst/>
          </a:prstGeom>
          <a:noFill/>
        </p:spPr>
        <p:txBody>
          <a:bodyPr wrap="square" lIns="0" rIns="0" tIns="0" bIns="0" anchor="t">
            <a:spAutoFit/>
          </a:bodyPr>
          <a:lstStyle/>
          <a:p>
            <a:pPr algn="l"/>
            <a:r>
              <a:rPr sz="1000" b="1">
                <a:solidFill>
                  <a:srgbClr val="64748B"/>
                </a:solidFill>
                <a:latin typeface="Calibri"/>
              </a:rPr>
              <a:t>DOMINANT SIGNAL</a:t>
            </a:r>
          </a:p>
        </p:txBody>
      </p:sp>
      <p:sp>
        <p:nvSpPr>
          <p:cNvPr id="23" name="TextBox 22"/>
          <p:cNvSpPr txBox="1"/>
          <p:nvPr/>
        </p:nvSpPr>
        <p:spPr>
          <a:xfrm>
            <a:off x="731520" y="3520440"/>
            <a:ext cx="2560320" cy="365760"/>
          </a:xfrm>
          <a:prstGeom prst="rect">
            <a:avLst/>
          </a:prstGeom>
          <a:noFill/>
        </p:spPr>
        <p:txBody>
          <a:bodyPr wrap="square" lIns="0" rIns="0" tIns="0" bIns="0" anchor="t">
            <a:spAutoFit/>
          </a:bodyPr>
          <a:lstStyle/>
          <a:p>
            <a:pPr algn="l"/>
            <a:r>
              <a:rPr sz="1300" b="1">
                <a:solidFill>
                  <a:srgbClr val="1E293B"/>
                </a:solidFill>
                <a:latin typeface="Calibri"/>
              </a:rPr>
              <a:t>Andri Yeoman</a:t>
            </a:r>
          </a:p>
        </p:txBody>
      </p:sp>
      <p:sp>
        <p:nvSpPr>
          <p:cNvPr id="24" name="Rounded Rectangle 23"/>
          <p:cNvSpPr/>
          <p:nvPr/>
        </p:nvSpPr>
        <p:spPr>
          <a:xfrm>
            <a:off x="3383280" y="3429000"/>
            <a:ext cx="1371600" cy="365760"/>
          </a:xfrm>
          <a:prstGeom prst="roundRect">
            <a:avLst>
              <a:gd name="adj" fmla="val 30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83280" y="3474720"/>
            <a:ext cx="1371600" cy="274320"/>
          </a:xfrm>
          <a:prstGeom prst="rect">
            <a:avLst/>
          </a:prstGeom>
          <a:noFill/>
        </p:spPr>
        <p:txBody>
          <a:bodyPr wrap="square" lIns="0" rIns="0" tIns="0" bIns="0" anchor="t">
            <a:spAutoFit/>
          </a:bodyPr>
          <a:lstStyle/>
          <a:p>
            <a:pPr algn="ctr"/>
            <a:r>
              <a:rPr sz="1000" b="1">
                <a:solidFill>
                  <a:srgbClr val="FFFFFF"/>
                </a:solidFill>
                <a:latin typeface="Calibri"/>
              </a:rPr>
              <a:t>GREEN</a:t>
            </a:r>
          </a:p>
        </p:txBody>
      </p:sp>
      <p:sp>
        <p:nvSpPr>
          <p:cNvPr id="26" name="TextBox 25"/>
          <p:cNvSpPr txBox="1"/>
          <p:nvPr/>
        </p:nvSpPr>
        <p:spPr>
          <a:xfrm>
            <a:off x="4937760" y="3520440"/>
            <a:ext cx="1280160" cy="365760"/>
          </a:xfrm>
          <a:prstGeom prst="rect">
            <a:avLst/>
          </a:prstGeom>
          <a:noFill/>
        </p:spPr>
        <p:txBody>
          <a:bodyPr wrap="square" lIns="0" rIns="0" tIns="0" bIns="0" anchor="t">
            <a:spAutoFit/>
          </a:bodyPr>
          <a:lstStyle/>
          <a:p>
            <a:pPr algn="ctr"/>
            <a:r>
              <a:rPr sz="1300" b="0">
                <a:solidFill>
                  <a:srgbClr val="1E293B"/>
                </a:solidFill>
                <a:latin typeface="Calibri"/>
              </a:rPr>
              <a:t>20/25</a:t>
            </a:r>
          </a:p>
        </p:txBody>
      </p:sp>
      <p:sp>
        <p:nvSpPr>
          <p:cNvPr id="27" name="TextBox 26"/>
          <p:cNvSpPr txBox="1"/>
          <p:nvPr/>
        </p:nvSpPr>
        <p:spPr>
          <a:xfrm>
            <a:off x="6400800" y="3520440"/>
            <a:ext cx="1280160" cy="365760"/>
          </a:xfrm>
          <a:prstGeom prst="rect">
            <a:avLst/>
          </a:prstGeom>
          <a:noFill/>
        </p:spPr>
        <p:txBody>
          <a:bodyPr wrap="square" lIns="0" rIns="0" tIns="0" bIns="0" anchor="t">
            <a:spAutoFit/>
          </a:bodyPr>
          <a:lstStyle/>
          <a:p>
            <a:pPr algn="ctr"/>
            <a:r>
              <a:rPr sz="1300" b="1">
                <a:solidFill>
                  <a:srgbClr val="16A34A"/>
                </a:solidFill>
                <a:latin typeface="Calibri"/>
              </a:rPr>
              <a:t>+0.6 SD</a:t>
            </a:r>
          </a:p>
        </p:txBody>
      </p:sp>
      <p:sp>
        <p:nvSpPr>
          <p:cNvPr id="28" name="TextBox 27"/>
          <p:cNvSpPr txBox="1"/>
          <p:nvPr/>
        </p:nvSpPr>
        <p:spPr>
          <a:xfrm>
            <a:off x="7955279" y="3547872"/>
            <a:ext cx="3474720" cy="365760"/>
          </a:xfrm>
          <a:prstGeom prst="rect">
            <a:avLst/>
          </a:prstGeom>
          <a:noFill/>
        </p:spPr>
        <p:txBody>
          <a:bodyPr wrap="square" lIns="0" rIns="0" tIns="0" bIns="0" anchor="t">
            <a:spAutoFit/>
          </a:bodyPr>
          <a:lstStyle/>
          <a:p>
            <a:pPr algn="l"/>
            <a:r>
              <a:rPr sz="1100" b="0">
                <a:solidFill>
                  <a:srgbClr val="1E293B"/>
                </a:solidFill>
                <a:latin typeface="Calibri"/>
              </a:rPr>
              <a:t>All metrics within personal band</a:t>
            </a:r>
          </a:p>
        </p:txBody>
      </p:sp>
      <p:sp>
        <p:nvSpPr>
          <p:cNvPr id="29" name="Rectangle 28"/>
          <p:cNvSpPr/>
          <p:nvPr/>
        </p:nvSpPr>
        <p:spPr>
          <a:xfrm>
            <a:off x="640080" y="3886200"/>
            <a:ext cx="10972800" cy="502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023360"/>
            <a:ext cx="2560320" cy="365760"/>
          </a:xfrm>
          <a:prstGeom prst="rect">
            <a:avLst/>
          </a:prstGeom>
          <a:noFill/>
        </p:spPr>
        <p:txBody>
          <a:bodyPr wrap="square" lIns="0" rIns="0" tIns="0" bIns="0" anchor="t">
            <a:spAutoFit/>
          </a:bodyPr>
          <a:lstStyle/>
          <a:p>
            <a:pPr algn="l"/>
            <a:r>
              <a:rPr sz="1300" b="1">
                <a:solidFill>
                  <a:srgbClr val="1E293B"/>
                </a:solidFill>
                <a:latin typeface="Calibri"/>
              </a:rPr>
              <a:t>Magnús Olsen</a:t>
            </a:r>
          </a:p>
        </p:txBody>
      </p:sp>
      <p:sp>
        <p:nvSpPr>
          <p:cNvPr id="31" name="Rounded Rectangle 30"/>
          <p:cNvSpPr/>
          <p:nvPr/>
        </p:nvSpPr>
        <p:spPr>
          <a:xfrm>
            <a:off x="3383280" y="3931920"/>
            <a:ext cx="1371600" cy="365760"/>
          </a:xfrm>
          <a:prstGeom prst="roundRect">
            <a:avLst>
              <a:gd name="adj" fmla="val 30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83280" y="3977640"/>
            <a:ext cx="1371600" cy="274320"/>
          </a:xfrm>
          <a:prstGeom prst="rect">
            <a:avLst/>
          </a:prstGeom>
          <a:noFill/>
        </p:spPr>
        <p:txBody>
          <a:bodyPr wrap="square" lIns="0" rIns="0" tIns="0" bIns="0" anchor="t">
            <a:spAutoFit/>
          </a:bodyPr>
          <a:lstStyle/>
          <a:p>
            <a:pPr algn="ctr"/>
            <a:r>
              <a:rPr sz="1000" b="1">
                <a:solidFill>
                  <a:srgbClr val="FFFFFF"/>
                </a:solidFill>
                <a:latin typeface="Calibri"/>
              </a:rPr>
              <a:t>GREEN</a:t>
            </a:r>
          </a:p>
        </p:txBody>
      </p:sp>
      <p:sp>
        <p:nvSpPr>
          <p:cNvPr id="33" name="TextBox 32"/>
          <p:cNvSpPr txBox="1"/>
          <p:nvPr/>
        </p:nvSpPr>
        <p:spPr>
          <a:xfrm>
            <a:off x="4937760" y="4023360"/>
            <a:ext cx="1280160" cy="365760"/>
          </a:xfrm>
          <a:prstGeom prst="rect">
            <a:avLst/>
          </a:prstGeom>
          <a:noFill/>
        </p:spPr>
        <p:txBody>
          <a:bodyPr wrap="square" lIns="0" rIns="0" tIns="0" bIns="0" anchor="t">
            <a:spAutoFit/>
          </a:bodyPr>
          <a:lstStyle/>
          <a:p>
            <a:pPr algn="ctr"/>
            <a:r>
              <a:rPr sz="1300" b="0">
                <a:solidFill>
                  <a:srgbClr val="1E293B"/>
                </a:solidFill>
                <a:latin typeface="Calibri"/>
              </a:rPr>
              <a:t>21/25</a:t>
            </a:r>
          </a:p>
        </p:txBody>
      </p:sp>
      <p:sp>
        <p:nvSpPr>
          <p:cNvPr id="34" name="TextBox 33"/>
          <p:cNvSpPr txBox="1"/>
          <p:nvPr/>
        </p:nvSpPr>
        <p:spPr>
          <a:xfrm>
            <a:off x="6400800" y="4023360"/>
            <a:ext cx="1280160" cy="365760"/>
          </a:xfrm>
          <a:prstGeom prst="rect">
            <a:avLst/>
          </a:prstGeom>
          <a:noFill/>
        </p:spPr>
        <p:txBody>
          <a:bodyPr wrap="square" lIns="0" rIns="0" tIns="0" bIns="0" anchor="t">
            <a:spAutoFit/>
          </a:bodyPr>
          <a:lstStyle/>
          <a:p>
            <a:pPr algn="ctr"/>
            <a:r>
              <a:rPr sz="1300" b="1">
                <a:solidFill>
                  <a:srgbClr val="16A34A"/>
                </a:solidFill>
                <a:latin typeface="Calibri"/>
              </a:rPr>
              <a:t>+0.4 SD</a:t>
            </a:r>
          </a:p>
        </p:txBody>
      </p:sp>
      <p:sp>
        <p:nvSpPr>
          <p:cNvPr id="35" name="TextBox 34"/>
          <p:cNvSpPr txBox="1"/>
          <p:nvPr/>
        </p:nvSpPr>
        <p:spPr>
          <a:xfrm>
            <a:off x="7955279" y="4050792"/>
            <a:ext cx="3474720" cy="365760"/>
          </a:xfrm>
          <a:prstGeom prst="rect">
            <a:avLst/>
          </a:prstGeom>
          <a:noFill/>
        </p:spPr>
        <p:txBody>
          <a:bodyPr wrap="square" lIns="0" rIns="0" tIns="0" bIns="0" anchor="t">
            <a:spAutoFit/>
          </a:bodyPr>
          <a:lstStyle/>
          <a:p>
            <a:pPr algn="l"/>
            <a:r>
              <a:rPr sz="1100" b="0">
                <a:solidFill>
                  <a:srgbClr val="1E293B"/>
                </a:solidFill>
                <a:latin typeface="Calibri"/>
              </a:rPr>
              <a:t>Sleep slightly above usual</a:t>
            </a:r>
          </a:p>
        </p:txBody>
      </p:sp>
      <p:sp>
        <p:nvSpPr>
          <p:cNvPr id="36" name="TextBox 35"/>
          <p:cNvSpPr txBox="1"/>
          <p:nvPr/>
        </p:nvSpPr>
        <p:spPr>
          <a:xfrm>
            <a:off x="731520" y="4526280"/>
            <a:ext cx="2560320" cy="365760"/>
          </a:xfrm>
          <a:prstGeom prst="rect">
            <a:avLst/>
          </a:prstGeom>
          <a:noFill/>
        </p:spPr>
        <p:txBody>
          <a:bodyPr wrap="square" lIns="0" rIns="0" tIns="0" bIns="0" anchor="t">
            <a:spAutoFit/>
          </a:bodyPr>
          <a:lstStyle/>
          <a:p>
            <a:pPr algn="l"/>
            <a:r>
              <a:rPr sz="1300" b="1">
                <a:solidFill>
                  <a:srgbClr val="1E293B"/>
                </a:solidFill>
                <a:latin typeface="Calibri"/>
              </a:rPr>
              <a:t>Kristinn Steindórs</a:t>
            </a:r>
          </a:p>
        </p:txBody>
      </p:sp>
      <p:sp>
        <p:nvSpPr>
          <p:cNvPr id="37" name="Rounded Rectangle 36"/>
          <p:cNvSpPr/>
          <p:nvPr/>
        </p:nvSpPr>
        <p:spPr>
          <a:xfrm>
            <a:off x="3383280" y="4434840"/>
            <a:ext cx="1371600" cy="365760"/>
          </a:xfrm>
          <a:prstGeom prst="roundRect">
            <a:avLst>
              <a:gd name="adj" fmla="val 30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83280" y="4480560"/>
            <a:ext cx="1371600" cy="274320"/>
          </a:xfrm>
          <a:prstGeom prst="rect">
            <a:avLst/>
          </a:prstGeom>
          <a:noFill/>
        </p:spPr>
        <p:txBody>
          <a:bodyPr wrap="square" lIns="0" rIns="0" tIns="0" bIns="0" anchor="t">
            <a:spAutoFit/>
          </a:bodyPr>
          <a:lstStyle/>
          <a:p>
            <a:pPr algn="ctr"/>
            <a:r>
              <a:rPr sz="1000" b="1">
                <a:solidFill>
                  <a:srgbClr val="FFFFFF"/>
                </a:solidFill>
                <a:latin typeface="Calibri"/>
              </a:rPr>
              <a:t>GREEN</a:t>
            </a:r>
          </a:p>
        </p:txBody>
      </p:sp>
      <p:sp>
        <p:nvSpPr>
          <p:cNvPr id="39" name="TextBox 38"/>
          <p:cNvSpPr txBox="1"/>
          <p:nvPr/>
        </p:nvSpPr>
        <p:spPr>
          <a:xfrm>
            <a:off x="4937760" y="4526280"/>
            <a:ext cx="1280160" cy="365760"/>
          </a:xfrm>
          <a:prstGeom prst="rect">
            <a:avLst/>
          </a:prstGeom>
          <a:noFill/>
        </p:spPr>
        <p:txBody>
          <a:bodyPr wrap="square" lIns="0" rIns="0" tIns="0" bIns="0" anchor="t">
            <a:spAutoFit/>
          </a:bodyPr>
          <a:lstStyle/>
          <a:p>
            <a:pPr algn="ctr"/>
            <a:r>
              <a:rPr sz="1300" b="0">
                <a:solidFill>
                  <a:srgbClr val="1E293B"/>
                </a:solidFill>
                <a:latin typeface="Calibri"/>
              </a:rPr>
              <a:t>19/25</a:t>
            </a:r>
          </a:p>
        </p:txBody>
      </p:sp>
      <p:sp>
        <p:nvSpPr>
          <p:cNvPr id="40" name="TextBox 39"/>
          <p:cNvSpPr txBox="1"/>
          <p:nvPr/>
        </p:nvSpPr>
        <p:spPr>
          <a:xfrm>
            <a:off x="6400800" y="4526280"/>
            <a:ext cx="1280160" cy="365760"/>
          </a:xfrm>
          <a:prstGeom prst="rect">
            <a:avLst/>
          </a:prstGeom>
          <a:noFill/>
        </p:spPr>
        <p:txBody>
          <a:bodyPr wrap="square" lIns="0" rIns="0" tIns="0" bIns="0" anchor="t">
            <a:spAutoFit/>
          </a:bodyPr>
          <a:lstStyle/>
          <a:p>
            <a:pPr algn="ctr"/>
            <a:r>
              <a:rPr sz="1300" b="1">
                <a:solidFill>
                  <a:srgbClr val="F59E0B"/>
                </a:solidFill>
                <a:latin typeface="Calibri"/>
              </a:rPr>
              <a:t>−0.2 SD</a:t>
            </a:r>
          </a:p>
        </p:txBody>
      </p:sp>
      <p:sp>
        <p:nvSpPr>
          <p:cNvPr id="41" name="TextBox 40"/>
          <p:cNvSpPr txBox="1"/>
          <p:nvPr/>
        </p:nvSpPr>
        <p:spPr>
          <a:xfrm>
            <a:off x="7955279" y="4553712"/>
            <a:ext cx="3474720" cy="365760"/>
          </a:xfrm>
          <a:prstGeom prst="rect">
            <a:avLst/>
          </a:prstGeom>
          <a:noFill/>
        </p:spPr>
        <p:txBody>
          <a:bodyPr wrap="square" lIns="0" rIns="0" tIns="0" bIns="0" anchor="t">
            <a:spAutoFit/>
          </a:bodyPr>
          <a:lstStyle/>
          <a:p>
            <a:pPr algn="l"/>
            <a:r>
              <a:rPr sz="1100" b="0">
                <a:solidFill>
                  <a:srgbClr val="1E293B"/>
                </a:solidFill>
                <a:latin typeface="Calibri"/>
              </a:rPr>
              <a:t>—</a:t>
            </a:r>
          </a:p>
        </p:txBody>
      </p:sp>
      <p:sp>
        <p:nvSpPr>
          <p:cNvPr id="42" name="Rectangle 41"/>
          <p:cNvSpPr/>
          <p:nvPr/>
        </p:nvSpPr>
        <p:spPr>
          <a:xfrm>
            <a:off x="640080" y="4892040"/>
            <a:ext cx="10972800" cy="502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5029200"/>
            <a:ext cx="2560320" cy="365760"/>
          </a:xfrm>
          <a:prstGeom prst="rect">
            <a:avLst/>
          </a:prstGeom>
          <a:noFill/>
        </p:spPr>
        <p:txBody>
          <a:bodyPr wrap="square" lIns="0" rIns="0" tIns="0" bIns="0" anchor="t">
            <a:spAutoFit/>
          </a:bodyPr>
          <a:lstStyle/>
          <a:p>
            <a:pPr algn="l"/>
            <a:r>
              <a:rPr sz="1300" b="1">
                <a:solidFill>
                  <a:srgbClr val="1E293B"/>
                </a:solidFill>
                <a:latin typeface="Calibri"/>
              </a:rPr>
              <a:t>Arnór Gauti</a:t>
            </a:r>
          </a:p>
        </p:txBody>
      </p:sp>
      <p:sp>
        <p:nvSpPr>
          <p:cNvPr id="44" name="Rounded Rectangle 43"/>
          <p:cNvSpPr/>
          <p:nvPr/>
        </p:nvSpPr>
        <p:spPr>
          <a:xfrm>
            <a:off x="3383280" y="4937760"/>
            <a:ext cx="1371600" cy="365760"/>
          </a:xfrm>
          <a:prstGeom prst="roundRect">
            <a:avLst>
              <a:gd name="adj" fmla="val 3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383280" y="4983480"/>
            <a:ext cx="1371600" cy="274320"/>
          </a:xfrm>
          <a:prstGeom prst="rect">
            <a:avLst/>
          </a:prstGeom>
          <a:noFill/>
        </p:spPr>
        <p:txBody>
          <a:bodyPr wrap="square" lIns="0" rIns="0" tIns="0" bIns="0" anchor="t">
            <a:spAutoFit/>
          </a:bodyPr>
          <a:lstStyle/>
          <a:p>
            <a:pPr algn="ctr"/>
            <a:r>
              <a:rPr sz="1000" b="1">
                <a:solidFill>
                  <a:srgbClr val="FFFFFF"/>
                </a:solidFill>
                <a:latin typeface="Calibri"/>
              </a:rPr>
              <a:t>YELLOW</a:t>
            </a:r>
          </a:p>
        </p:txBody>
      </p:sp>
      <p:sp>
        <p:nvSpPr>
          <p:cNvPr id="46" name="TextBox 45"/>
          <p:cNvSpPr txBox="1"/>
          <p:nvPr/>
        </p:nvSpPr>
        <p:spPr>
          <a:xfrm>
            <a:off x="4937760" y="5029200"/>
            <a:ext cx="1280160" cy="365760"/>
          </a:xfrm>
          <a:prstGeom prst="rect">
            <a:avLst/>
          </a:prstGeom>
          <a:noFill/>
        </p:spPr>
        <p:txBody>
          <a:bodyPr wrap="square" lIns="0" rIns="0" tIns="0" bIns="0" anchor="t">
            <a:spAutoFit/>
          </a:bodyPr>
          <a:lstStyle/>
          <a:p>
            <a:pPr algn="ctr"/>
            <a:r>
              <a:rPr sz="1300" b="0">
                <a:solidFill>
                  <a:srgbClr val="1E293B"/>
                </a:solidFill>
                <a:latin typeface="Calibri"/>
              </a:rPr>
              <a:t>18/25</a:t>
            </a:r>
          </a:p>
        </p:txBody>
      </p:sp>
      <p:sp>
        <p:nvSpPr>
          <p:cNvPr id="47" name="TextBox 46"/>
          <p:cNvSpPr txBox="1"/>
          <p:nvPr/>
        </p:nvSpPr>
        <p:spPr>
          <a:xfrm>
            <a:off x="6400800" y="5029200"/>
            <a:ext cx="1280160" cy="365760"/>
          </a:xfrm>
          <a:prstGeom prst="rect">
            <a:avLst/>
          </a:prstGeom>
          <a:noFill/>
        </p:spPr>
        <p:txBody>
          <a:bodyPr wrap="square" lIns="0" rIns="0" tIns="0" bIns="0" anchor="t">
            <a:spAutoFit/>
          </a:bodyPr>
          <a:lstStyle/>
          <a:p>
            <a:pPr algn="ctr"/>
            <a:r>
              <a:rPr sz="1300" b="1">
                <a:solidFill>
                  <a:srgbClr val="DC2626"/>
                </a:solidFill>
                <a:latin typeface="Calibri"/>
              </a:rPr>
              <a:t>−1.1 SD</a:t>
            </a:r>
          </a:p>
        </p:txBody>
      </p:sp>
      <p:sp>
        <p:nvSpPr>
          <p:cNvPr id="48" name="TextBox 47"/>
          <p:cNvSpPr txBox="1"/>
          <p:nvPr/>
        </p:nvSpPr>
        <p:spPr>
          <a:xfrm>
            <a:off x="7955279" y="5056632"/>
            <a:ext cx="3474720" cy="365760"/>
          </a:xfrm>
          <a:prstGeom prst="rect">
            <a:avLst/>
          </a:prstGeom>
          <a:noFill/>
        </p:spPr>
        <p:txBody>
          <a:bodyPr wrap="square" lIns="0" rIns="0" tIns="0" bIns="0" anchor="t">
            <a:spAutoFit/>
          </a:bodyPr>
          <a:lstStyle/>
          <a:p>
            <a:pPr algn="l"/>
            <a:r>
              <a:rPr sz="1100" b="0">
                <a:solidFill>
                  <a:srgbClr val="1E293B"/>
                </a:solidFill>
                <a:latin typeface="Calibri"/>
              </a:rPr>
              <a:t>Soreness 3.2 SD below baseline</a:t>
            </a:r>
          </a:p>
        </p:txBody>
      </p:sp>
      <p:sp>
        <p:nvSpPr>
          <p:cNvPr id="49" name="TextBox 48"/>
          <p:cNvSpPr txBox="1"/>
          <p:nvPr/>
        </p:nvSpPr>
        <p:spPr>
          <a:xfrm>
            <a:off x="731520" y="5532120"/>
            <a:ext cx="2560320" cy="365760"/>
          </a:xfrm>
          <a:prstGeom prst="rect">
            <a:avLst/>
          </a:prstGeom>
          <a:noFill/>
        </p:spPr>
        <p:txBody>
          <a:bodyPr wrap="square" lIns="0" rIns="0" tIns="0" bIns="0" anchor="t">
            <a:spAutoFit/>
          </a:bodyPr>
          <a:lstStyle/>
          <a:p>
            <a:pPr algn="l"/>
            <a:r>
              <a:rPr sz="1300" b="1">
                <a:solidFill>
                  <a:srgbClr val="1E293B"/>
                </a:solidFill>
                <a:latin typeface="Calibri"/>
              </a:rPr>
              <a:t>Arnór Tristan</a:t>
            </a:r>
          </a:p>
        </p:txBody>
      </p:sp>
      <p:sp>
        <p:nvSpPr>
          <p:cNvPr id="50" name="Rounded Rectangle 49"/>
          <p:cNvSpPr/>
          <p:nvPr/>
        </p:nvSpPr>
        <p:spPr>
          <a:xfrm>
            <a:off x="3383280" y="5440680"/>
            <a:ext cx="1371600" cy="365760"/>
          </a:xfrm>
          <a:prstGeom prst="roundRect">
            <a:avLst>
              <a:gd name="adj" fmla="val 30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83280" y="5486400"/>
            <a:ext cx="1371600" cy="274320"/>
          </a:xfrm>
          <a:prstGeom prst="rect">
            <a:avLst/>
          </a:prstGeom>
          <a:noFill/>
        </p:spPr>
        <p:txBody>
          <a:bodyPr wrap="square" lIns="0" rIns="0" tIns="0" bIns="0" anchor="t">
            <a:spAutoFit/>
          </a:bodyPr>
          <a:lstStyle/>
          <a:p>
            <a:pPr algn="ctr"/>
            <a:r>
              <a:rPr sz="1000" b="1">
                <a:solidFill>
                  <a:srgbClr val="FFFFFF"/>
                </a:solidFill>
                <a:latin typeface="Calibri"/>
              </a:rPr>
              <a:t>RED</a:t>
            </a:r>
          </a:p>
        </p:txBody>
      </p:sp>
      <p:sp>
        <p:nvSpPr>
          <p:cNvPr id="52" name="TextBox 51"/>
          <p:cNvSpPr txBox="1"/>
          <p:nvPr/>
        </p:nvSpPr>
        <p:spPr>
          <a:xfrm>
            <a:off x="4937760" y="5532120"/>
            <a:ext cx="1280160" cy="365760"/>
          </a:xfrm>
          <a:prstGeom prst="rect">
            <a:avLst/>
          </a:prstGeom>
          <a:noFill/>
        </p:spPr>
        <p:txBody>
          <a:bodyPr wrap="square" lIns="0" rIns="0" tIns="0" bIns="0" anchor="t">
            <a:spAutoFit/>
          </a:bodyPr>
          <a:lstStyle/>
          <a:p>
            <a:pPr algn="ctr"/>
            <a:r>
              <a:rPr sz="1300" b="0">
                <a:solidFill>
                  <a:srgbClr val="1E293B"/>
                </a:solidFill>
                <a:latin typeface="Calibri"/>
              </a:rPr>
              <a:t>13/25</a:t>
            </a:r>
          </a:p>
        </p:txBody>
      </p:sp>
      <p:sp>
        <p:nvSpPr>
          <p:cNvPr id="53" name="TextBox 52"/>
          <p:cNvSpPr txBox="1"/>
          <p:nvPr/>
        </p:nvSpPr>
        <p:spPr>
          <a:xfrm>
            <a:off x="6400800" y="5532120"/>
            <a:ext cx="1280160" cy="365760"/>
          </a:xfrm>
          <a:prstGeom prst="rect">
            <a:avLst/>
          </a:prstGeom>
          <a:noFill/>
        </p:spPr>
        <p:txBody>
          <a:bodyPr wrap="square" lIns="0" rIns="0" tIns="0" bIns="0" anchor="t">
            <a:spAutoFit/>
          </a:bodyPr>
          <a:lstStyle/>
          <a:p>
            <a:pPr algn="ctr"/>
            <a:r>
              <a:rPr sz="1300" b="1">
                <a:solidFill>
                  <a:srgbClr val="DC2626"/>
                </a:solidFill>
                <a:latin typeface="Calibri"/>
              </a:rPr>
              <a:t>−2.4 SD</a:t>
            </a:r>
          </a:p>
        </p:txBody>
      </p:sp>
      <p:sp>
        <p:nvSpPr>
          <p:cNvPr id="54" name="TextBox 53"/>
          <p:cNvSpPr txBox="1"/>
          <p:nvPr/>
        </p:nvSpPr>
        <p:spPr>
          <a:xfrm>
            <a:off x="7955279" y="5559552"/>
            <a:ext cx="3474720" cy="365760"/>
          </a:xfrm>
          <a:prstGeom prst="rect">
            <a:avLst/>
          </a:prstGeom>
          <a:noFill/>
        </p:spPr>
        <p:txBody>
          <a:bodyPr wrap="square" lIns="0" rIns="0" tIns="0" bIns="0" anchor="t">
            <a:spAutoFit/>
          </a:bodyPr>
          <a:lstStyle/>
          <a:p>
            <a:pPr algn="l"/>
            <a:r>
              <a:rPr sz="1100" b="0">
                <a:solidFill>
                  <a:srgbClr val="1E293B"/>
                </a:solidFill>
                <a:latin typeface="Calibri"/>
              </a:rPr>
              <a:t>4 metrics down · illness pattern</a:t>
            </a:r>
          </a:p>
        </p:txBody>
      </p:sp>
      <p:sp>
        <p:nvSpPr>
          <p:cNvPr id="55" name="TextBox 54"/>
          <p:cNvSpPr txBox="1"/>
          <p:nvPr/>
        </p:nvSpPr>
        <p:spPr>
          <a:xfrm>
            <a:off x="11247120" y="6446520"/>
            <a:ext cx="914400" cy="274320"/>
          </a:xfrm>
          <a:prstGeom prst="rect">
            <a:avLst/>
          </a:prstGeom>
          <a:noFill/>
        </p:spPr>
        <p:txBody>
          <a:bodyPr wrap="square" lIns="0" rIns="0" tIns="0" bIns="0" anchor="t">
            <a:spAutoFit/>
          </a:bodyPr>
          <a:lstStyle/>
          <a:p>
            <a:pPr algn="r"/>
            <a:r>
              <a:rPr sz="900" b="0">
                <a:solidFill>
                  <a:srgbClr val="64748B"/>
                </a:solidFill>
                <a:latin typeface="Calibri"/>
              </a:rPr>
              <a:t>03 / 14</a:t>
            </a:r>
          </a:p>
        </p:txBody>
      </p:sp>
      <p:sp>
        <p:nvSpPr>
          <p:cNvPr id="56" name="TextBox 55"/>
          <p:cNvSpPr txBox="1"/>
          <p:nvPr/>
        </p:nvSpPr>
        <p:spPr>
          <a:xfrm>
            <a:off x="365760" y="6446520"/>
            <a:ext cx="54864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828800" cy="274320"/>
          </a:xfrm>
          <a:prstGeom prst="rect">
            <a:avLst/>
          </a:prstGeom>
          <a:noFill/>
        </p:spPr>
        <p:txBody>
          <a:bodyPr wrap="square" lIns="0" rIns="0" tIns="0" bIns="0" anchor="t">
            <a:spAutoFit/>
          </a:bodyPr>
          <a:lstStyle/>
          <a:p>
            <a:pPr algn="l"/>
            <a:r>
              <a:rPr sz="1000" b="1">
                <a:solidFill>
                  <a:srgbClr val="29B7E6"/>
                </a:solidFill>
                <a:latin typeface="Calibri"/>
              </a:rPr>
              <a:t>MICROPULSE  ·  COACH</a:t>
            </a:r>
          </a:p>
        </p:txBody>
      </p:sp>
      <p:sp>
        <p:nvSpPr>
          <p:cNvPr id="5" name="TextBox 4"/>
          <p:cNvSpPr txBox="1"/>
          <p:nvPr/>
        </p:nvSpPr>
        <p:spPr>
          <a:xfrm>
            <a:off x="2468880" y="91440"/>
            <a:ext cx="6400800" cy="274320"/>
          </a:xfrm>
          <a:prstGeom prst="rect">
            <a:avLst/>
          </a:prstGeom>
          <a:noFill/>
        </p:spPr>
        <p:txBody>
          <a:bodyPr wrap="square" lIns="0" rIns="0" tIns="0" bIns="0" anchor="t">
            <a:spAutoFit/>
          </a:bodyPr>
          <a:lstStyle/>
          <a:p>
            <a:pPr algn="l"/>
            <a:r>
              <a:rPr sz="1000" b="0">
                <a:solidFill>
                  <a:srgbClr val="FFFFFF"/>
                </a:solidFill>
                <a:latin typeface="Calibri"/>
              </a:rPr>
              <a:t>/coach/players/andri-yeoman  ·  Apr 22</a:t>
            </a:r>
          </a:p>
        </p:txBody>
      </p:sp>
      <p:sp>
        <p:nvSpPr>
          <p:cNvPr id="6" name="TextBox 5"/>
          <p:cNvSpPr txBox="1"/>
          <p:nvPr/>
        </p:nvSpPr>
        <p:spPr>
          <a:xfrm>
            <a:off x="10515600" y="91440"/>
            <a:ext cx="1371600" cy="274320"/>
          </a:xfrm>
          <a:prstGeom prst="rect">
            <a:avLst/>
          </a:prstGeom>
          <a:noFill/>
        </p:spPr>
        <p:txBody>
          <a:bodyPr wrap="square" lIns="0" rIns="0" tIns="0" bIns="0" anchor="t">
            <a:spAutoFit/>
          </a:bodyPr>
          <a:lstStyle/>
          <a:p>
            <a:pPr algn="r"/>
            <a:r>
              <a:rPr sz="1000" b="0">
                <a:solidFill>
                  <a:srgbClr val="29B7E6"/>
                </a:solidFill>
                <a:latin typeface="Calibri"/>
              </a:rPr>
              <a:t>06:32</a:t>
            </a:r>
          </a:p>
        </p:txBody>
      </p:sp>
      <p:sp>
        <p:nvSpPr>
          <p:cNvPr id="7" name="TextBox 6"/>
          <p:cNvSpPr txBox="1"/>
          <p:nvPr/>
        </p:nvSpPr>
        <p:spPr>
          <a:xfrm>
            <a:off x="365760" y="594360"/>
            <a:ext cx="7315200" cy="274320"/>
          </a:xfrm>
          <a:prstGeom prst="rect">
            <a:avLst/>
          </a:prstGeom>
          <a:noFill/>
        </p:spPr>
        <p:txBody>
          <a:bodyPr wrap="square" lIns="0" rIns="0" tIns="0" bIns="0" anchor="t">
            <a:spAutoFit/>
          </a:bodyPr>
          <a:lstStyle/>
          <a:p>
            <a:pPr algn="l"/>
            <a:r>
              <a:rPr sz="1100" b="1">
                <a:solidFill>
                  <a:srgbClr val="005A2B"/>
                </a:solidFill>
                <a:latin typeface="Calibri"/>
              </a:rPr>
              <a:t>06:32  ·  PLAYER DRILL-DOWN</a:t>
            </a:r>
          </a:p>
        </p:txBody>
      </p:sp>
      <p:sp>
        <p:nvSpPr>
          <p:cNvPr id="8" name="TextBox 7"/>
          <p:cNvSpPr txBox="1"/>
          <p:nvPr/>
        </p:nvSpPr>
        <p:spPr>
          <a:xfrm>
            <a:off x="365760" y="868680"/>
            <a:ext cx="11430000" cy="640080"/>
          </a:xfrm>
          <a:prstGeom prst="rect">
            <a:avLst/>
          </a:prstGeom>
          <a:noFill/>
        </p:spPr>
        <p:txBody>
          <a:bodyPr wrap="square" lIns="0" rIns="0" tIns="0" bIns="0" anchor="t">
            <a:spAutoFit/>
          </a:bodyPr>
          <a:lstStyle/>
          <a:p>
            <a:pPr algn="l"/>
            <a:r>
              <a:rPr sz="2800" b="1">
                <a:solidFill>
                  <a:srgbClr val="1E293B"/>
                </a:solidFill>
                <a:latin typeface="Calibri"/>
              </a:rPr>
              <a:t>Andri Yeoman — GREEN. The case for full session.</a:t>
            </a:r>
          </a:p>
        </p:txBody>
      </p:sp>
      <p:sp>
        <p:nvSpPr>
          <p:cNvPr id="9" name="Rounded Rectangle 8"/>
          <p:cNvSpPr/>
          <p:nvPr/>
        </p:nvSpPr>
        <p:spPr>
          <a:xfrm>
            <a:off x="457200" y="1828800"/>
            <a:ext cx="6858000" cy="420624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57400"/>
            <a:ext cx="6400800" cy="274320"/>
          </a:xfrm>
          <a:prstGeom prst="rect">
            <a:avLst/>
          </a:prstGeom>
          <a:noFill/>
        </p:spPr>
        <p:txBody>
          <a:bodyPr wrap="square" lIns="0" rIns="0" tIns="0" bIns="0" anchor="t">
            <a:spAutoFit/>
          </a:bodyPr>
          <a:lstStyle/>
          <a:p>
            <a:pPr algn="l"/>
            <a:r>
              <a:rPr sz="1000" b="1">
                <a:solidFill>
                  <a:srgbClr val="64748B"/>
                </a:solidFill>
                <a:latin typeface="Calibri"/>
              </a:rPr>
              <a:t>MIDFIELDER  ·  21 years  ·  PERSONAL BASELINE: ACTIVE (n=18)</a:t>
            </a:r>
          </a:p>
        </p:txBody>
      </p:sp>
      <p:sp>
        <p:nvSpPr>
          <p:cNvPr id="11" name="TextBox 10"/>
          <p:cNvSpPr txBox="1"/>
          <p:nvPr/>
        </p:nvSpPr>
        <p:spPr>
          <a:xfrm>
            <a:off x="731520" y="2331720"/>
            <a:ext cx="6400800" cy="548640"/>
          </a:xfrm>
          <a:prstGeom prst="rect">
            <a:avLst/>
          </a:prstGeom>
          <a:noFill/>
        </p:spPr>
        <p:txBody>
          <a:bodyPr wrap="square" lIns="0" rIns="0" tIns="0" bIns="0" anchor="t">
            <a:spAutoFit/>
          </a:bodyPr>
          <a:lstStyle/>
          <a:p>
            <a:pPr algn="l"/>
            <a:r>
              <a:rPr sz="2400" b="1">
                <a:solidFill>
                  <a:srgbClr val="1E293B"/>
                </a:solidFill>
                <a:latin typeface="Calibri"/>
              </a:rPr>
              <a:t>Andri Rafn Yeoman</a:t>
            </a:r>
          </a:p>
        </p:txBody>
      </p:sp>
      <p:sp>
        <p:nvSpPr>
          <p:cNvPr id="12" name="Rounded Rectangle 11"/>
          <p:cNvSpPr/>
          <p:nvPr/>
        </p:nvSpPr>
        <p:spPr>
          <a:xfrm>
            <a:off x="731520" y="3108960"/>
            <a:ext cx="1828800" cy="457200"/>
          </a:xfrm>
          <a:prstGeom prst="roundRect">
            <a:avLst>
              <a:gd name="adj" fmla="val 30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200400"/>
            <a:ext cx="1828800" cy="274320"/>
          </a:xfrm>
          <a:prstGeom prst="rect">
            <a:avLst/>
          </a:prstGeom>
          <a:noFill/>
        </p:spPr>
        <p:txBody>
          <a:bodyPr wrap="square" lIns="0" rIns="0" tIns="0" bIns="0" anchor="t">
            <a:spAutoFit/>
          </a:bodyPr>
          <a:lstStyle/>
          <a:p>
            <a:pPr algn="ctr"/>
            <a:r>
              <a:rPr sz="1000" b="1">
                <a:solidFill>
                  <a:srgbClr val="FFFFFF"/>
                </a:solidFill>
                <a:latin typeface="Calibri"/>
              </a:rPr>
              <a:t>GREEN</a:t>
            </a:r>
          </a:p>
        </p:txBody>
      </p:sp>
      <p:sp>
        <p:nvSpPr>
          <p:cNvPr id="14" name="TextBox 13"/>
          <p:cNvSpPr txBox="1"/>
          <p:nvPr/>
        </p:nvSpPr>
        <p:spPr>
          <a:xfrm>
            <a:off x="2743200" y="3200400"/>
            <a:ext cx="4114800" cy="365760"/>
          </a:xfrm>
          <a:prstGeom prst="rect">
            <a:avLst/>
          </a:prstGeom>
          <a:noFill/>
        </p:spPr>
        <p:txBody>
          <a:bodyPr wrap="square" lIns="0" rIns="0" tIns="0" bIns="0" anchor="t">
            <a:spAutoFit/>
          </a:bodyPr>
          <a:lstStyle/>
          <a:p>
            <a:pPr algn="l"/>
            <a:r>
              <a:rPr sz="1600" b="1">
                <a:solidFill>
                  <a:srgbClr val="1E293B"/>
                </a:solidFill>
                <a:latin typeface="Calibri"/>
              </a:rPr>
              <a:t>Full session</a:t>
            </a:r>
          </a:p>
        </p:txBody>
      </p:sp>
      <p:sp>
        <p:nvSpPr>
          <p:cNvPr id="15" name="Rounded Rectangle 14"/>
          <p:cNvSpPr/>
          <p:nvPr/>
        </p:nvSpPr>
        <p:spPr>
          <a:xfrm>
            <a:off x="73152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Fatigue</a:t>
            </a:r>
          </a:p>
        </p:txBody>
      </p:sp>
      <p:sp>
        <p:nvSpPr>
          <p:cNvPr id="17" name="TextBox 16"/>
          <p:cNvSpPr txBox="1"/>
          <p:nvPr/>
        </p:nvSpPr>
        <p:spPr>
          <a:xfrm>
            <a:off x="731520" y="4480560"/>
            <a:ext cx="1234440" cy="457200"/>
          </a:xfrm>
          <a:prstGeom prst="rect">
            <a:avLst/>
          </a:prstGeom>
          <a:noFill/>
        </p:spPr>
        <p:txBody>
          <a:bodyPr wrap="square" lIns="0" rIns="0" tIns="0" bIns="0" anchor="t">
            <a:spAutoFit/>
          </a:bodyPr>
          <a:lstStyle/>
          <a:p>
            <a:pPr algn="ctr"/>
            <a:r>
              <a:rPr sz="2200" b="1">
                <a:solidFill>
                  <a:srgbClr val="1E293B"/>
                </a:solidFill>
                <a:latin typeface="Arial Black"/>
              </a:rPr>
              <a:t>4/5</a:t>
            </a:r>
          </a:p>
        </p:txBody>
      </p:sp>
      <p:sp>
        <p:nvSpPr>
          <p:cNvPr id="18" name="TextBox 17"/>
          <p:cNvSpPr txBox="1"/>
          <p:nvPr/>
        </p:nvSpPr>
        <p:spPr>
          <a:xfrm>
            <a:off x="731520" y="4983480"/>
            <a:ext cx="1234440" cy="320040"/>
          </a:xfrm>
          <a:prstGeom prst="rect">
            <a:avLst/>
          </a:prstGeom>
          <a:noFill/>
        </p:spPr>
        <p:txBody>
          <a:bodyPr wrap="square" lIns="0" rIns="0" tIns="0" bIns="0" anchor="t">
            <a:spAutoFit/>
          </a:bodyPr>
          <a:lstStyle/>
          <a:p>
            <a:pPr algn="ctr"/>
            <a:r>
              <a:rPr sz="1100" b="1">
                <a:solidFill>
                  <a:srgbClr val="16A34A"/>
                </a:solidFill>
                <a:latin typeface="Calibri"/>
              </a:rPr>
              <a:t>+0.5 SD</a:t>
            </a:r>
          </a:p>
        </p:txBody>
      </p:sp>
      <p:sp>
        <p:nvSpPr>
          <p:cNvPr id="19" name="Rounded Rectangle 18"/>
          <p:cNvSpPr/>
          <p:nvPr/>
        </p:nvSpPr>
        <p:spPr>
          <a:xfrm>
            <a:off x="201168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1168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Sleep Q</a:t>
            </a:r>
          </a:p>
        </p:txBody>
      </p:sp>
      <p:sp>
        <p:nvSpPr>
          <p:cNvPr id="21" name="TextBox 20"/>
          <p:cNvSpPr txBox="1"/>
          <p:nvPr/>
        </p:nvSpPr>
        <p:spPr>
          <a:xfrm>
            <a:off x="2011680" y="4480560"/>
            <a:ext cx="1234440" cy="457200"/>
          </a:xfrm>
          <a:prstGeom prst="rect">
            <a:avLst/>
          </a:prstGeom>
          <a:noFill/>
        </p:spPr>
        <p:txBody>
          <a:bodyPr wrap="square" lIns="0" rIns="0" tIns="0" bIns="0" anchor="t">
            <a:spAutoFit/>
          </a:bodyPr>
          <a:lstStyle/>
          <a:p>
            <a:pPr algn="ctr"/>
            <a:r>
              <a:rPr sz="2200" b="1">
                <a:solidFill>
                  <a:srgbClr val="1E293B"/>
                </a:solidFill>
                <a:latin typeface="Arial Black"/>
              </a:rPr>
              <a:t>5/5</a:t>
            </a:r>
          </a:p>
        </p:txBody>
      </p:sp>
      <p:sp>
        <p:nvSpPr>
          <p:cNvPr id="22" name="TextBox 21"/>
          <p:cNvSpPr txBox="1"/>
          <p:nvPr/>
        </p:nvSpPr>
        <p:spPr>
          <a:xfrm>
            <a:off x="2011680" y="4983480"/>
            <a:ext cx="1234440" cy="320040"/>
          </a:xfrm>
          <a:prstGeom prst="rect">
            <a:avLst/>
          </a:prstGeom>
          <a:noFill/>
        </p:spPr>
        <p:txBody>
          <a:bodyPr wrap="square" lIns="0" rIns="0" tIns="0" bIns="0" anchor="t">
            <a:spAutoFit/>
          </a:bodyPr>
          <a:lstStyle/>
          <a:p>
            <a:pPr algn="ctr"/>
            <a:r>
              <a:rPr sz="1100" b="1">
                <a:solidFill>
                  <a:srgbClr val="16A34A"/>
                </a:solidFill>
                <a:latin typeface="Calibri"/>
              </a:rPr>
              <a:t>+0.2 SD</a:t>
            </a:r>
          </a:p>
        </p:txBody>
      </p:sp>
      <p:sp>
        <p:nvSpPr>
          <p:cNvPr id="23" name="Rounded Rectangle 22"/>
          <p:cNvSpPr/>
          <p:nvPr/>
        </p:nvSpPr>
        <p:spPr>
          <a:xfrm>
            <a:off x="329184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9184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Sleep dur</a:t>
            </a:r>
          </a:p>
        </p:txBody>
      </p:sp>
      <p:sp>
        <p:nvSpPr>
          <p:cNvPr id="25" name="TextBox 24"/>
          <p:cNvSpPr txBox="1"/>
          <p:nvPr/>
        </p:nvSpPr>
        <p:spPr>
          <a:xfrm>
            <a:off x="3291840" y="4480560"/>
            <a:ext cx="1234440" cy="457200"/>
          </a:xfrm>
          <a:prstGeom prst="rect">
            <a:avLst/>
          </a:prstGeom>
          <a:noFill/>
        </p:spPr>
        <p:txBody>
          <a:bodyPr wrap="square" lIns="0" rIns="0" tIns="0" bIns="0" anchor="t">
            <a:spAutoFit/>
          </a:bodyPr>
          <a:lstStyle/>
          <a:p>
            <a:pPr algn="ctr"/>
            <a:r>
              <a:rPr sz="2200" b="1">
                <a:solidFill>
                  <a:srgbClr val="1E293B"/>
                </a:solidFill>
                <a:latin typeface="Arial Black"/>
              </a:rPr>
              <a:t>4/5</a:t>
            </a:r>
          </a:p>
        </p:txBody>
      </p:sp>
      <p:sp>
        <p:nvSpPr>
          <p:cNvPr id="26" name="TextBox 25"/>
          <p:cNvSpPr txBox="1"/>
          <p:nvPr/>
        </p:nvSpPr>
        <p:spPr>
          <a:xfrm>
            <a:off x="3291840" y="4983480"/>
            <a:ext cx="1234440" cy="320040"/>
          </a:xfrm>
          <a:prstGeom prst="rect">
            <a:avLst/>
          </a:prstGeom>
          <a:noFill/>
        </p:spPr>
        <p:txBody>
          <a:bodyPr wrap="square" lIns="0" rIns="0" tIns="0" bIns="0" anchor="t">
            <a:spAutoFit/>
          </a:bodyPr>
          <a:lstStyle/>
          <a:p>
            <a:pPr algn="ctr"/>
            <a:r>
              <a:rPr sz="1100" b="1">
                <a:solidFill>
                  <a:srgbClr val="16A34A"/>
                </a:solidFill>
                <a:latin typeface="Calibri"/>
              </a:rPr>
              <a:t>+0.3 SD</a:t>
            </a:r>
          </a:p>
        </p:txBody>
      </p:sp>
      <p:sp>
        <p:nvSpPr>
          <p:cNvPr id="27" name="Rounded Rectangle 26"/>
          <p:cNvSpPr/>
          <p:nvPr/>
        </p:nvSpPr>
        <p:spPr>
          <a:xfrm>
            <a:off x="457200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Stress</a:t>
            </a:r>
          </a:p>
        </p:txBody>
      </p:sp>
      <p:sp>
        <p:nvSpPr>
          <p:cNvPr id="29" name="TextBox 28"/>
          <p:cNvSpPr txBox="1"/>
          <p:nvPr/>
        </p:nvSpPr>
        <p:spPr>
          <a:xfrm>
            <a:off x="4572000" y="4480560"/>
            <a:ext cx="1234440" cy="457200"/>
          </a:xfrm>
          <a:prstGeom prst="rect">
            <a:avLst/>
          </a:prstGeom>
          <a:noFill/>
        </p:spPr>
        <p:txBody>
          <a:bodyPr wrap="square" lIns="0" rIns="0" tIns="0" bIns="0" anchor="t">
            <a:spAutoFit/>
          </a:bodyPr>
          <a:lstStyle/>
          <a:p>
            <a:pPr algn="ctr"/>
            <a:r>
              <a:rPr sz="2200" b="1">
                <a:solidFill>
                  <a:srgbClr val="1E293B"/>
                </a:solidFill>
                <a:latin typeface="Arial Black"/>
              </a:rPr>
              <a:t>5/5</a:t>
            </a:r>
          </a:p>
        </p:txBody>
      </p:sp>
      <p:sp>
        <p:nvSpPr>
          <p:cNvPr id="30" name="TextBox 29"/>
          <p:cNvSpPr txBox="1"/>
          <p:nvPr/>
        </p:nvSpPr>
        <p:spPr>
          <a:xfrm>
            <a:off x="4572000" y="4983480"/>
            <a:ext cx="1234440" cy="320040"/>
          </a:xfrm>
          <a:prstGeom prst="rect">
            <a:avLst/>
          </a:prstGeom>
          <a:noFill/>
        </p:spPr>
        <p:txBody>
          <a:bodyPr wrap="square" lIns="0" rIns="0" tIns="0" bIns="0" anchor="t">
            <a:spAutoFit/>
          </a:bodyPr>
          <a:lstStyle/>
          <a:p>
            <a:pPr algn="ctr"/>
            <a:r>
              <a:rPr sz="1100" b="1">
                <a:solidFill>
                  <a:srgbClr val="16A34A"/>
                </a:solidFill>
                <a:latin typeface="Calibri"/>
              </a:rPr>
              <a:t>+0.2 SD</a:t>
            </a:r>
          </a:p>
        </p:txBody>
      </p:sp>
      <p:sp>
        <p:nvSpPr>
          <p:cNvPr id="31" name="Rounded Rectangle 30"/>
          <p:cNvSpPr/>
          <p:nvPr/>
        </p:nvSpPr>
        <p:spPr>
          <a:xfrm>
            <a:off x="585216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Soreness</a:t>
            </a:r>
          </a:p>
        </p:txBody>
      </p:sp>
      <p:sp>
        <p:nvSpPr>
          <p:cNvPr id="33" name="TextBox 32"/>
          <p:cNvSpPr txBox="1"/>
          <p:nvPr/>
        </p:nvSpPr>
        <p:spPr>
          <a:xfrm>
            <a:off x="5852160" y="4480560"/>
            <a:ext cx="1234440" cy="457200"/>
          </a:xfrm>
          <a:prstGeom prst="rect">
            <a:avLst/>
          </a:prstGeom>
          <a:noFill/>
        </p:spPr>
        <p:txBody>
          <a:bodyPr wrap="square" lIns="0" rIns="0" tIns="0" bIns="0" anchor="t">
            <a:spAutoFit/>
          </a:bodyPr>
          <a:lstStyle/>
          <a:p>
            <a:pPr algn="ctr"/>
            <a:r>
              <a:rPr sz="2200" b="1">
                <a:solidFill>
                  <a:srgbClr val="1E293B"/>
                </a:solidFill>
                <a:latin typeface="Arial Black"/>
              </a:rPr>
              <a:t>4/5</a:t>
            </a:r>
          </a:p>
        </p:txBody>
      </p:sp>
      <p:sp>
        <p:nvSpPr>
          <p:cNvPr id="34" name="TextBox 33"/>
          <p:cNvSpPr txBox="1"/>
          <p:nvPr/>
        </p:nvSpPr>
        <p:spPr>
          <a:xfrm>
            <a:off x="5852160" y="4983480"/>
            <a:ext cx="1234440" cy="320040"/>
          </a:xfrm>
          <a:prstGeom prst="rect">
            <a:avLst/>
          </a:prstGeom>
          <a:noFill/>
        </p:spPr>
        <p:txBody>
          <a:bodyPr wrap="square" lIns="0" rIns="0" tIns="0" bIns="0" anchor="t">
            <a:spAutoFit/>
          </a:bodyPr>
          <a:lstStyle/>
          <a:p>
            <a:pPr algn="ctr"/>
            <a:r>
              <a:rPr sz="1100" b="1">
                <a:solidFill>
                  <a:srgbClr val="16A34A"/>
                </a:solidFill>
                <a:latin typeface="Calibri"/>
              </a:rPr>
              <a:t>+0.6 SD</a:t>
            </a:r>
          </a:p>
        </p:txBody>
      </p:sp>
      <p:sp>
        <p:nvSpPr>
          <p:cNvPr id="35" name="TextBox 34"/>
          <p:cNvSpPr txBox="1"/>
          <p:nvPr/>
        </p:nvSpPr>
        <p:spPr>
          <a:xfrm>
            <a:off x="731520" y="5532120"/>
            <a:ext cx="6400800" cy="365760"/>
          </a:xfrm>
          <a:prstGeom prst="rect">
            <a:avLst/>
          </a:prstGeom>
          <a:noFill/>
        </p:spPr>
        <p:txBody>
          <a:bodyPr wrap="square" lIns="0" rIns="0" tIns="0" bIns="0" anchor="t">
            <a:spAutoFit/>
          </a:bodyPr>
          <a:lstStyle/>
          <a:p>
            <a:pPr algn="l"/>
            <a:r>
              <a:rPr sz="1200" b="0">
                <a:solidFill>
                  <a:srgbClr val="64748B"/>
                </a:solidFill>
                <a:latin typeface="Calibri"/>
              </a:rPr>
              <a:t>Total: 22/25  ·  Composite Load: 0.9  ·  ACWR: 1.1</a:t>
            </a:r>
          </a:p>
        </p:txBody>
      </p:sp>
      <p:sp>
        <p:nvSpPr>
          <p:cNvPr id="36" name="Rounded Rectangle 35"/>
          <p:cNvSpPr/>
          <p:nvPr/>
        </p:nvSpPr>
        <p:spPr>
          <a:xfrm>
            <a:off x="7680960" y="1828800"/>
            <a:ext cx="4206240" cy="4206240"/>
          </a:xfrm>
          <a:prstGeom prst="roundRect">
            <a:avLst>
              <a:gd name="adj" fmla="val 6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55280" y="2057400"/>
            <a:ext cx="3657600" cy="365760"/>
          </a:xfrm>
          <a:prstGeom prst="rect">
            <a:avLst/>
          </a:prstGeom>
          <a:noFill/>
        </p:spPr>
        <p:txBody>
          <a:bodyPr wrap="square" lIns="0" rIns="0" tIns="0" bIns="0" anchor="t">
            <a:spAutoFit/>
          </a:bodyPr>
          <a:lstStyle/>
          <a:p>
            <a:pPr algn="l"/>
            <a:r>
              <a:rPr sz="1000" b="1">
                <a:solidFill>
                  <a:srgbClr val="29B7E6"/>
                </a:solidFill>
                <a:latin typeface="Calibri"/>
              </a:rPr>
              <a:t>COACH EXPLAIN</a:t>
            </a:r>
          </a:p>
        </p:txBody>
      </p:sp>
      <p:sp>
        <p:nvSpPr>
          <p:cNvPr id="38" name="TextBox 37"/>
          <p:cNvSpPr txBox="1"/>
          <p:nvPr/>
        </p:nvSpPr>
        <p:spPr>
          <a:xfrm>
            <a:off x="7955280" y="2377440"/>
            <a:ext cx="3657600" cy="548640"/>
          </a:xfrm>
          <a:prstGeom prst="rect">
            <a:avLst/>
          </a:prstGeom>
          <a:noFill/>
        </p:spPr>
        <p:txBody>
          <a:bodyPr wrap="square" lIns="0" rIns="0" tIns="0" bIns="0" anchor="t">
            <a:spAutoFit/>
          </a:bodyPr>
          <a:lstStyle/>
          <a:p>
            <a:pPr algn="l"/>
            <a:r>
              <a:rPr sz="1800" b="1">
                <a:solidFill>
                  <a:srgbClr val="FFFFFF"/>
                </a:solidFill>
                <a:latin typeface="Calibri"/>
              </a:rPr>
              <a:t>What the system sees</a:t>
            </a:r>
          </a:p>
        </p:txBody>
      </p:sp>
      <p:sp>
        <p:nvSpPr>
          <p:cNvPr id="39" name="TextBox 38"/>
          <p:cNvSpPr txBox="1"/>
          <p:nvPr/>
        </p:nvSpPr>
        <p:spPr>
          <a:xfrm>
            <a:off x="7955280" y="3200400"/>
            <a:ext cx="3657600" cy="2560320"/>
          </a:xfrm>
          <a:prstGeom prst="rect">
            <a:avLst/>
          </a:prstGeom>
          <a:noFill/>
        </p:spPr>
        <p:txBody>
          <a:bodyPr wrap="square" lIns="0" rIns="0" tIns="0" bIns="0">
            <a:spAutoFit/>
          </a:bodyPr>
          <a:lstStyle/>
          <a:p>
            <a:pPr algn="l">
              <a:lnSpc>
                <a:spcPct val="130000"/>
              </a:lnSpc>
            </a:pPr>
            <a:r>
              <a:rPr sz="1400" b="0">
                <a:solidFill>
                  <a:srgbClr val="FFFFFF"/>
                </a:solidFill>
                <a:latin typeface="Calibri"/>
              </a:rPr>
              <a:t>All 5 wellness metrics within his</a:t>
            </a:r>
          </a:p>
          <a:p>
            <a:pPr algn="l">
              <a:lnSpc>
                <a:spcPct val="130000"/>
              </a:lnSpc>
            </a:pPr>
            <a:r>
              <a:rPr sz="1400" b="0">
                <a:solidFill>
                  <a:srgbClr val="FFFFFF"/>
                </a:solidFill>
                <a:latin typeface="Calibri"/>
              </a:rPr>
              <a:t>personal SD-band.</a:t>
            </a:r>
          </a:p>
          <a:p>
            <a:pPr algn="l">
              <a:lnSpc>
                <a:spcPct val="130000"/>
              </a:lnSpc>
            </a:pPr>
            <a:r>
              <a:rPr sz="1400" b="0">
                <a:solidFill>
                  <a:srgbClr val="FFFFFF"/>
                </a:solidFill>
                <a:latin typeface="Calibri"/>
              </a:rPr>
              <a:t/>
            </a:r>
          </a:p>
          <a:p>
            <a:pPr algn="l">
              <a:lnSpc>
                <a:spcPct val="130000"/>
              </a:lnSpc>
            </a:pPr>
            <a:r>
              <a:rPr sz="1400" b="0">
                <a:solidFill>
                  <a:srgbClr val="FFFFFF"/>
                </a:solidFill>
                <a:latin typeface="Calibri"/>
              </a:rPr>
              <a:t>Total composite load tracking close</a:t>
            </a:r>
          </a:p>
          <a:p>
            <a:pPr algn="l">
              <a:lnSpc>
                <a:spcPct val="130000"/>
              </a:lnSpc>
            </a:pPr>
            <a:r>
              <a:rPr sz="1400" b="0">
                <a:solidFill>
                  <a:srgbClr val="FFFFFF"/>
                </a:solidFill>
                <a:latin typeface="Calibri"/>
              </a:rPr>
              <a:t>to baseline.</a:t>
            </a:r>
          </a:p>
          <a:p>
            <a:pPr algn="l">
              <a:lnSpc>
                <a:spcPct val="130000"/>
              </a:lnSpc>
            </a:pPr>
            <a:r>
              <a:rPr sz="1400" b="0">
                <a:solidFill>
                  <a:srgbClr val="FFFFFF"/>
                </a:solidFill>
                <a:latin typeface="Calibri"/>
              </a:rPr>
              <a:t/>
            </a:r>
          </a:p>
          <a:p>
            <a:pPr algn="l">
              <a:lnSpc>
                <a:spcPct val="130000"/>
              </a:lnSpc>
            </a:pPr>
            <a:r>
              <a:rPr sz="1400" b="0">
                <a:solidFill>
                  <a:srgbClr val="FFFFFF"/>
                </a:solidFill>
                <a:latin typeface="Calibri"/>
              </a:rPr>
              <a:t>Recommended training action:</a:t>
            </a:r>
          </a:p>
        </p:txBody>
      </p:sp>
      <p:sp>
        <p:nvSpPr>
          <p:cNvPr id="40" name="TextBox 39"/>
          <p:cNvSpPr txBox="1"/>
          <p:nvPr/>
        </p:nvSpPr>
        <p:spPr>
          <a:xfrm>
            <a:off x="7955280" y="5166360"/>
            <a:ext cx="3657600" cy="548640"/>
          </a:xfrm>
          <a:prstGeom prst="rect">
            <a:avLst/>
          </a:prstGeom>
          <a:noFill/>
        </p:spPr>
        <p:txBody>
          <a:bodyPr wrap="square" lIns="0" rIns="0" tIns="0" bIns="0" anchor="t">
            <a:spAutoFit/>
          </a:bodyPr>
          <a:lstStyle/>
          <a:p>
            <a:pPr algn="l"/>
            <a:r>
              <a:rPr sz="2200" b="1">
                <a:solidFill>
                  <a:srgbClr val="29B7E6"/>
                </a:solidFill>
                <a:latin typeface="Arial Black"/>
              </a:rPr>
              <a:t>FULL SESSION</a:t>
            </a:r>
          </a:p>
        </p:txBody>
      </p:sp>
      <p:sp>
        <p:nvSpPr>
          <p:cNvPr id="41" name="TextBox 40"/>
          <p:cNvSpPr txBox="1"/>
          <p:nvPr/>
        </p:nvSpPr>
        <p:spPr>
          <a:xfrm>
            <a:off x="11247120" y="6446520"/>
            <a:ext cx="914400" cy="274320"/>
          </a:xfrm>
          <a:prstGeom prst="rect">
            <a:avLst/>
          </a:prstGeom>
          <a:noFill/>
        </p:spPr>
        <p:txBody>
          <a:bodyPr wrap="square" lIns="0" rIns="0" tIns="0" bIns="0" anchor="t">
            <a:spAutoFit/>
          </a:bodyPr>
          <a:lstStyle/>
          <a:p>
            <a:pPr algn="r"/>
            <a:r>
              <a:rPr sz="900" b="0">
                <a:solidFill>
                  <a:srgbClr val="64748B"/>
                </a:solidFill>
                <a:latin typeface="Calibri"/>
              </a:rPr>
              <a:t>04 / 14</a:t>
            </a:r>
          </a:p>
        </p:txBody>
      </p:sp>
      <p:sp>
        <p:nvSpPr>
          <p:cNvPr id="42" name="TextBox 41"/>
          <p:cNvSpPr txBox="1"/>
          <p:nvPr/>
        </p:nvSpPr>
        <p:spPr>
          <a:xfrm>
            <a:off x="365760" y="6446520"/>
            <a:ext cx="54864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828800" cy="274320"/>
          </a:xfrm>
          <a:prstGeom prst="rect">
            <a:avLst/>
          </a:prstGeom>
          <a:noFill/>
        </p:spPr>
        <p:txBody>
          <a:bodyPr wrap="square" lIns="0" rIns="0" tIns="0" bIns="0" anchor="t">
            <a:spAutoFit/>
          </a:bodyPr>
          <a:lstStyle/>
          <a:p>
            <a:pPr algn="l"/>
            <a:r>
              <a:rPr sz="1000" b="1">
                <a:solidFill>
                  <a:srgbClr val="29B7E6"/>
                </a:solidFill>
                <a:latin typeface="Calibri"/>
              </a:rPr>
              <a:t>MICROPULSE  ·  COACH</a:t>
            </a:r>
          </a:p>
        </p:txBody>
      </p:sp>
      <p:sp>
        <p:nvSpPr>
          <p:cNvPr id="5" name="TextBox 4"/>
          <p:cNvSpPr txBox="1"/>
          <p:nvPr/>
        </p:nvSpPr>
        <p:spPr>
          <a:xfrm>
            <a:off x="2468880" y="91440"/>
            <a:ext cx="6400800" cy="274320"/>
          </a:xfrm>
          <a:prstGeom prst="rect">
            <a:avLst/>
          </a:prstGeom>
          <a:noFill/>
        </p:spPr>
        <p:txBody>
          <a:bodyPr wrap="square" lIns="0" rIns="0" tIns="0" bIns="0" anchor="t">
            <a:spAutoFit/>
          </a:bodyPr>
          <a:lstStyle/>
          <a:p>
            <a:pPr algn="l"/>
            <a:r>
              <a:rPr sz="1000" b="0">
                <a:solidFill>
                  <a:srgbClr val="FFFFFF"/>
                </a:solidFill>
                <a:latin typeface="Calibri"/>
              </a:rPr>
              <a:t>/coach/players/arnor-tristan  ·  Apr 22</a:t>
            </a:r>
          </a:p>
        </p:txBody>
      </p:sp>
      <p:sp>
        <p:nvSpPr>
          <p:cNvPr id="6" name="TextBox 5"/>
          <p:cNvSpPr txBox="1"/>
          <p:nvPr/>
        </p:nvSpPr>
        <p:spPr>
          <a:xfrm>
            <a:off x="10515600" y="91440"/>
            <a:ext cx="1371600" cy="274320"/>
          </a:xfrm>
          <a:prstGeom prst="rect">
            <a:avLst/>
          </a:prstGeom>
          <a:noFill/>
        </p:spPr>
        <p:txBody>
          <a:bodyPr wrap="square" lIns="0" rIns="0" tIns="0" bIns="0" anchor="t">
            <a:spAutoFit/>
          </a:bodyPr>
          <a:lstStyle/>
          <a:p>
            <a:pPr algn="r"/>
            <a:r>
              <a:rPr sz="1000" b="0">
                <a:solidFill>
                  <a:srgbClr val="29B7E6"/>
                </a:solidFill>
                <a:latin typeface="Calibri"/>
              </a:rPr>
              <a:t>06:35</a:t>
            </a:r>
          </a:p>
        </p:txBody>
      </p:sp>
      <p:sp>
        <p:nvSpPr>
          <p:cNvPr id="7" name="TextBox 6"/>
          <p:cNvSpPr txBox="1"/>
          <p:nvPr/>
        </p:nvSpPr>
        <p:spPr>
          <a:xfrm>
            <a:off x="365760" y="594360"/>
            <a:ext cx="7315200" cy="274320"/>
          </a:xfrm>
          <a:prstGeom prst="rect">
            <a:avLst/>
          </a:prstGeom>
          <a:noFill/>
        </p:spPr>
        <p:txBody>
          <a:bodyPr wrap="square" lIns="0" rIns="0" tIns="0" bIns="0" anchor="t">
            <a:spAutoFit/>
          </a:bodyPr>
          <a:lstStyle/>
          <a:p>
            <a:pPr algn="l"/>
            <a:r>
              <a:rPr sz="1100" b="1">
                <a:solidFill>
                  <a:srgbClr val="005A2B"/>
                </a:solidFill>
                <a:latin typeface="Calibri"/>
              </a:rPr>
              <a:t>06:35  ·  PLAYER DRILL-DOWN</a:t>
            </a:r>
          </a:p>
        </p:txBody>
      </p:sp>
      <p:sp>
        <p:nvSpPr>
          <p:cNvPr id="8" name="TextBox 7"/>
          <p:cNvSpPr txBox="1"/>
          <p:nvPr/>
        </p:nvSpPr>
        <p:spPr>
          <a:xfrm>
            <a:off x="365760" y="868680"/>
            <a:ext cx="11430000" cy="640080"/>
          </a:xfrm>
          <a:prstGeom prst="rect">
            <a:avLst/>
          </a:prstGeom>
          <a:noFill/>
        </p:spPr>
        <p:txBody>
          <a:bodyPr wrap="square" lIns="0" rIns="0" tIns="0" bIns="0" anchor="t">
            <a:spAutoFit/>
          </a:bodyPr>
          <a:lstStyle/>
          <a:p>
            <a:pPr algn="l"/>
            <a:r>
              <a:rPr sz="2800" b="1">
                <a:solidFill>
                  <a:srgbClr val="1E293B"/>
                </a:solidFill>
                <a:latin typeface="Calibri"/>
              </a:rPr>
              <a:t>Arnór Tristan — RED. Broad crash across 4 metrics.</a:t>
            </a:r>
          </a:p>
        </p:txBody>
      </p:sp>
      <p:sp>
        <p:nvSpPr>
          <p:cNvPr id="9" name="Rounded Rectangle 8"/>
          <p:cNvSpPr/>
          <p:nvPr/>
        </p:nvSpPr>
        <p:spPr>
          <a:xfrm>
            <a:off x="457200" y="1828800"/>
            <a:ext cx="6858000" cy="420624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57400"/>
            <a:ext cx="6400800" cy="274320"/>
          </a:xfrm>
          <a:prstGeom prst="rect">
            <a:avLst/>
          </a:prstGeom>
          <a:noFill/>
        </p:spPr>
        <p:txBody>
          <a:bodyPr wrap="square" lIns="0" rIns="0" tIns="0" bIns="0" anchor="t">
            <a:spAutoFit/>
          </a:bodyPr>
          <a:lstStyle/>
          <a:p>
            <a:pPr algn="l"/>
            <a:r>
              <a:rPr sz="1000" b="1">
                <a:solidFill>
                  <a:srgbClr val="64748B"/>
                </a:solidFill>
                <a:latin typeface="Calibri"/>
              </a:rPr>
              <a:t>DEFENDER  ·  24 years  ·  PERSONAL BASELINE: ACTIVE (n=21)</a:t>
            </a:r>
          </a:p>
        </p:txBody>
      </p:sp>
      <p:sp>
        <p:nvSpPr>
          <p:cNvPr id="11" name="TextBox 10"/>
          <p:cNvSpPr txBox="1"/>
          <p:nvPr/>
        </p:nvSpPr>
        <p:spPr>
          <a:xfrm>
            <a:off x="731520" y="2331720"/>
            <a:ext cx="6400800" cy="548640"/>
          </a:xfrm>
          <a:prstGeom prst="rect">
            <a:avLst/>
          </a:prstGeom>
          <a:noFill/>
        </p:spPr>
        <p:txBody>
          <a:bodyPr wrap="square" lIns="0" rIns="0" tIns="0" bIns="0" anchor="t">
            <a:spAutoFit/>
          </a:bodyPr>
          <a:lstStyle/>
          <a:p>
            <a:pPr algn="l"/>
            <a:r>
              <a:rPr sz="2400" b="1">
                <a:solidFill>
                  <a:srgbClr val="1E293B"/>
                </a:solidFill>
                <a:latin typeface="Calibri"/>
              </a:rPr>
              <a:t>Arnór Tristan Helgason</a:t>
            </a:r>
          </a:p>
        </p:txBody>
      </p:sp>
      <p:sp>
        <p:nvSpPr>
          <p:cNvPr id="12" name="Rounded Rectangle 11"/>
          <p:cNvSpPr/>
          <p:nvPr/>
        </p:nvSpPr>
        <p:spPr>
          <a:xfrm>
            <a:off x="731520" y="3108960"/>
            <a:ext cx="1828800" cy="457200"/>
          </a:xfrm>
          <a:prstGeom prst="roundRect">
            <a:avLst>
              <a:gd name="adj" fmla="val 30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200400"/>
            <a:ext cx="1828800" cy="274320"/>
          </a:xfrm>
          <a:prstGeom prst="rect">
            <a:avLst/>
          </a:prstGeom>
          <a:noFill/>
        </p:spPr>
        <p:txBody>
          <a:bodyPr wrap="square" lIns="0" rIns="0" tIns="0" bIns="0" anchor="t">
            <a:spAutoFit/>
          </a:bodyPr>
          <a:lstStyle/>
          <a:p>
            <a:pPr algn="ctr"/>
            <a:r>
              <a:rPr sz="1000" b="1">
                <a:solidFill>
                  <a:srgbClr val="FFFFFF"/>
                </a:solidFill>
                <a:latin typeface="Calibri"/>
              </a:rPr>
              <a:t>RED</a:t>
            </a:r>
          </a:p>
        </p:txBody>
      </p:sp>
      <p:sp>
        <p:nvSpPr>
          <p:cNvPr id="14" name="TextBox 13"/>
          <p:cNvSpPr txBox="1"/>
          <p:nvPr/>
        </p:nvSpPr>
        <p:spPr>
          <a:xfrm>
            <a:off x="2743200" y="3200400"/>
            <a:ext cx="4114800" cy="365760"/>
          </a:xfrm>
          <a:prstGeom prst="rect">
            <a:avLst/>
          </a:prstGeom>
          <a:noFill/>
        </p:spPr>
        <p:txBody>
          <a:bodyPr wrap="square" lIns="0" rIns="0" tIns="0" bIns="0" anchor="t">
            <a:spAutoFit/>
          </a:bodyPr>
          <a:lstStyle/>
          <a:p>
            <a:pPr algn="l"/>
            <a:r>
              <a:rPr sz="1600" b="1">
                <a:solidFill>
                  <a:srgbClr val="1E293B"/>
                </a:solidFill>
                <a:latin typeface="Calibri"/>
              </a:rPr>
              <a:t>Recovery day</a:t>
            </a:r>
          </a:p>
        </p:txBody>
      </p:sp>
      <p:sp>
        <p:nvSpPr>
          <p:cNvPr id="15" name="Rounded Rectangle 14"/>
          <p:cNvSpPr/>
          <p:nvPr/>
        </p:nvSpPr>
        <p:spPr>
          <a:xfrm>
            <a:off x="73152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Fatigue</a:t>
            </a:r>
          </a:p>
        </p:txBody>
      </p:sp>
      <p:sp>
        <p:nvSpPr>
          <p:cNvPr id="17" name="TextBox 16"/>
          <p:cNvSpPr txBox="1"/>
          <p:nvPr/>
        </p:nvSpPr>
        <p:spPr>
          <a:xfrm>
            <a:off x="731520" y="4480560"/>
            <a:ext cx="1234440" cy="457200"/>
          </a:xfrm>
          <a:prstGeom prst="rect">
            <a:avLst/>
          </a:prstGeom>
          <a:noFill/>
        </p:spPr>
        <p:txBody>
          <a:bodyPr wrap="square" lIns="0" rIns="0" tIns="0" bIns="0" anchor="t">
            <a:spAutoFit/>
          </a:bodyPr>
          <a:lstStyle/>
          <a:p>
            <a:pPr algn="ctr"/>
            <a:r>
              <a:rPr sz="2200" b="1">
                <a:solidFill>
                  <a:srgbClr val="DC2626"/>
                </a:solidFill>
                <a:latin typeface="Arial Black"/>
              </a:rPr>
              <a:t>2/5</a:t>
            </a:r>
          </a:p>
        </p:txBody>
      </p:sp>
      <p:sp>
        <p:nvSpPr>
          <p:cNvPr id="18" name="TextBox 17"/>
          <p:cNvSpPr txBox="1"/>
          <p:nvPr/>
        </p:nvSpPr>
        <p:spPr>
          <a:xfrm>
            <a:off x="731520" y="4983480"/>
            <a:ext cx="1234440" cy="320040"/>
          </a:xfrm>
          <a:prstGeom prst="rect">
            <a:avLst/>
          </a:prstGeom>
          <a:noFill/>
        </p:spPr>
        <p:txBody>
          <a:bodyPr wrap="square" lIns="0" rIns="0" tIns="0" bIns="0" anchor="t">
            <a:spAutoFit/>
          </a:bodyPr>
          <a:lstStyle/>
          <a:p>
            <a:pPr algn="ctr"/>
            <a:r>
              <a:rPr sz="1100" b="1">
                <a:solidFill>
                  <a:srgbClr val="DC2626"/>
                </a:solidFill>
                <a:latin typeface="Calibri"/>
              </a:rPr>
              <a:t>−4.3 SD</a:t>
            </a:r>
          </a:p>
        </p:txBody>
      </p:sp>
      <p:sp>
        <p:nvSpPr>
          <p:cNvPr id="19" name="Rounded Rectangle 18"/>
          <p:cNvSpPr/>
          <p:nvPr/>
        </p:nvSpPr>
        <p:spPr>
          <a:xfrm>
            <a:off x="201168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1168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Sleep Q</a:t>
            </a:r>
          </a:p>
        </p:txBody>
      </p:sp>
      <p:sp>
        <p:nvSpPr>
          <p:cNvPr id="21" name="TextBox 20"/>
          <p:cNvSpPr txBox="1"/>
          <p:nvPr/>
        </p:nvSpPr>
        <p:spPr>
          <a:xfrm>
            <a:off x="2011680" y="4480560"/>
            <a:ext cx="1234440" cy="457200"/>
          </a:xfrm>
          <a:prstGeom prst="rect">
            <a:avLst/>
          </a:prstGeom>
          <a:noFill/>
        </p:spPr>
        <p:txBody>
          <a:bodyPr wrap="square" lIns="0" rIns="0" tIns="0" bIns="0" anchor="t">
            <a:spAutoFit/>
          </a:bodyPr>
          <a:lstStyle/>
          <a:p>
            <a:pPr algn="ctr"/>
            <a:r>
              <a:rPr sz="2200" b="1">
                <a:solidFill>
                  <a:srgbClr val="F59E0B"/>
                </a:solidFill>
                <a:latin typeface="Arial Black"/>
              </a:rPr>
              <a:t>3/5</a:t>
            </a:r>
          </a:p>
        </p:txBody>
      </p:sp>
      <p:sp>
        <p:nvSpPr>
          <p:cNvPr id="22" name="TextBox 21"/>
          <p:cNvSpPr txBox="1"/>
          <p:nvPr/>
        </p:nvSpPr>
        <p:spPr>
          <a:xfrm>
            <a:off x="2011680" y="4983480"/>
            <a:ext cx="1234440" cy="320040"/>
          </a:xfrm>
          <a:prstGeom prst="rect">
            <a:avLst/>
          </a:prstGeom>
          <a:noFill/>
        </p:spPr>
        <p:txBody>
          <a:bodyPr wrap="square" lIns="0" rIns="0" tIns="0" bIns="0" anchor="t">
            <a:spAutoFit/>
          </a:bodyPr>
          <a:lstStyle/>
          <a:p>
            <a:pPr algn="ctr"/>
            <a:r>
              <a:rPr sz="1100" b="1">
                <a:solidFill>
                  <a:srgbClr val="F59E0B"/>
                </a:solidFill>
                <a:latin typeface="Calibri"/>
              </a:rPr>
              <a:t>−1.2 SD</a:t>
            </a:r>
          </a:p>
        </p:txBody>
      </p:sp>
      <p:sp>
        <p:nvSpPr>
          <p:cNvPr id="23" name="Rounded Rectangle 22"/>
          <p:cNvSpPr/>
          <p:nvPr/>
        </p:nvSpPr>
        <p:spPr>
          <a:xfrm>
            <a:off x="329184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9184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Sleep dur</a:t>
            </a:r>
          </a:p>
        </p:txBody>
      </p:sp>
      <p:sp>
        <p:nvSpPr>
          <p:cNvPr id="25" name="TextBox 24"/>
          <p:cNvSpPr txBox="1"/>
          <p:nvPr/>
        </p:nvSpPr>
        <p:spPr>
          <a:xfrm>
            <a:off x="3291840" y="4480560"/>
            <a:ext cx="1234440" cy="457200"/>
          </a:xfrm>
          <a:prstGeom prst="rect">
            <a:avLst/>
          </a:prstGeom>
          <a:noFill/>
        </p:spPr>
        <p:txBody>
          <a:bodyPr wrap="square" lIns="0" rIns="0" tIns="0" bIns="0" anchor="t">
            <a:spAutoFit/>
          </a:bodyPr>
          <a:lstStyle/>
          <a:p>
            <a:pPr algn="ctr"/>
            <a:r>
              <a:rPr sz="2200" b="1">
                <a:solidFill>
                  <a:srgbClr val="DC2626"/>
                </a:solidFill>
                <a:latin typeface="Arial Black"/>
              </a:rPr>
              <a:t>2/5</a:t>
            </a:r>
          </a:p>
        </p:txBody>
      </p:sp>
      <p:sp>
        <p:nvSpPr>
          <p:cNvPr id="26" name="TextBox 25"/>
          <p:cNvSpPr txBox="1"/>
          <p:nvPr/>
        </p:nvSpPr>
        <p:spPr>
          <a:xfrm>
            <a:off x="3291840" y="4983480"/>
            <a:ext cx="1234440" cy="320040"/>
          </a:xfrm>
          <a:prstGeom prst="rect">
            <a:avLst/>
          </a:prstGeom>
          <a:noFill/>
        </p:spPr>
        <p:txBody>
          <a:bodyPr wrap="square" lIns="0" rIns="0" tIns="0" bIns="0" anchor="t">
            <a:spAutoFit/>
          </a:bodyPr>
          <a:lstStyle/>
          <a:p>
            <a:pPr algn="ctr"/>
            <a:r>
              <a:rPr sz="1100" b="1">
                <a:solidFill>
                  <a:srgbClr val="DC2626"/>
                </a:solidFill>
                <a:latin typeface="Calibri"/>
              </a:rPr>
              <a:t>−2.0 SD</a:t>
            </a:r>
          </a:p>
        </p:txBody>
      </p:sp>
      <p:sp>
        <p:nvSpPr>
          <p:cNvPr id="27" name="Rounded Rectangle 26"/>
          <p:cNvSpPr/>
          <p:nvPr/>
        </p:nvSpPr>
        <p:spPr>
          <a:xfrm>
            <a:off x="457200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Stress</a:t>
            </a:r>
          </a:p>
        </p:txBody>
      </p:sp>
      <p:sp>
        <p:nvSpPr>
          <p:cNvPr id="29" name="TextBox 28"/>
          <p:cNvSpPr txBox="1"/>
          <p:nvPr/>
        </p:nvSpPr>
        <p:spPr>
          <a:xfrm>
            <a:off x="4572000" y="4480560"/>
            <a:ext cx="1234440" cy="457200"/>
          </a:xfrm>
          <a:prstGeom prst="rect">
            <a:avLst/>
          </a:prstGeom>
          <a:noFill/>
        </p:spPr>
        <p:txBody>
          <a:bodyPr wrap="square" lIns="0" rIns="0" tIns="0" bIns="0" anchor="t">
            <a:spAutoFit/>
          </a:bodyPr>
          <a:lstStyle/>
          <a:p>
            <a:pPr algn="ctr"/>
            <a:r>
              <a:rPr sz="2200" b="1">
                <a:solidFill>
                  <a:srgbClr val="DC2626"/>
                </a:solidFill>
                <a:latin typeface="Arial Black"/>
              </a:rPr>
              <a:t>3/5</a:t>
            </a:r>
          </a:p>
        </p:txBody>
      </p:sp>
      <p:sp>
        <p:nvSpPr>
          <p:cNvPr id="30" name="TextBox 29"/>
          <p:cNvSpPr txBox="1"/>
          <p:nvPr/>
        </p:nvSpPr>
        <p:spPr>
          <a:xfrm>
            <a:off x="4572000" y="4983480"/>
            <a:ext cx="1234440" cy="320040"/>
          </a:xfrm>
          <a:prstGeom prst="rect">
            <a:avLst/>
          </a:prstGeom>
          <a:noFill/>
        </p:spPr>
        <p:txBody>
          <a:bodyPr wrap="square" lIns="0" rIns="0" tIns="0" bIns="0" anchor="t">
            <a:spAutoFit/>
          </a:bodyPr>
          <a:lstStyle/>
          <a:p>
            <a:pPr algn="ctr"/>
            <a:r>
              <a:rPr sz="1100" b="1">
                <a:solidFill>
                  <a:srgbClr val="DC2626"/>
                </a:solidFill>
                <a:latin typeface="Calibri"/>
              </a:rPr>
              <a:t>−2.3 SD</a:t>
            </a:r>
          </a:p>
        </p:txBody>
      </p:sp>
      <p:sp>
        <p:nvSpPr>
          <p:cNvPr id="31" name="Rounded Rectangle 30"/>
          <p:cNvSpPr/>
          <p:nvPr/>
        </p:nvSpPr>
        <p:spPr>
          <a:xfrm>
            <a:off x="585216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Soreness</a:t>
            </a:r>
          </a:p>
        </p:txBody>
      </p:sp>
      <p:sp>
        <p:nvSpPr>
          <p:cNvPr id="33" name="TextBox 32"/>
          <p:cNvSpPr txBox="1"/>
          <p:nvPr/>
        </p:nvSpPr>
        <p:spPr>
          <a:xfrm>
            <a:off x="5852160" y="4480560"/>
            <a:ext cx="1234440" cy="457200"/>
          </a:xfrm>
          <a:prstGeom prst="rect">
            <a:avLst/>
          </a:prstGeom>
          <a:noFill/>
        </p:spPr>
        <p:txBody>
          <a:bodyPr wrap="square" lIns="0" rIns="0" tIns="0" bIns="0" anchor="t">
            <a:spAutoFit/>
          </a:bodyPr>
          <a:lstStyle/>
          <a:p>
            <a:pPr algn="ctr"/>
            <a:r>
              <a:rPr sz="2200" b="1">
                <a:solidFill>
                  <a:srgbClr val="DC2626"/>
                </a:solidFill>
                <a:latin typeface="Arial Black"/>
              </a:rPr>
              <a:t>3/5</a:t>
            </a:r>
          </a:p>
        </p:txBody>
      </p:sp>
      <p:sp>
        <p:nvSpPr>
          <p:cNvPr id="34" name="TextBox 33"/>
          <p:cNvSpPr txBox="1"/>
          <p:nvPr/>
        </p:nvSpPr>
        <p:spPr>
          <a:xfrm>
            <a:off x="5852160" y="4983480"/>
            <a:ext cx="1234440" cy="320040"/>
          </a:xfrm>
          <a:prstGeom prst="rect">
            <a:avLst/>
          </a:prstGeom>
          <a:noFill/>
        </p:spPr>
        <p:txBody>
          <a:bodyPr wrap="square" lIns="0" rIns="0" tIns="0" bIns="0" anchor="t">
            <a:spAutoFit/>
          </a:bodyPr>
          <a:lstStyle/>
          <a:p>
            <a:pPr algn="ctr"/>
            <a:r>
              <a:rPr sz="1100" b="1">
                <a:solidFill>
                  <a:srgbClr val="DC2626"/>
                </a:solidFill>
                <a:latin typeface="Calibri"/>
              </a:rPr>
              <a:t>−2.3 SD</a:t>
            </a:r>
          </a:p>
        </p:txBody>
      </p:sp>
      <p:sp>
        <p:nvSpPr>
          <p:cNvPr id="35" name="TextBox 34"/>
          <p:cNvSpPr txBox="1"/>
          <p:nvPr/>
        </p:nvSpPr>
        <p:spPr>
          <a:xfrm>
            <a:off x="731520" y="5532120"/>
            <a:ext cx="6400800" cy="365760"/>
          </a:xfrm>
          <a:prstGeom prst="rect">
            <a:avLst/>
          </a:prstGeom>
          <a:noFill/>
        </p:spPr>
        <p:txBody>
          <a:bodyPr wrap="square" lIns="0" rIns="0" tIns="0" bIns="0" anchor="t">
            <a:spAutoFit/>
          </a:bodyPr>
          <a:lstStyle/>
          <a:p>
            <a:pPr algn="l"/>
            <a:r>
              <a:rPr sz="1200" b="0">
                <a:solidFill>
                  <a:srgbClr val="64748B"/>
                </a:solidFill>
                <a:latin typeface="Calibri"/>
              </a:rPr>
              <a:t>Total: 13/25  ·  Composite Load: 1.6  ·  ACWR: 1.4</a:t>
            </a:r>
          </a:p>
        </p:txBody>
      </p:sp>
      <p:sp>
        <p:nvSpPr>
          <p:cNvPr id="36" name="Rounded Rectangle 35"/>
          <p:cNvSpPr/>
          <p:nvPr/>
        </p:nvSpPr>
        <p:spPr>
          <a:xfrm>
            <a:off x="7680960" y="1828800"/>
            <a:ext cx="4206240" cy="4206240"/>
          </a:xfrm>
          <a:prstGeom prst="roundRect">
            <a:avLst>
              <a:gd name="adj" fmla="val 6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55280" y="2057400"/>
            <a:ext cx="3657600" cy="365760"/>
          </a:xfrm>
          <a:prstGeom prst="rect">
            <a:avLst/>
          </a:prstGeom>
          <a:noFill/>
        </p:spPr>
        <p:txBody>
          <a:bodyPr wrap="square" lIns="0" rIns="0" tIns="0" bIns="0" anchor="t">
            <a:spAutoFit/>
          </a:bodyPr>
          <a:lstStyle/>
          <a:p>
            <a:pPr algn="l"/>
            <a:r>
              <a:rPr sz="1000" b="1">
                <a:solidFill>
                  <a:srgbClr val="FFFFFF"/>
                </a:solidFill>
                <a:latin typeface="Calibri"/>
              </a:rPr>
              <a:t>DOMINANT SIGNAL</a:t>
            </a:r>
          </a:p>
        </p:txBody>
      </p:sp>
      <p:sp>
        <p:nvSpPr>
          <p:cNvPr id="38" name="TextBox 37"/>
          <p:cNvSpPr txBox="1"/>
          <p:nvPr/>
        </p:nvSpPr>
        <p:spPr>
          <a:xfrm>
            <a:off x="7955280" y="2377440"/>
            <a:ext cx="3657600" cy="640080"/>
          </a:xfrm>
          <a:prstGeom prst="rect">
            <a:avLst/>
          </a:prstGeom>
          <a:noFill/>
        </p:spPr>
        <p:txBody>
          <a:bodyPr wrap="square" lIns="0" rIns="0" tIns="0" bIns="0" anchor="t">
            <a:spAutoFit/>
          </a:bodyPr>
          <a:lstStyle/>
          <a:p>
            <a:pPr algn="l"/>
            <a:r>
              <a:rPr sz="1500" b="1">
                <a:solidFill>
                  <a:srgbClr val="FFFFFF"/>
                </a:solidFill>
                <a:latin typeface="Calibri"/>
              </a:rPr>
              <a:t>4 metrics simultaneously below band.</a:t>
            </a:r>
          </a:p>
        </p:txBody>
      </p:sp>
      <p:sp>
        <p:nvSpPr>
          <p:cNvPr id="39" name="TextBox 38"/>
          <p:cNvSpPr txBox="1"/>
          <p:nvPr/>
        </p:nvSpPr>
        <p:spPr>
          <a:xfrm>
            <a:off x="7955280" y="3337560"/>
            <a:ext cx="3657600" cy="2743200"/>
          </a:xfrm>
          <a:prstGeom prst="rect">
            <a:avLst/>
          </a:prstGeom>
          <a:noFill/>
        </p:spPr>
        <p:txBody>
          <a:bodyPr wrap="square" lIns="0" rIns="0" tIns="0" bIns="0">
            <a:spAutoFit/>
          </a:bodyPr>
          <a:lstStyle/>
          <a:p>
            <a:pPr algn="l">
              <a:lnSpc>
                <a:spcPct val="130000"/>
              </a:lnSpc>
            </a:pPr>
            <a:r>
              <a:rPr sz="1300" b="0">
                <a:solidFill>
                  <a:srgbClr val="FFFFFF"/>
                </a:solidFill>
                <a:latin typeface="Calibri"/>
              </a:rPr>
              <a:t>Fatigue is deepest (−4.3 SD).</a:t>
            </a:r>
          </a:p>
          <a:p>
            <a:pPr algn="l">
              <a:lnSpc>
                <a:spcPct val="130000"/>
              </a:lnSpc>
            </a:pPr>
            <a:r>
              <a:rPr sz="1300" b="0">
                <a:solidFill>
                  <a:srgbClr val="FFFFFF"/>
                </a:solidFill>
                <a:latin typeface="Calibri"/>
              </a:rPr>
              <a:t>Sleep duration, stress, soreness all</a:t>
            </a:r>
          </a:p>
          <a:p>
            <a:pPr algn="l">
              <a:lnSpc>
                <a:spcPct val="130000"/>
              </a:lnSpc>
            </a:pPr>
            <a:r>
              <a:rPr sz="1300" b="0">
                <a:solidFill>
                  <a:srgbClr val="FFFFFF"/>
                </a:solidFill>
                <a:latin typeface="Calibri"/>
              </a:rPr>
              <a:t>≥ 2 SD below his personal baseline.</a:t>
            </a:r>
          </a:p>
          <a:p>
            <a:pPr algn="l">
              <a:lnSpc>
                <a:spcPct val="130000"/>
              </a:lnSpc>
            </a:pPr>
            <a:r>
              <a:rPr sz="1300" b="0">
                <a:solidFill>
                  <a:srgbClr val="FFFFFF"/>
                </a:solidFill>
                <a:latin typeface="Calibri"/>
              </a:rPr>
              <a:t/>
            </a:r>
          </a:p>
          <a:p>
            <a:pPr algn="l">
              <a:lnSpc>
                <a:spcPct val="130000"/>
              </a:lnSpc>
            </a:pPr>
            <a:r>
              <a:rPr sz="1300" b="0">
                <a:solidFill>
                  <a:srgbClr val="FFFFFF"/>
                </a:solidFill>
                <a:latin typeface="Calibri"/>
              </a:rPr>
              <a:t>Pattern matches general illness or</a:t>
            </a:r>
          </a:p>
          <a:p>
            <a:pPr algn="l">
              <a:lnSpc>
                <a:spcPct val="130000"/>
              </a:lnSpc>
            </a:pPr>
            <a:r>
              <a:rPr sz="1300" b="0">
                <a:solidFill>
                  <a:srgbClr val="FFFFFF"/>
                </a:solidFill>
                <a:latin typeface="Calibri"/>
              </a:rPr>
              <a:t>severe under-recovery — not a single</a:t>
            </a:r>
          </a:p>
          <a:p>
            <a:pPr algn="l">
              <a:lnSpc>
                <a:spcPct val="130000"/>
              </a:lnSpc>
            </a:pPr>
            <a:r>
              <a:rPr sz="1300" b="0">
                <a:solidFill>
                  <a:srgbClr val="FFFFFF"/>
                </a:solidFill>
                <a:latin typeface="Calibri"/>
              </a:rPr>
              <a:t>isolated issue.</a:t>
            </a:r>
          </a:p>
        </p:txBody>
      </p:sp>
      <p:sp>
        <p:nvSpPr>
          <p:cNvPr id="40" name="TextBox 39"/>
          <p:cNvSpPr txBox="1"/>
          <p:nvPr/>
        </p:nvSpPr>
        <p:spPr>
          <a:xfrm>
            <a:off x="7955280" y="5349240"/>
            <a:ext cx="3657600" cy="548640"/>
          </a:xfrm>
          <a:prstGeom prst="rect">
            <a:avLst/>
          </a:prstGeom>
          <a:noFill/>
        </p:spPr>
        <p:txBody>
          <a:bodyPr wrap="square" lIns="0" rIns="0" tIns="0" bIns="0" anchor="t">
            <a:spAutoFit/>
          </a:bodyPr>
          <a:lstStyle/>
          <a:p>
            <a:pPr algn="l"/>
            <a:r>
              <a:rPr sz="2000" b="1">
                <a:solidFill>
                  <a:srgbClr val="FFFFFF"/>
                </a:solidFill>
                <a:latin typeface="Arial Black"/>
              </a:rPr>
              <a:t>RECOVERY DAY</a:t>
            </a:r>
          </a:p>
        </p:txBody>
      </p:sp>
      <p:sp>
        <p:nvSpPr>
          <p:cNvPr id="41" name="TextBox 40"/>
          <p:cNvSpPr txBox="1"/>
          <p:nvPr/>
        </p:nvSpPr>
        <p:spPr>
          <a:xfrm>
            <a:off x="11247120" y="6446520"/>
            <a:ext cx="914400" cy="274320"/>
          </a:xfrm>
          <a:prstGeom prst="rect">
            <a:avLst/>
          </a:prstGeom>
          <a:noFill/>
        </p:spPr>
        <p:txBody>
          <a:bodyPr wrap="square" lIns="0" rIns="0" tIns="0" bIns="0" anchor="t">
            <a:spAutoFit/>
          </a:bodyPr>
          <a:lstStyle/>
          <a:p>
            <a:pPr algn="r"/>
            <a:r>
              <a:rPr sz="900" b="0">
                <a:solidFill>
                  <a:srgbClr val="64748B"/>
                </a:solidFill>
                <a:latin typeface="Calibri"/>
              </a:rPr>
              <a:t>05 / 14</a:t>
            </a:r>
          </a:p>
        </p:txBody>
      </p:sp>
      <p:sp>
        <p:nvSpPr>
          <p:cNvPr id="42" name="TextBox 41"/>
          <p:cNvSpPr txBox="1"/>
          <p:nvPr/>
        </p:nvSpPr>
        <p:spPr>
          <a:xfrm>
            <a:off x="365760" y="6446520"/>
            <a:ext cx="54864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828800" cy="274320"/>
          </a:xfrm>
          <a:prstGeom prst="rect">
            <a:avLst/>
          </a:prstGeom>
          <a:noFill/>
        </p:spPr>
        <p:txBody>
          <a:bodyPr wrap="square" lIns="0" rIns="0" tIns="0" bIns="0" anchor="t">
            <a:spAutoFit/>
          </a:bodyPr>
          <a:lstStyle/>
          <a:p>
            <a:pPr algn="l"/>
            <a:r>
              <a:rPr sz="1000" b="1">
                <a:solidFill>
                  <a:srgbClr val="29B7E6"/>
                </a:solidFill>
                <a:latin typeface="Calibri"/>
              </a:rPr>
              <a:t>MICROPULSE  ·  COACH</a:t>
            </a:r>
          </a:p>
        </p:txBody>
      </p:sp>
      <p:sp>
        <p:nvSpPr>
          <p:cNvPr id="5" name="TextBox 4"/>
          <p:cNvSpPr txBox="1"/>
          <p:nvPr/>
        </p:nvSpPr>
        <p:spPr>
          <a:xfrm>
            <a:off x="2468880" y="91440"/>
            <a:ext cx="6400800" cy="274320"/>
          </a:xfrm>
          <a:prstGeom prst="rect">
            <a:avLst/>
          </a:prstGeom>
          <a:noFill/>
        </p:spPr>
        <p:txBody>
          <a:bodyPr wrap="square" lIns="0" rIns="0" tIns="0" bIns="0" anchor="t">
            <a:spAutoFit/>
          </a:bodyPr>
          <a:lstStyle/>
          <a:p>
            <a:pPr algn="l"/>
            <a:r>
              <a:rPr sz="1000" b="0">
                <a:solidFill>
                  <a:srgbClr val="FFFFFF"/>
                </a:solidFill>
                <a:latin typeface="Calibri"/>
              </a:rPr>
              <a:t>/coach/players/viktor-karl  ·  Apr 22</a:t>
            </a:r>
          </a:p>
        </p:txBody>
      </p:sp>
      <p:sp>
        <p:nvSpPr>
          <p:cNvPr id="6" name="TextBox 5"/>
          <p:cNvSpPr txBox="1"/>
          <p:nvPr/>
        </p:nvSpPr>
        <p:spPr>
          <a:xfrm>
            <a:off x="10515600" y="91440"/>
            <a:ext cx="1371600" cy="274320"/>
          </a:xfrm>
          <a:prstGeom prst="rect">
            <a:avLst/>
          </a:prstGeom>
          <a:noFill/>
        </p:spPr>
        <p:txBody>
          <a:bodyPr wrap="square" lIns="0" rIns="0" tIns="0" bIns="0" anchor="t">
            <a:spAutoFit/>
          </a:bodyPr>
          <a:lstStyle/>
          <a:p>
            <a:pPr algn="r"/>
            <a:r>
              <a:rPr sz="1000" b="0">
                <a:solidFill>
                  <a:srgbClr val="29B7E6"/>
                </a:solidFill>
                <a:latin typeface="Calibri"/>
              </a:rPr>
              <a:t>06:37</a:t>
            </a:r>
          </a:p>
        </p:txBody>
      </p:sp>
      <p:sp>
        <p:nvSpPr>
          <p:cNvPr id="7" name="TextBox 6"/>
          <p:cNvSpPr txBox="1"/>
          <p:nvPr/>
        </p:nvSpPr>
        <p:spPr>
          <a:xfrm>
            <a:off x="365760" y="594360"/>
            <a:ext cx="7315200" cy="274320"/>
          </a:xfrm>
          <a:prstGeom prst="rect">
            <a:avLst/>
          </a:prstGeom>
          <a:noFill/>
        </p:spPr>
        <p:txBody>
          <a:bodyPr wrap="square" lIns="0" rIns="0" tIns="0" bIns="0" anchor="t">
            <a:spAutoFit/>
          </a:bodyPr>
          <a:lstStyle/>
          <a:p>
            <a:pPr algn="l"/>
            <a:r>
              <a:rPr sz="1100" b="1">
                <a:solidFill>
                  <a:srgbClr val="005A2B"/>
                </a:solidFill>
                <a:latin typeface="Calibri"/>
              </a:rPr>
              <a:t>06:37  ·  PLAYER DRILL-DOWN</a:t>
            </a:r>
          </a:p>
        </p:txBody>
      </p:sp>
      <p:sp>
        <p:nvSpPr>
          <p:cNvPr id="8" name="TextBox 7"/>
          <p:cNvSpPr txBox="1"/>
          <p:nvPr/>
        </p:nvSpPr>
        <p:spPr>
          <a:xfrm>
            <a:off x="365760" y="868680"/>
            <a:ext cx="11430000" cy="640080"/>
          </a:xfrm>
          <a:prstGeom prst="rect">
            <a:avLst/>
          </a:prstGeom>
          <a:noFill/>
        </p:spPr>
        <p:txBody>
          <a:bodyPr wrap="square" lIns="0" rIns="0" tIns="0" bIns="0" anchor="t">
            <a:spAutoFit/>
          </a:bodyPr>
          <a:lstStyle/>
          <a:p>
            <a:pPr algn="l"/>
            <a:r>
              <a:rPr sz="2800" b="1">
                <a:solidFill>
                  <a:srgbClr val="1E293B"/>
                </a:solidFill>
                <a:latin typeface="Calibri"/>
              </a:rPr>
              <a:t>Viktor Karl — RED. One single metric tells the story.</a:t>
            </a:r>
          </a:p>
        </p:txBody>
      </p:sp>
      <p:sp>
        <p:nvSpPr>
          <p:cNvPr id="9" name="Rounded Rectangle 8"/>
          <p:cNvSpPr/>
          <p:nvPr/>
        </p:nvSpPr>
        <p:spPr>
          <a:xfrm>
            <a:off x="457200" y="1828800"/>
            <a:ext cx="6858000" cy="420624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57400"/>
            <a:ext cx="6400800" cy="274320"/>
          </a:xfrm>
          <a:prstGeom prst="rect">
            <a:avLst/>
          </a:prstGeom>
          <a:noFill/>
        </p:spPr>
        <p:txBody>
          <a:bodyPr wrap="square" lIns="0" rIns="0" tIns="0" bIns="0" anchor="t">
            <a:spAutoFit/>
          </a:bodyPr>
          <a:lstStyle/>
          <a:p>
            <a:pPr algn="l"/>
            <a:r>
              <a:rPr sz="1000" b="1">
                <a:solidFill>
                  <a:srgbClr val="64748B"/>
                </a:solidFill>
                <a:latin typeface="Calibri"/>
              </a:rPr>
              <a:t>FORWARD  ·  19 years  ·  PERSONAL BASELINE: ACTIVE (n=16)</a:t>
            </a:r>
          </a:p>
        </p:txBody>
      </p:sp>
      <p:sp>
        <p:nvSpPr>
          <p:cNvPr id="11" name="TextBox 10"/>
          <p:cNvSpPr txBox="1"/>
          <p:nvPr/>
        </p:nvSpPr>
        <p:spPr>
          <a:xfrm>
            <a:off x="731520" y="2331720"/>
            <a:ext cx="6400800" cy="548640"/>
          </a:xfrm>
          <a:prstGeom prst="rect">
            <a:avLst/>
          </a:prstGeom>
          <a:noFill/>
        </p:spPr>
        <p:txBody>
          <a:bodyPr wrap="square" lIns="0" rIns="0" tIns="0" bIns="0" anchor="t">
            <a:spAutoFit/>
          </a:bodyPr>
          <a:lstStyle/>
          <a:p>
            <a:pPr algn="l"/>
            <a:r>
              <a:rPr sz="2400" b="1">
                <a:solidFill>
                  <a:srgbClr val="1E293B"/>
                </a:solidFill>
                <a:latin typeface="Calibri"/>
              </a:rPr>
              <a:t>Viktor Karl Einarsson</a:t>
            </a:r>
          </a:p>
        </p:txBody>
      </p:sp>
      <p:sp>
        <p:nvSpPr>
          <p:cNvPr id="12" name="Rounded Rectangle 11"/>
          <p:cNvSpPr/>
          <p:nvPr/>
        </p:nvSpPr>
        <p:spPr>
          <a:xfrm>
            <a:off x="731520" y="3108960"/>
            <a:ext cx="1828800" cy="457200"/>
          </a:xfrm>
          <a:prstGeom prst="roundRect">
            <a:avLst>
              <a:gd name="adj" fmla="val 30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200400"/>
            <a:ext cx="1828800" cy="274320"/>
          </a:xfrm>
          <a:prstGeom prst="rect">
            <a:avLst/>
          </a:prstGeom>
          <a:noFill/>
        </p:spPr>
        <p:txBody>
          <a:bodyPr wrap="square" lIns="0" rIns="0" tIns="0" bIns="0" anchor="t">
            <a:spAutoFit/>
          </a:bodyPr>
          <a:lstStyle/>
          <a:p>
            <a:pPr algn="ctr"/>
            <a:r>
              <a:rPr sz="1000" b="1">
                <a:solidFill>
                  <a:srgbClr val="FFFFFF"/>
                </a:solidFill>
                <a:latin typeface="Calibri"/>
              </a:rPr>
              <a:t>RED</a:t>
            </a:r>
          </a:p>
        </p:txBody>
      </p:sp>
      <p:sp>
        <p:nvSpPr>
          <p:cNvPr id="14" name="TextBox 13"/>
          <p:cNvSpPr txBox="1"/>
          <p:nvPr/>
        </p:nvSpPr>
        <p:spPr>
          <a:xfrm>
            <a:off x="2743200" y="3200400"/>
            <a:ext cx="4114800" cy="365760"/>
          </a:xfrm>
          <a:prstGeom prst="rect">
            <a:avLst/>
          </a:prstGeom>
          <a:noFill/>
        </p:spPr>
        <p:txBody>
          <a:bodyPr wrap="square" lIns="0" rIns="0" tIns="0" bIns="0" anchor="t">
            <a:spAutoFit/>
          </a:bodyPr>
          <a:lstStyle/>
          <a:p>
            <a:pPr algn="l"/>
            <a:r>
              <a:rPr sz="1500" b="1">
                <a:solidFill>
                  <a:srgbClr val="1E293B"/>
                </a:solidFill>
                <a:latin typeface="Calibri"/>
              </a:rPr>
              <a:t>Recovery day  ·  Soreness focus</a:t>
            </a:r>
          </a:p>
        </p:txBody>
      </p:sp>
      <p:sp>
        <p:nvSpPr>
          <p:cNvPr id="15" name="Rounded Rectangle 14"/>
          <p:cNvSpPr/>
          <p:nvPr/>
        </p:nvSpPr>
        <p:spPr>
          <a:xfrm>
            <a:off x="73152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Fatigue</a:t>
            </a:r>
          </a:p>
        </p:txBody>
      </p:sp>
      <p:sp>
        <p:nvSpPr>
          <p:cNvPr id="17" name="TextBox 16"/>
          <p:cNvSpPr txBox="1"/>
          <p:nvPr/>
        </p:nvSpPr>
        <p:spPr>
          <a:xfrm>
            <a:off x="731520" y="4480560"/>
            <a:ext cx="1234440" cy="457200"/>
          </a:xfrm>
          <a:prstGeom prst="rect">
            <a:avLst/>
          </a:prstGeom>
          <a:noFill/>
        </p:spPr>
        <p:txBody>
          <a:bodyPr wrap="square" lIns="0" rIns="0" tIns="0" bIns="0" anchor="t">
            <a:spAutoFit/>
          </a:bodyPr>
          <a:lstStyle/>
          <a:p>
            <a:pPr algn="ctr"/>
            <a:r>
              <a:rPr sz="2200" b="1">
                <a:solidFill>
                  <a:srgbClr val="DC2626"/>
                </a:solidFill>
                <a:latin typeface="Arial Black"/>
              </a:rPr>
              <a:t>2/5</a:t>
            </a:r>
          </a:p>
        </p:txBody>
      </p:sp>
      <p:sp>
        <p:nvSpPr>
          <p:cNvPr id="18" name="TextBox 17"/>
          <p:cNvSpPr txBox="1"/>
          <p:nvPr/>
        </p:nvSpPr>
        <p:spPr>
          <a:xfrm>
            <a:off x="731520" y="4983480"/>
            <a:ext cx="1234440" cy="320040"/>
          </a:xfrm>
          <a:prstGeom prst="rect">
            <a:avLst/>
          </a:prstGeom>
          <a:noFill/>
        </p:spPr>
        <p:txBody>
          <a:bodyPr wrap="square" lIns="0" rIns="0" tIns="0" bIns="0" anchor="t">
            <a:spAutoFit/>
          </a:bodyPr>
          <a:lstStyle/>
          <a:p>
            <a:pPr algn="ctr"/>
            <a:r>
              <a:rPr sz="1100" b="1">
                <a:solidFill>
                  <a:srgbClr val="DC2626"/>
                </a:solidFill>
                <a:latin typeface="Calibri"/>
              </a:rPr>
              <a:t>−2.7 SD</a:t>
            </a:r>
          </a:p>
        </p:txBody>
      </p:sp>
      <p:sp>
        <p:nvSpPr>
          <p:cNvPr id="19" name="Rounded Rectangle 18"/>
          <p:cNvSpPr/>
          <p:nvPr/>
        </p:nvSpPr>
        <p:spPr>
          <a:xfrm>
            <a:off x="201168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1168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Sleep Q</a:t>
            </a:r>
          </a:p>
        </p:txBody>
      </p:sp>
      <p:sp>
        <p:nvSpPr>
          <p:cNvPr id="21" name="TextBox 20"/>
          <p:cNvSpPr txBox="1"/>
          <p:nvPr/>
        </p:nvSpPr>
        <p:spPr>
          <a:xfrm>
            <a:off x="2011680" y="4480560"/>
            <a:ext cx="1234440" cy="457200"/>
          </a:xfrm>
          <a:prstGeom prst="rect">
            <a:avLst/>
          </a:prstGeom>
          <a:noFill/>
        </p:spPr>
        <p:txBody>
          <a:bodyPr wrap="square" lIns="0" rIns="0" tIns="0" bIns="0" anchor="t">
            <a:spAutoFit/>
          </a:bodyPr>
          <a:lstStyle/>
          <a:p>
            <a:pPr algn="ctr"/>
            <a:r>
              <a:rPr sz="2200" b="1">
                <a:solidFill>
                  <a:srgbClr val="16A34A"/>
                </a:solidFill>
                <a:latin typeface="Arial Black"/>
              </a:rPr>
              <a:t>4/5</a:t>
            </a:r>
          </a:p>
        </p:txBody>
      </p:sp>
      <p:sp>
        <p:nvSpPr>
          <p:cNvPr id="22" name="TextBox 21"/>
          <p:cNvSpPr txBox="1"/>
          <p:nvPr/>
        </p:nvSpPr>
        <p:spPr>
          <a:xfrm>
            <a:off x="2011680" y="4983480"/>
            <a:ext cx="1234440" cy="320040"/>
          </a:xfrm>
          <a:prstGeom prst="rect">
            <a:avLst/>
          </a:prstGeom>
          <a:noFill/>
        </p:spPr>
        <p:txBody>
          <a:bodyPr wrap="square" lIns="0" rIns="0" tIns="0" bIns="0" anchor="t">
            <a:spAutoFit/>
          </a:bodyPr>
          <a:lstStyle/>
          <a:p>
            <a:pPr algn="ctr"/>
            <a:r>
              <a:rPr sz="1100" b="1">
                <a:solidFill>
                  <a:srgbClr val="16A34A"/>
                </a:solidFill>
                <a:latin typeface="Calibri"/>
              </a:rPr>
              <a:t>−0.3 SD</a:t>
            </a:r>
          </a:p>
        </p:txBody>
      </p:sp>
      <p:sp>
        <p:nvSpPr>
          <p:cNvPr id="23" name="Rounded Rectangle 22"/>
          <p:cNvSpPr/>
          <p:nvPr/>
        </p:nvSpPr>
        <p:spPr>
          <a:xfrm>
            <a:off x="329184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9184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Sleep dur</a:t>
            </a:r>
          </a:p>
        </p:txBody>
      </p:sp>
      <p:sp>
        <p:nvSpPr>
          <p:cNvPr id="25" name="TextBox 24"/>
          <p:cNvSpPr txBox="1"/>
          <p:nvPr/>
        </p:nvSpPr>
        <p:spPr>
          <a:xfrm>
            <a:off x="3291840" y="4480560"/>
            <a:ext cx="1234440" cy="457200"/>
          </a:xfrm>
          <a:prstGeom prst="rect">
            <a:avLst/>
          </a:prstGeom>
          <a:noFill/>
        </p:spPr>
        <p:txBody>
          <a:bodyPr wrap="square" lIns="0" rIns="0" tIns="0" bIns="0" anchor="t">
            <a:spAutoFit/>
          </a:bodyPr>
          <a:lstStyle/>
          <a:p>
            <a:pPr algn="ctr"/>
            <a:r>
              <a:rPr sz="2200" b="1">
                <a:solidFill>
                  <a:srgbClr val="F59E0B"/>
                </a:solidFill>
                <a:latin typeface="Arial Black"/>
              </a:rPr>
              <a:t>3/5</a:t>
            </a:r>
          </a:p>
        </p:txBody>
      </p:sp>
      <p:sp>
        <p:nvSpPr>
          <p:cNvPr id="26" name="TextBox 25"/>
          <p:cNvSpPr txBox="1"/>
          <p:nvPr/>
        </p:nvSpPr>
        <p:spPr>
          <a:xfrm>
            <a:off x="3291840" y="4983480"/>
            <a:ext cx="1234440" cy="320040"/>
          </a:xfrm>
          <a:prstGeom prst="rect">
            <a:avLst/>
          </a:prstGeom>
          <a:noFill/>
        </p:spPr>
        <p:txBody>
          <a:bodyPr wrap="square" lIns="0" rIns="0" tIns="0" bIns="0" anchor="t">
            <a:spAutoFit/>
          </a:bodyPr>
          <a:lstStyle/>
          <a:p>
            <a:pPr algn="ctr"/>
            <a:r>
              <a:rPr sz="1100" b="1">
                <a:solidFill>
                  <a:srgbClr val="F59E0B"/>
                </a:solidFill>
                <a:latin typeface="Calibri"/>
              </a:rPr>
              <a:t>−1.3 SD</a:t>
            </a:r>
          </a:p>
        </p:txBody>
      </p:sp>
      <p:sp>
        <p:nvSpPr>
          <p:cNvPr id="27" name="Rounded Rectangle 26"/>
          <p:cNvSpPr/>
          <p:nvPr/>
        </p:nvSpPr>
        <p:spPr>
          <a:xfrm>
            <a:off x="457200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Stress</a:t>
            </a:r>
          </a:p>
        </p:txBody>
      </p:sp>
      <p:sp>
        <p:nvSpPr>
          <p:cNvPr id="29" name="TextBox 28"/>
          <p:cNvSpPr txBox="1"/>
          <p:nvPr/>
        </p:nvSpPr>
        <p:spPr>
          <a:xfrm>
            <a:off x="4572000" y="4480560"/>
            <a:ext cx="1234440" cy="457200"/>
          </a:xfrm>
          <a:prstGeom prst="rect">
            <a:avLst/>
          </a:prstGeom>
          <a:noFill/>
        </p:spPr>
        <p:txBody>
          <a:bodyPr wrap="square" lIns="0" rIns="0" tIns="0" bIns="0" anchor="t">
            <a:spAutoFit/>
          </a:bodyPr>
          <a:lstStyle/>
          <a:p>
            <a:pPr algn="ctr"/>
            <a:r>
              <a:rPr sz="2200" b="1">
                <a:solidFill>
                  <a:srgbClr val="16A34A"/>
                </a:solidFill>
                <a:latin typeface="Arial Black"/>
              </a:rPr>
              <a:t>4/5</a:t>
            </a:r>
          </a:p>
        </p:txBody>
      </p:sp>
      <p:sp>
        <p:nvSpPr>
          <p:cNvPr id="30" name="TextBox 29"/>
          <p:cNvSpPr txBox="1"/>
          <p:nvPr/>
        </p:nvSpPr>
        <p:spPr>
          <a:xfrm>
            <a:off x="4572000" y="4983480"/>
            <a:ext cx="1234440" cy="320040"/>
          </a:xfrm>
          <a:prstGeom prst="rect">
            <a:avLst/>
          </a:prstGeom>
          <a:noFill/>
        </p:spPr>
        <p:txBody>
          <a:bodyPr wrap="square" lIns="0" rIns="0" tIns="0" bIns="0" anchor="t">
            <a:spAutoFit/>
          </a:bodyPr>
          <a:lstStyle/>
          <a:p>
            <a:pPr algn="ctr"/>
            <a:r>
              <a:rPr sz="1100" b="1">
                <a:solidFill>
                  <a:srgbClr val="16A34A"/>
                </a:solidFill>
                <a:latin typeface="Calibri"/>
              </a:rPr>
              <a:t>−0.3 SD</a:t>
            </a:r>
          </a:p>
        </p:txBody>
      </p:sp>
      <p:sp>
        <p:nvSpPr>
          <p:cNvPr id="31" name="Rounded Rectangle 30"/>
          <p:cNvSpPr/>
          <p:nvPr/>
        </p:nvSpPr>
        <p:spPr>
          <a:xfrm>
            <a:off x="585216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Soreness</a:t>
            </a:r>
          </a:p>
        </p:txBody>
      </p:sp>
      <p:sp>
        <p:nvSpPr>
          <p:cNvPr id="33" name="TextBox 32"/>
          <p:cNvSpPr txBox="1"/>
          <p:nvPr/>
        </p:nvSpPr>
        <p:spPr>
          <a:xfrm>
            <a:off x="5852160" y="4480560"/>
            <a:ext cx="1234440" cy="457200"/>
          </a:xfrm>
          <a:prstGeom prst="rect">
            <a:avLst/>
          </a:prstGeom>
          <a:noFill/>
        </p:spPr>
        <p:txBody>
          <a:bodyPr wrap="square" lIns="0" rIns="0" tIns="0" bIns="0" anchor="t">
            <a:spAutoFit/>
          </a:bodyPr>
          <a:lstStyle/>
          <a:p>
            <a:pPr algn="ctr"/>
            <a:r>
              <a:rPr sz="2200" b="1">
                <a:solidFill>
                  <a:srgbClr val="DC2626"/>
                </a:solidFill>
                <a:latin typeface="Arial Black"/>
              </a:rPr>
              <a:t>2/5</a:t>
            </a:r>
          </a:p>
        </p:txBody>
      </p:sp>
      <p:sp>
        <p:nvSpPr>
          <p:cNvPr id="34" name="TextBox 33"/>
          <p:cNvSpPr txBox="1"/>
          <p:nvPr/>
        </p:nvSpPr>
        <p:spPr>
          <a:xfrm>
            <a:off x="5852160" y="4983480"/>
            <a:ext cx="1234440" cy="320040"/>
          </a:xfrm>
          <a:prstGeom prst="rect">
            <a:avLst/>
          </a:prstGeom>
          <a:noFill/>
        </p:spPr>
        <p:txBody>
          <a:bodyPr wrap="square" lIns="0" rIns="0" tIns="0" bIns="0" anchor="t">
            <a:spAutoFit/>
          </a:bodyPr>
          <a:lstStyle/>
          <a:p>
            <a:pPr algn="ctr"/>
            <a:r>
              <a:rPr sz="1100" b="1">
                <a:solidFill>
                  <a:srgbClr val="DC2626"/>
                </a:solidFill>
                <a:latin typeface="Calibri"/>
              </a:rPr>
              <a:t>−3.7 SD</a:t>
            </a:r>
          </a:p>
        </p:txBody>
      </p:sp>
      <p:sp>
        <p:nvSpPr>
          <p:cNvPr id="35" name="TextBox 34"/>
          <p:cNvSpPr txBox="1"/>
          <p:nvPr/>
        </p:nvSpPr>
        <p:spPr>
          <a:xfrm>
            <a:off x="731520" y="5532120"/>
            <a:ext cx="6400800" cy="365760"/>
          </a:xfrm>
          <a:prstGeom prst="rect">
            <a:avLst/>
          </a:prstGeom>
          <a:noFill/>
        </p:spPr>
        <p:txBody>
          <a:bodyPr wrap="square" lIns="0" rIns="0" tIns="0" bIns="0" anchor="t">
            <a:spAutoFit/>
          </a:bodyPr>
          <a:lstStyle/>
          <a:p>
            <a:pPr algn="l"/>
            <a:r>
              <a:rPr sz="1200" b="0">
                <a:solidFill>
                  <a:srgbClr val="64748B"/>
                </a:solidFill>
                <a:latin typeface="Calibri"/>
              </a:rPr>
              <a:t>Total: 15/25  ·  Played 90 min vs Stjarnan two days ago</a:t>
            </a:r>
          </a:p>
        </p:txBody>
      </p:sp>
      <p:sp>
        <p:nvSpPr>
          <p:cNvPr id="36" name="Rounded Rectangle 35"/>
          <p:cNvSpPr/>
          <p:nvPr/>
        </p:nvSpPr>
        <p:spPr>
          <a:xfrm>
            <a:off x="7680960" y="1828800"/>
            <a:ext cx="4206240" cy="4206240"/>
          </a:xfrm>
          <a:prstGeom prst="roundRect">
            <a:avLst>
              <a:gd name="adj" fmla="val 6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55280" y="2057400"/>
            <a:ext cx="3657600" cy="365760"/>
          </a:xfrm>
          <a:prstGeom prst="rect">
            <a:avLst/>
          </a:prstGeom>
          <a:noFill/>
        </p:spPr>
        <p:txBody>
          <a:bodyPr wrap="square" lIns="0" rIns="0" tIns="0" bIns="0" anchor="t">
            <a:spAutoFit/>
          </a:bodyPr>
          <a:lstStyle/>
          <a:p>
            <a:pPr algn="l"/>
            <a:r>
              <a:rPr sz="1000" b="1">
                <a:solidFill>
                  <a:srgbClr val="FFFFFF"/>
                </a:solidFill>
                <a:latin typeface="Calibri"/>
              </a:rPr>
              <a:t>DOMINANT SIGNAL</a:t>
            </a:r>
          </a:p>
        </p:txBody>
      </p:sp>
      <p:sp>
        <p:nvSpPr>
          <p:cNvPr id="38" name="TextBox 37"/>
          <p:cNvSpPr txBox="1"/>
          <p:nvPr/>
        </p:nvSpPr>
        <p:spPr>
          <a:xfrm>
            <a:off x="7955280" y="2377440"/>
            <a:ext cx="3657600" cy="640080"/>
          </a:xfrm>
          <a:prstGeom prst="rect">
            <a:avLst/>
          </a:prstGeom>
          <a:noFill/>
        </p:spPr>
        <p:txBody>
          <a:bodyPr wrap="square" lIns="0" rIns="0" tIns="0" bIns="0" anchor="t">
            <a:spAutoFit/>
          </a:bodyPr>
          <a:lstStyle/>
          <a:p>
            <a:pPr algn="l"/>
            <a:r>
              <a:rPr sz="1500" b="1">
                <a:solidFill>
                  <a:srgbClr val="FFFFFF"/>
                </a:solidFill>
                <a:latin typeface="Calibri"/>
              </a:rPr>
              <a:t>Soreness 3.7 SD below baseline.</a:t>
            </a:r>
          </a:p>
        </p:txBody>
      </p:sp>
      <p:sp>
        <p:nvSpPr>
          <p:cNvPr id="39" name="TextBox 38"/>
          <p:cNvSpPr txBox="1"/>
          <p:nvPr/>
        </p:nvSpPr>
        <p:spPr>
          <a:xfrm>
            <a:off x="7955280" y="3337560"/>
            <a:ext cx="3657600" cy="2743200"/>
          </a:xfrm>
          <a:prstGeom prst="rect">
            <a:avLst/>
          </a:prstGeom>
          <a:noFill/>
        </p:spPr>
        <p:txBody>
          <a:bodyPr wrap="square" lIns="0" rIns="0" tIns="0" bIns="0">
            <a:spAutoFit/>
          </a:bodyPr>
          <a:lstStyle/>
          <a:p>
            <a:pPr algn="l">
              <a:lnSpc>
                <a:spcPct val="130000"/>
              </a:lnSpc>
            </a:pPr>
            <a:r>
              <a:rPr sz="1200" b="0">
                <a:solidFill>
                  <a:srgbClr val="FFFFFF"/>
                </a:solidFill>
                <a:latin typeface="Calibri"/>
              </a:rPr>
              <a:t>All other metrics within band or</a:t>
            </a:r>
          </a:p>
          <a:p>
            <a:pPr algn="l">
              <a:lnSpc>
                <a:spcPct val="130000"/>
              </a:lnSpc>
            </a:pPr>
            <a:r>
              <a:rPr sz="1200" b="0">
                <a:solidFill>
                  <a:srgbClr val="FFFFFF"/>
                </a:solidFill>
                <a:latin typeface="Calibri"/>
              </a:rPr>
              <a:t>only mildly down.</a:t>
            </a:r>
          </a:p>
          <a:p>
            <a:pPr algn="l">
              <a:lnSpc>
                <a:spcPct val="130000"/>
              </a:lnSpc>
            </a:pPr>
            <a:r>
              <a:rPr sz="1200" b="0">
                <a:solidFill>
                  <a:srgbClr val="FFFFFF"/>
                </a:solidFill>
                <a:latin typeface="Calibri"/>
              </a:rPr>
              <a:t/>
            </a:r>
          </a:p>
          <a:p>
            <a:pPr algn="l">
              <a:lnSpc>
                <a:spcPct val="130000"/>
              </a:lnSpc>
            </a:pPr>
            <a:r>
              <a:rPr sz="1200" b="0">
                <a:solidFill>
                  <a:srgbClr val="FFFFFF"/>
                </a:solidFill>
                <a:latin typeface="Calibri"/>
              </a:rPr>
              <a:t>Match-day soreness pattern — DOMS</a:t>
            </a:r>
          </a:p>
          <a:p>
            <a:pPr algn="l">
              <a:lnSpc>
                <a:spcPct val="130000"/>
              </a:lnSpc>
            </a:pPr>
            <a:r>
              <a:rPr sz="1200" b="0">
                <a:solidFill>
                  <a:srgbClr val="FFFFFF"/>
                </a:solidFill>
                <a:latin typeface="Calibri"/>
              </a:rPr>
              <a:t>from the 90 minutes he played</a:t>
            </a:r>
          </a:p>
          <a:p>
            <a:pPr algn="l">
              <a:lnSpc>
                <a:spcPct val="130000"/>
              </a:lnSpc>
            </a:pPr>
            <a:r>
              <a:rPr sz="1200" b="0">
                <a:solidFill>
                  <a:srgbClr val="FFFFFF"/>
                </a:solidFill>
                <a:latin typeface="Calibri"/>
              </a:rPr>
              <a:t>Saturday vs Stjarnan.</a:t>
            </a:r>
          </a:p>
          <a:p>
            <a:pPr algn="l">
              <a:lnSpc>
                <a:spcPct val="130000"/>
              </a:lnSpc>
            </a:pPr>
            <a:r>
              <a:rPr sz="1200" b="0">
                <a:solidFill>
                  <a:srgbClr val="FFFFFF"/>
                </a:solidFill>
                <a:latin typeface="Calibri"/>
              </a:rPr>
              <a:t/>
            </a:r>
          </a:p>
          <a:p>
            <a:pPr algn="l">
              <a:lnSpc>
                <a:spcPct val="130000"/>
              </a:lnSpc>
            </a:pPr>
            <a:r>
              <a:rPr sz="1200" b="0">
                <a:solidFill>
                  <a:srgbClr val="FFFFFF"/>
                </a:solidFill>
                <a:latin typeface="Calibri"/>
              </a:rPr>
              <a:t>Action: recovery focus, no eccentric</a:t>
            </a:r>
          </a:p>
          <a:p>
            <a:pPr algn="l">
              <a:lnSpc>
                <a:spcPct val="130000"/>
              </a:lnSpc>
            </a:pPr>
            <a:r>
              <a:rPr sz="1200" b="0">
                <a:solidFill>
                  <a:srgbClr val="FFFFFF"/>
                </a:solidFill>
                <a:latin typeface="Calibri"/>
              </a:rPr>
              <a:t>loading drills today.</a:t>
            </a:r>
          </a:p>
        </p:txBody>
      </p:sp>
      <p:sp>
        <p:nvSpPr>
          <p:cNvPr id="40" name="TextBox 39"/>
          <p:cNvSpPr txBox="1"/>
          <p:nvPr/>
        </p:nvSpPr>
        <p:spPr>
          <a:xfrm>
            <a:off x="11247120" y="6446520"/>
            <a:ext cx="914400" cy="274320"/>
          </a:xfrm>
          <a:prstGeom prst="rect">
            <a:avLst/>
          </a:prstGeom>
          <a:noFill/>
        </p:spPr>
        <p:txBody>
          <a:bodyPr wrap="square" lIns="0" rIns="0" tIns="0" bIns="0" anchor="t">
            <a:spAutoFit/>
          </a:bodyPr>
          <a:lstStyle/>
          <a:p>
            <a:pPr algn="r"/>
            <a:r>
              <a:rPr sz="900" b="0">
                <a:solidFill>
                  <a:srgbClr val="64748B"/>
                </a:solidFill>
                <a:latin typeface="Calibri"/>
              </a:rPr>
              <a:t>06 / 14</a:t>
            </a:r>
          </a:p>
        </p:txBody>
      </p:sp>
      <p:sp>
        <p:nvSpPr>
          <p:cNvPr id="41" name="TextBox 40"/>
          <p:cNvSpPr txBox="1"/>
          <p:nvPr/>
        </p:nvSpPr>
        <p:spPr>
          <a:xfrm>
            <a:off x="365760" y="6446520"/>
            <a:ext cx="54864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828800" cy="274320"/>
          </a:xfrm>
          <a:prstGeom prst="rect">
            <a:avLst/>
          </a:prstGeom>
          <a:noFill/>
        </p:spPr>
        <p:txBody>
          <a:bodyPr wrap="square" lIns="0" rIns="0" tIns="0" bIns="0" anchor="t">
            <a:spAutoFit/>
          </a:bodyPr>
          <a:lstStyle/>
          <a:p>
            <a:pPr algn="l"/>
            <a:r>
              <a:rPr sz="1000" b="1">
                <a:solidFill>
                  <a:srgbClr val="29B7E6"/>
                </a:solidFill>
                <a:latin typeface="Calibri"/>
              </a:rPr>
              <a:t>MICROPULSE  ·  COACH</a:t>
            </a:r>
          </a:p>
        </p:txBody>
      </p:sp>
      <p:sp>
        <p:nvSpPr>
          <p:cNvPr id="5" name="TextBox 4"/>
          <p:cNvSpPr txBox="1"/>
          <p:nvPr/>
        </p:nvSpPr>
        <p:spPr>
          <a:xfrm>
            <a:off x="2468880" y="91440"/>
            <a:ext cx="6400800" cy="274320"/>
          </a:xfrm>
          <a:prstGeom prst="rect">
            <a:avLst/>
          </a:prstGeom>
          <a:noFill/>
        </p:spPr>
        <p:txBody>
          <a:bodyPr wrap="square" lIns="0" rIns="0" tIns="0" bIns="0" anchor="t">
            <a:spAutoFit/>
          </a:bodyPr>
          <a:lstStyle/>
          <a:p>
            <a:pPr algn="l"/>
            <a:r>
              <a:rPr sz="1000" b="0">
                <a:solidFill>
                  <a:srgbClr val="FFFFFF"/>
                </a:solidFill>
                <a:latin typeface="Calibri"/>
              </a:rPr>
              <a:t>/coach/players/arnor-gauti  ·  Apr 22</a:t>
            </a:r>
          </a:p>
        </p:txBody>
      </p:sp>
      <p:sp>
        <p:nvSpPr>
          <p:cNvPr id="6" name="TextBox 5"/>
          <p:cNvSpPr txBox="1"/>
          <p:nvPr/>
        </p:nvSpPr>
        <p:spPr>
          <a:xfrm>
            <a:off x="10515600" y="91440"/>
            <a:ext cx="1371600" cy="274320"/>
          </a:xfrm>
          <a:prstGeom prst="rect">
            <a:avLst/>
          </a:prstGeom>
          <a:noFill/>
        </p:spPr>
        <p:txBody>
          <a:bodyPr wrap="square" lIns="0" rIns="0" tIns="0" bIns="0" anchor="t">
            <a:spAutoFit/>
          </a:bodyPr>
          <a:lstStyle/>
          <a:p>
            <a:pPr algn="r"/>
            <a:r>
              <a:rPr sz="1000" b="0">
                <a:solidFill>
                  <a:srgbClr val="29B7E6"/>
                </a:solidFill>
                <a:latin typeface="Calibri"/>
              </a:rPr>
              <a:t>06:39</a:t>
            </a:r>
          </a:p>
        </p:txBody>
      </p:sp>
      <p:sp>
        <p:nvSpPr>
          <p:cNvPr id="7" name="TextBox 6"/>
          <p:cNvSpPr txBox="1"/>
          <p:nvPr/>
        </p:nvSpPr>
        <p:spPr>
          <a:xfrm>
            <a:off x="365760" y="594360"/>
            <a:ext cx="7315200" cy="274320"/>
          </a:xfrm>
          <a:prstGeom prst="rect">
            <a:avLst/>
          </a:prstGeom>
          <a:noFill/>
        </p:spPr>
        <p:txBody>
          <a:bodyPr wrap="square" lIns="0" rIns="0" tIns="0" bIns="0" anchor="t">
            <a:spAutoFit/>
          </a:bodyPr>
          <a:lstStyle/>
          <a:p>
            <a:pPr algn="l"/>
            <a:r>
              <a:rPr sz="1100" b="1">
                <a:solidFill>
                  <a:srgbClr val="005A2B"/>
                </a:solidFill>
                <a:latin typeface="Calibri"/>
              </a:rPr>
              <a:t>06:39  ·  PLAYER DRILL-DOWN</a:t>
            </a:r>
          </a:p>
        </p:txBody>
      </p:sp>
      <p:sp>
        <p:nvSpPr>
          <p:cNvPr id="8" name="TextBox 7"/>
          <p:cNvSpPr txBox="1"/>
          <p:nvPr/>
        </p:nvSpPr>
        <p:spPr>
          <a:xfrm>
            <a:off x="365760" y="868680"/>
            <a:ext cx="11430000" cy="640080"/>
          </a:xfrm>
          <a:prstGeom prst="rect">
            <a:avLst/>
          </a:prstGeom>
          <a:noFill/>
        </p:spPr>
        <p:txBody>
          <a:bodyPr wrap="square" lIns="0" rIns="0" tIns="0" bIns="0" anchor="t">
            <a:spAutoFit/>
          </a:bodyPr>
          <a:lstStyle/>
          <a:p>
            <a:pPr algn="l"/>
            <a:r>
              <a:rPr sz="2800" b="1">
                <a:solidFill>
                  <a:srgbClr val="1E293B"/>
                </a:solidFill>
                <a:latin typeface="Calibri"/>
              </a:rPr>
              <a:t>Arnór Gauti — YELLOW. Total looks fine. One metric doesn't.</a:t>
            </a:r>
          </a:p>
        </p:txBody>
      </p:sp>
      <p:sp>
        <p:nvSpPr>
          <p:cNvPr id="9" name="Rounded Rectangle 8"/>
          <p:cNvSpPr/>
          <p:nvPr/>
        </p:nvSpPr>
        <p:spPr>
          <a:xfrm>
            <a:off x="457200" y="1828800"/>
            <a:ext cx="6858000" cy="420624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57400"/>
            <a:ext cx="6400800" cy="274320"/>
          </a:xfrm>
          <a:prstGeom prst="rect">
            <a:avLst/>
          </a:prstGeom>
          <a:noFill/>
        </p:spPr>
        <p:txBody>
          <a:bodyPr wrap="square" lIns="0" rIns="0" tIns="0" bIns="0" anchor="t">
            <a:spAutoFit/>
          </a:bodyPr>
          <a:lstStyle/>
          <a:p>
            <a:pPr algn="l"/>
            <a:r>
              <a:rPr sz="1000" b="1">
                <a:solidFill>
                  <a:srgbClr val="64748B"/>
                </a:solidFill>
                <a:latin typeface="Calibri"/>
              </a:rPr>
              <a:t>WINGER  ·  20 years  ·  PERSONAL BASELINE: ACTIVE (n=20)</a:t>
            </a:r>
          </a:p>
        </p:txBody>
      </p:sp>
      <p:sp>
        <p:nvSpPr>
          <p:cNvPr id="11" name="TextBox 10"/>
          <p:cNvSpPr txBox="1"/>
          <p:nvPr/>
        </p:nvSpPr>
        <p:spPr>
          <a:xfrm>
            <a:off x="731520" y="2331720"/>
            <a:ext cx="6400800" cy="548640"/>
          </a:xfrm>
          <a:prstGeom prst="rect">
            <a:avLst/>
          </a:prstGeom>
          <a:noFill/>
        </p:spPr>
        <p:txBody>
          <a:bodyPr wrap="square" lIns="0" rIns="0" tIns="0" bIns="0" anchor="t">
            <a:spAutoFit/>
          </a:bodyPr>
          <a:lstStyle/>
          <a:p>
            <a:pPr algn="l"/>
            <a:r>
              <a:rPr sz="2400" b="1">
                <a:solidFill>
                  <a:srgbClr val="1E293B"/>
                </a:solidFill>
                <a:latin typeface="Calibri"/>
              </a:rPr>
              <a:t>Arnór Gauti Jónsson</a:t>
            </a:r>
          </a:p>
        </p:txBody>
      </p:sp>
      <p:sp>
        <p:nvSpPr>
          <p:cNvPr id="12" name="Rounded Rectangle 11"/>
          <p:cNvSpPr/>
          <p:nvPr/>
        </p:nvSpPr>
        <p:spPr>
          <a:xfrm>
            <a:off x="731520" y="3108960"/>
            <a:ext cx="1828800" cy="457200"/>
          </a:xfrm>
          <a:prstGeom prst="roundRect">
            <a:avLst>
              <a:gd name="adj" fmla="val 3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200400"/>
            <a:ext cx="1828800" cy="274320"/>
          </a:xfrm>
          <a:prstGeom prst="rect">
            <a:avLst/>
          </a:prstGeom>
          <a:noFill/>
        </p:spPr>
        <p:txBody>
          <a:bodyPr wrap="square" lIns="0" rIns="0" tIns="0" bIns="0" anchor="t">
            <a:spAutoFit/>
          </a:bodyPr>
          <a:lstStyle/>
          <a:p>
            <a:pPr algn="ctr"/>
            <a:r>
              <a:rPr sz="1000" b="1">
                <a:solidFill>
                  <a:srgbClr val="FFFFFF"/>
                </a:solidFill>
                <a:latin typeface="Calibri"/>
              </a:rPr>
              <a:t>YELLOW</a:t>
            </a:r>
          </a:p>
        </p:txBody>
      </p:sp>
      <p:sp>
        <p:nvSpPr>
          <p:cNvPr id="14" name="TextBox 13"/>
          <p:cNvSpPr txBox="1"/>
          <p:nvPr/>
        </p:nvSpPr>
        <p:spPr>
          <a:xfrm>
            <a:off x="2743200" y="3200400"/>
            <a:ext cx="4114800" cy="365760"/>
          </a:xfrm>
          <a:prstGeom prst="rect">
            <a:avLst/>
          </a:prstGeom>
          <a:noFill/>
        </p:spPr>
        <p:txBody>
          <a:bodyPr wrap="square" lIns="0" rIns="0" tIns="0" bIns="0" anchor="t">
            <a:spAutoFit/>
          </a:bodyPr>
          <a:lstStyle/>
          <a:p>
            <a:pPr algn="l"/>
            <a:r>
              <a:rPr sz="1500" b="1">
                <a:solidFill>
                  <a:srgbClr val="1E293B"/>
                </a:solidFill>
                <a:latin typeface="Calibri"/>
              </a:rPr>
              <a:t>Reduced load  ·  Single-metric flag</a:t>
            </a:r>
          </a:p>
        </p:txBody>
      </p:sp>
      <p:sp>
        <p:nvSpPr>
          <p:cNvPr id="15" name="Rounded Rectangle 14"/>
          <p:cNvSpPr/>
          <p:nvPr/>
        </p:nvSpPr>
        <p:spPr>
          <a:xfrm>
            <a:off x="73152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Fatigue</a:t>
            </a:r>
          </a:p>
        </p:txBody>
      </p:sp>
      <p:sp>
        <p:nvSpPr>
          <p:cNvPr id="17" name="TextBox 16"/>
          <p:cNvSpPr txBox="1"/>
          <p:nvPr/>
        </p:nvSpPr>
        <p:spPr>
          <a:xfrm>
            <a:off x="731520" y="4480560"/>
            <a:ext cx="1234440" cy="457200"/>
          </a:xfrm>
          <a:prstGeom prst="rect">
            <a:avLst/>
          </a:prstGeom>
          <a:noFill/>
        </p:spPr>
        <p:txBody>
          <a:bodyPr wrap="square" lIns="0" rIns="0" tIns="0" bIns="0" anchor="t">
            <a:spAutoFit/>
          </a:bodyPr>
          <a:lstStyle/>
          <a:p>
            <a:pPr algn="ctr"/>
            <a:r>
              <a:rPr sz="2200" b="1">
                <a:solidFill>
                  <a:srgbClr val="16A34A"/>
                </a:solidFill>
                <a:latin typeface="Arial Black"/>
              </a:rPr>
              <a:t>4/5</a:t>
            </a:r>
          </a:p>
        </p:txBody>
      </p:sp>
      <p:sp>
        <p:nvSpPr>
          <p:cNvPr id="18" name="TextBox 17"/>
          <p:cNvSpPr txBox="1"/>
          <p:nvPr/>
        </p:nvSpPr>
        <p:spPr>
          <a:xfrm>
            <a:off x="731520" y="4983480"/>
            <a:ext cx="1234440" cy="320040"/>
          </a:xfrm>
          <a:prstGeom prst="rect">
            <a:avLst/>
          </a:prstGeom>
          <a:noFill/>
        </p:spPr>
        <p:txBody>
          <a:bodyPr wrap="square" lIns="0" rIns="0" tIns="0" bIns="0" anchor="t">
            <a:spAutoFit/>
          </a:bodyPr>
          <a:lstStyle/>
          <a:p>
            <a:pPr algn="ctr"/>
            <a:r>
              <a:rPr sz="1100" b="1">
                <a:solidFill>
                  <a:srgbClr val="16A34A"/>
                </a:solidFill>
                <a:latin typeface="Calibri"/>
              </a:rPr>
              <a:t>−0.9 SD</a:t>
            </a:r>
          </a:p>
        </p:txBody>
      </p:sp>
      <p:sp>
        <p:nvSpPr>
          <p:cNvPr id="19" name="Rounded Rectangle 18"/>
          <p:cNvSpPr/>
          <p:nvPr/>
        </p:nvSpPr>
        <p:spPr>
          <a:xfrm>
            <a:off x="201168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1168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Sleep Q</a:t>
            </a:r>
          </a:p>
        </p:txBody>
      </p:sp>
      <p:sp>
        <p:nvSpPr>
          <p:cNvPr id="21" name="TextBox 20"/>
          <p:cNvSpPr txBox="1"/>
          <p:nvPr/>
        </p:nvSpPr>
        <p:spPr>
          <a:xfrm>
            <a:off x="2011680" y="4480560"/>
            <a:ext cx="1234440" cy="457200"/>
          </a:xfrm>
          <a:prstGeom prst="rect">
            <a:avLst/>
          </a:prstGeom>
          <a:noFill/>
        </p:spPr>
        <p:txBody>
          <a:bodyPr wrap="square" lIns="0" rIns="0" tIns="0" bIns="0" anchor="t">
            <a:spAutoFit/>
          </a:bodyPr>
          <a:lstStyle/>
          <a:p>
            <a:pPr algn="ctr"/>
            <a:r>
              <a:rPr sz="2200" b="1">
                <a:solidFill>
                  <a:srgbClr val="16A34A"/>
                </a:solidFill>
                <a:latin typeface="Arial Black"/>
              </a:rPr>
              <a:t>5/5</a:t>
            </a:r>
          </a:p>
        </p:txBody>
      </p:sp>
      <p:sp>
        <p:nvSpPr>
          <p:cNvPr id="22" name="TextBox 21"/>
          <p:cNvSpPr txBox="1"/>
          <p:nvPr/>
        </p:nvSpPr>
        <p:spPr>
          <a:xfrm>
            <a:off x="2011680" y="4983480"/>
            <a:ext cx="1234440" cy="320040"/>
          </a:xfrm>
          <a:prstGeom prst="rect">
            <a:avLst/>
          </a:prstGeom>
          <a:noFill/>
        </p:spPr>
        <p:txBody>
          <a:bodyPr wrap="square" lIns="0" rIns="0" tIns="0" bIns="0" anchor="t">
            <a:spAutoFit/>
          </a:bodyPr>
          <a:lstStyle/>
          <a:p>
            <a:pPr algn="ctr"/>
            <a:r>
              <a:rPr sz="1100" b="1">
                <a:solidFill>
                  <a:srgbClr val="16A34A"/>
                </a:solidFill>
                <a:latin typeface="Calibri"/>
              </a:rPr>
              <a:t>+0.5 SD</a:t>
            </a:r>
          </a:p>
        </p:txBody>
      </p:sp>
      <p:sp>
        <p:nvSpPr>
          <p:cNvPr id="23" name="Rounded Rectangle 22"/>
          <p:cNvSpPr/>
          <p:nvPr/>
        </p:nvSpPr>
        <p:spPr>
          <a:xfrm>
            <a:off x="329184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9184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Sleep dur</a:t>
            </a:r>
          </a:p>
        </p:txBody>
      </p:sp>
      <p:sp>
        <p:nvSpPr>
          <p:cNvPr id="25" name="TextBox 24"/>
          <p:cNvSpPr txBox="1"/>
          <p:nvPr/>
        </p:nvSpPr>
        <p:spPr>
          <a:xfrm>
            <a:off x="3291840" y="4480560"/>
            <a:ext cx="1234440" cy="457200"/>
          </a:xfrm>
          <a:prstGeom prst="rect">
            <a:avLst/>
          </a:prstGeom>
          <a:noFill/>
        </p:spPr>
        <p:txBody>
          <a:bodyPr wrap="square" lIns="0" rIns="0" tIns="0" bIns="0" anchor="t">
            <a:spAutoFit/>
          </a:bodyPr>
          <a:lstStyle/>
          <a:p>
            <a:pPr algn="ctr"/>
            <a:r>
              <a:rPr sz="2200" b="1">
                <a:solidFill>
                  <a:srgbClr val="DC2626"/>
                </a:solidFill>
                <a:latin typeface="Arial Black"/>
              </a:rPr>
              <a:t>4/5</a:t>
            </a:r>
          </a:p>
        </p:txBody>
      </p:sp>
      <p:sp>
        <p:nvSpPr>
          <p:cNvPr id="26" name="TextBox 25"/>
          <p:cNvSpPr txBox="1"/>
          <p:nvPr/>
        </p:nvSpPr>
        <p:spPr>
          <a:xfrm>
            <a:off x="3291840" y="4983480"/>
            <a:ext cx="1234440" cy="320040"/>
          </a:xfrm>
          <a:prstGeom prst="rect">
            <a:avLst/>
          </a:prstGeom>
          <a:noFill/>
        </p:spPr>
        <p:txBody>
          <a:bodyPr wrap="square" lIns="0" rIns="0" tIns="0" bIns="0" anchor="t">
            <a:spAutoFit/>
          </a:bodyPr>
          <a:lstStyle/>
          <a:p>
            <a:pPr algn="ctr"/>
            <a:r>
              <a:rPr sz="1100" b="1">
                <a:solidFill>
                  <a:srgbClr val="DC2626"/>
                </a:solidFill>
                <a:latin typeface="Calibri"/>
              </a:rPr>
              <a:t>−4.4 SD</a:t>
            </a:r>
          </a:p>
        </p:txBody>
      </p:sp>
      <p:sp>
        <p:nvSpPr>
          <p:cNvPr id="27" name="Rounded Rectangle 26"/>
          <p:cNvSpPr/>
          <p:nvPr/>
        </p:nvSpPr>
        <p:spPr>
          <a:xfrm>
            <a:off x="457200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Stress</a:t>
            </a:r>
          </a:p>
        </p:txBody>
      </p:sp>
      <p:sp>
        <p:nvSpPr>
          <p:cNvPr id="29" name="TextBox 28"/>
          <p:cNvSpPr txBox="1"/>
          <p:nvPr/>
        </p:nvSpPr>
        <p:spPr>
          <a:xfrm>
            <a:off x="4572000" y="4480560"/>
            <a:ext cx="1234440" cy="457200"/>
          </a:xfrm>
          <a:prstGeom prst="rect">
            <a:avLst/>
          </a:prstGeom>
          <a:noFill/>
        </p:spPr>
        <p:txBody>
          <a:bodyPr wrap="square" lIns="0" rIns="0" tIns="0" bIns="0" anchor="t">
            <a:spAutoFit/>
          </a:bodyPr>
          <a:lstStyle/>
          <a:p>
            <a:pPr algn="ctr"/>
            <a:r>
              <a:rPr sz="2200" b="1">
                <a:solidFill>
                  <a:srgbClr val="16A34A"/>
                </a:solidFill>
                <a:latin typeface="Arial Black"/>
              </a:rPr>
              <a:t>5/5</a:t>
            </a:r>
          </a:p>
        </p:txBody>
      </p:sp>
      <p:sp>
        <p:nvSpPr>
          <p:cNvPr id="30" name="TextBox 29"/>
          <p:cNvSpPr txBox="1"/>
          <p:nvPr/>
        </p:nvSpPr>
        <p:spPr>
          <a:xfrm>
            <a:off x="4572000" y="4983480"/>
            <a:ext cx="1234440" cy="320040"/>
          </a:xfrm>
          <a:prstGeom prst="rect">
            <a:avLst/>
          </a:prstGeom>
          <a:noFill/>
        </p:spPr>
        <p:txBody>
          <a:bodyPr wrap="square" lIns="0" rIns="0" tIns="0" bIns="0" anchor="t">
            <a:spAutoFit/>
          </a:bodyPr>
          <a:lstStyle/>
          <a:p>
            <a:pPr algn="ctr"/>
            <a:r>
              <a:rPr sz="1100" b="1">
                <a:solidFill>
                  <a:srgbClr val="16A34A"/>
                </a:solidFill>
                <a:latin typeface="Calibri"/>
              </a:rPr>
              <a:t>+0.2 SD</a:t>
            </a:r>
          </a:p>
        </p:txBody>
      </p:sp>
      <p:sp>
        <p:nvSpPr>
          <p:cNvPr id="31" name="Rounded Rectangle 30"/>
          <p:cNvSpPr/>
          <p:nvPr/>
        </p:nvSpPr>
        <p:spPr>
          <a:xfrm>
            <a:off x="5852160" y="4023360"/>
            <a:ext cx="1234440" cy="137160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0" y="4160520"/>
            <a:ext cx="1234440" cy="274320"/>
          </a:xfrm>
          <a:prstGeom prst="rect">
            <a:avLst/>
          </a:prstGeom>
          <a:noFill/>
        </p:spPr>
        <p:txBody>
          <a:bodyPr wrap="square" lIns="0" rIns="0" tIns="0" bIns="0" anchor="t">
            <a:spAutoFit/>
          </a:bodyPr>
          <a:lstStyle/>
          <a:p>
            <a:pPr algn="ctr"/>
            <a:r>
              <a:rPr sz="1000" b="1">
                <a:solidFill>
                  <a:srgbClr val="64748B"/>
                </a:solidFill>
                <a:latin typeface="Calibri"/>
              </a:rPr>
              <a:t>Soreness</a:t>
            </a:r>
          </a:p>
        </p:txBody>
      </p:sp>
      <p:sp>
        <p:nvSpPr>
          <p:cNvPr id="33" name="TextBox 32"/>
          <p:cNvSpPr txBox="1"/>
          <p:nvPr/>
        </p:nvSpPr>
        <p:spPr>
          <a:xfrm>
            <a:off x="5852160" y="4480560"/>
            <a:ext cx="1234440" cy="457200"/>
          </a:xfrm>
          <a:prstGeom prst="rect">
            <a:avLst/>
          </a:prstGeom>
          <a:noFill/>
        </p:spPr>
        <p:txBody>
          <a:bodyPr wrap="square" lIns="0" rIns="0" tIns="0" bIns="0" anchor="t">
            <a:spAutoFit/>
          </a:bodyPr>
          <a:lstStyle/>
          <a:p>
            <a:pPr algn="ctr"/>
            <a:r>
              <a:rPr sz="2200" b="1">
                <a:solidFill>
                  <a:srgbClr val="16A34A"/>
                </a:solidFill>
                <a:latin typeface="Arial Black"/>
              </a:rPr>
              <a:t>4/5</a:t>
            </a:r>
          </a:p>
        </p:txBody>
      </p:sp>
      <p:sp>
        <p:nvSpPr>
          <p:cNvPr id="34" name="TextBox 33"/>
          <p:cNvSpPr txBox="1"/>
          <p:nvPr/>
        </p:nvSpPr>
        <p:spPr>
          <a:xfrm>
            <a:off x="5852160" y="4983480"/>
            <a:ext cx="1234440" cy="320040"/>
          </a:xfrm>
          <a:prstGeom prst="rect">
            <a:avLst/>
          </a:prstGeom>
          <a:noFill/>
        </p:spPr>
        <p:txBody>
          <a:bodyPr wrap="square" lIns="0" rIns="0" tIns="0" bIns="0" anchor="t">
            <a:spAutoFit/>
          </a:bodyPr>
          <a:lstStyle/>
          <a:p>
            <a:pPr algn="ctr"/>
            <a:r>
              <a:rPr sz="1100" b="1">
                <a:solidFill>
                  <a:srgbClr val="16A34A"/>
                </a:solidFill>
                <a:latin typeface="Calibri"/>
              </a:rPr>
              <a:t>+0.5 SD</a:t>
            </a:r>
          </a:p>
        </p:txBody>
      </p:sp>
      <p:sp>
        <p:nvSpPr>
          <p:cNvPr id="35" name="TextBox 34"/>
          <p:cNvSpPr txBox="1"/>
          <p:nvPr/>
        </p:nvSpPr>
        <p:spPr>
          <a:xfrm>
            <a:off x="731520" y="5532120"/>
            <a:ext cx="6400800" cy="365760"/>
          </a:xfrm>
          <a:prstGeom prst="rect">
            <a:avLst/>
          </a:prstGeom>
          <a:noFill/>
        </p:spPr>
        <p:txBody>
          <a:bodyPr wrap="square" lIns="0" rIns="0" tIns="0" bIns="0" anchor="t">
            <a:spAutoFit/>
          </a:bodyPr>
          <a:lstStyle/>
          <a:p>
            <a:pPr algn="l"/>
            <a:r>
              <a:rPr sz="1200" b="0">
                <a:solidFill>
                  <a:srgbClr val="64748B"/>
                </a:solidFill>
                <a:latin typeface="Calibri"/>
              </a:rPr>
              <a:t>Total: 22/25  (high)  ·  but sleep duration is the outlier</a:t>
            </a:r>
          </a:p>
        </p:txBody>
      </p:sp>
      <p:sp>
        <p:nvSpPr>
          <p:cNvPr id="36" name="Rounded Rectangle 35"/>
          <p:cNvSpPr/>
          <p:nvPr/>
        </p:nvSpPr>
        <p:spPr>
          <a:xfrm>
            <a:off x="7680960" y="1828800"/>
            <a:ext cx="4206240" cy="420624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55280" y="2057400"/>
            <a:ext cx="3657600" cy="365760"/>
          </a:xfrm>
          <a:prstGeom prst="rect">
            <a:avLst/>
          </a:prstGeom>
          <a:noFill/>
        </p:spPr>
        <p:txBody>
          <a:bodyPr wrap="square" lIns="0" rIns="0" tIns="0" bIns="0" anchor="t">
            <a:spAutoFit/>
          </a:bodyPr>
          <a:lstStyle/>
          <a:p>
            <a:pPr algn="l"/>
            <a:r>
              <a:rPr sz="1000" b="1">
                <a:solidFill>
                  <a:srgbClr val="FFFFFF"/>
                </a:solidFill>
                <a:latin typeface="Calibri"/>
              </a:rPr>
              <a:t>OUTLIER ALERT</a:t>
            </a:r>
          </a:p>
        </p:txBody>
      </p:sp>
      <p:sp>
        <p:nvSpPr>
          <p:cNvPr id="38" name="TextBox 37"/>
          <p:cNvSpPr txBox="1"/>
          <p:nvPr/>
        </p:nvSpPr>
        <p:spPr>
          <a:xfrm>
            <a:off x="7955280" y="2377440"/>
            <a:ext cx="3657600" cy="822960"/>
          </a:xfrm>
          <a:prstGeom prst="rect">
            <a:avLst/>
          </a:prstGeom>
          <a:noFill/>
        </p:spPr>
        <p:txBody>
          <a:bodyPr wrap="square" lIns="0" rIns="0" tIns="0" bIns="0" anchor="t">
            <a:spAutoFit/>
          </a:bodyPr>
          <a:lstStyle/>
          <a:p>
            <a:pPr algn="l"/>
            <a:r>
              <a:rPr sz="1500" b="1">
                <a:solidFill>
                  <a:srgbClr val="FFFFFF"/>
                </a:solidFill>
                <a:latin typeface="Calibri"/>
              </a:rPr>
              <a:t>Sleep duration crashed 4.4 SD below baseline.</a:t>
            </a:r>
          </a:p>
        </p:txBody>
      </p:sp>
      <p:sp>
        <p:nvSpPr>
          <p:cNvPr id="39" name="TextBox 38"/>
          <p:cNvSpPr txBox="1"/>
          <p:nvPr/>
        </p:nvSpPr>
        <p:spPr>
          <a:xfrm>
            <a:off x="7955280" y="3520440"/>
            <a:ext cx="3657600" cy="2743200"/>
          </a:xfrm>
          <a:prstGeom prst="rect">
            <a:avLst/>
          </a:prstGeom>
          <a:noFill/>
        </p:spPr>
        <p:txBody>
          <a:bodyPr wrap="square" lIns="0" rIns="0" tIns="0" bIns="0">
            <a:spAutoFit/>
          </a:bodyPr>
          <a:lstStyle/>
          <a:p>
            <a:pPr algn="l">
              <a:lnSpc>
                <a:spcPct val="130000"/>
              </a:lnSpc>
            </a:pPr>
            <a:r>
              <a:rPr sz="1300" b="0">
                <a:solidFill>
                  <a:srgbClr val="FFFFFF"/>
                </a:solidFill>
                <a:latin typeface="Calibri"/>
              </a:rPr>
              <a:t>Total wellness 22/25 — high.</a:t>
            </a:r>
          </a:p>
          <a:p>
            <a:pPr algn="l">
              <a:lnSpc>
                <a:spcPct val="130000"/>
              </a:lnSpc>
            </a:pPr>
            <a:r>
              <a:rPr sz="1300" b="0">
                <a:solidFill>
                  <a:srgbClr val="FFFFFF"/>
                </a:solidFill>
                <a:latin typeface="Calibri"/>
              </a:rPr>
              <a:t>Other metrics all normal.</a:t>
            </a:r>
          </a:p>
          <a:p>
            <a:pPr algn="l">
              <a:lnSpc>
                <a:spcPct val="130000"/>
              </a:lnSpc>
            </a:pPr>
            <a:r>
              <a:rPr sz="1300" b="0">
                <a:solidFill>
                  <a:srgbClr val="FFFFFF"/>
                </a:solidFill>
                <a:latin typeface="Calibri"/>
              </a:rPr>
              <a:t/>
            </a:r>
          </a:p>
          <a:p>
            <a:pPr algn="l">
              <a:lnSpc>
                <a:spcPct val="130000"/>
              </a:lnSpc>
            </a:pPr>
            <a:r>
              <a:rPr sz="1300" b="0">
                <a:solidFill>
                  <a:srgbClr val="FFFFFF"/>
                </a:solidFill>
                <a:latin typeface="Calibri"/>
              </a:rPr>
              <a:t>But sleep duration alone is the worst</a:t>
            </a:r>
          </a:p>
          <a:p>
            <a:pPr algn="l">
              <a:lnSpc>
                <a:spcPct val="130000"/>
              </a:lnSpc>
            </a:pPr>
            <a:r>
              <a:rPr sz="1300" b="0">
                <a:solidFill>
                  <a:srgbClr val="FFFFFF"/>
                </a:solidFill>
                <a:latin typeface="Calibri"/>
              </a:rPr>
              <a:t>single-metric drop seen in 28 days.</a:t>
            </a:r>
          </a:p>
          <a:p>
            <a:pPr algn="l">
              <a:lnSpc>
                <a:spcPct val="130000"/>
              </a:lnSpc>
            </a:pPr>
            <a:r>
              <a:rPr sz="1300" b="0">
                <a:solidFill>
                  <a:srgbClr val="FFFFFF"/>
                </a:solidFill>
                <a:latin typeface="Calibri"/>
              </a:rPr>
              <a:t/>
            </a:r>
          </a:p>
          <a:p>
            <a:pPr algn="l">
              <a:lnSpc>
                <a:spcPct val="130000"/>
              </a:lnSpc>
            </a:pPr>
            <a:r>
              <a:rPr sz="1300" b="0">
                <a:solidFill>
                  <a:srgbClr val="FFFFFF"/>
                </a:solidFill>
                <a:latin typeface="Calibri"/>
              </a:rPr>
              <a:t>Could be one bad night.</a:t>
            </a:r>
          </a:p>
          <a:p>
            <a:pPr algn="l">
              <a:lnSpc>
                <a:spcPct val="130000"/>
              </a:lnSpc>
            </a:pPr>
            <a:r>
              <a:rPr sz="1300" b="0">
                <a:solidFill>
                  <a:srgbClr val="FFFFFF"/>
                </a:solidFill>
                <a:latin typeface="Calibri"/>
              </a:rPr>
              <a:t>Worth a 30-second conversation</a:t>
            </a:r>
          </a:p>
          <a:p>
            <a:pPr algn="l">
              <a:lnSpc>
                <a:spcPct val="130000"/>
              </a:lnSpc>
            </a:pPr>
            <a:r>
              <a:rPr sz="1300" b="0">
                <a:solidFill>
                  <a:srgbClr val="FFFFFF"/>
                </a:solidFill>
                <a:latin typeface="Calibri"/>
              </a:rPr>
              <a:t>with the player.</a:t>
            </a:r>
          </a:p>
        </p:txBody>
      </p:sp>
      <p:sp>
        <p:nvSpPr>
          <p:cNvPr id="40" name="TextBox 39"/>
          <p:cNvSpPr txBox="1"/>
          <p:nvPr/>
        </p:nvSpPr>
        <p:spPr>
          <a:xfrm>
            <a:off x="11247120" y="6446520"/>
            <a:ext cx="914400" cy="274320"/>
          </a:xfrm>
          <a:prstGeom prst="rect">
            <a:avLst/>
          </a:prstGeom>
          <a:noFill/>
        </p:spPr>
        <p:txBody>
          <a:bodyPr wrap="square" lIns="0" rIns="0" tIns="0" bIns="0" anchor="t">
            <a:spAutoFit/>
          </a:bodyPr>
          <a:lstStyle/>
          <a:p>
            <a:pPr algn="r"/>
            <a:r>
              <a:rPr sz="900" b="0">
                <a:solidFill>
                  <a:srgbClr val="64748B"/>
                </a:solidFill>
                <a:latin typeface="Calibri"/>
              </a:rPr>
              <a:t>07 / 14</a:t>
            </a:r>
          </a:p>
        </p:txBody>
      </p:sp>
      <p:sp>
        <p:nvSpPr>
          <p:cNvPr id="41" name="TextBox 40"/>
          <p:cNvSpPr txBox="1"/>
          <p:nvPr/>
        </p:nvSpPr>
        <p:spPr>
          <a:xfrm>
            <a:off x="365760" y="6446520"/>
            <a:ext cx="54864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828800" cy="274320"/>
          </a:xfrm>
          <a:prstGeom prst="rect">
            <a:avLst/>
          </a:prstGeom>
          <a:noFill/>
        </p:spPr>
        <p:txBody>
          <a:bodyPr wrap="square" lIns="0" rIns="0" tIns="0" bIns="0" anchor="t">
            <a:spAutoFit/>
          </a:bodyPr>
          <a:lstStyle/>
          <a:p>
            <a:pPr algn="l"/>
            <a:r>
              <a:rPr sz="1000" b="1">
                <a:solidFill>
                  <a:srgbClr val="29B7E6"/>
                </a:solidFill>
                <a:latin typeface="Calibri"/>
              </a:rPr>
              <a:t>MICROPULSE  ·  COACH</a:t>
            </a:r>
          </a:p>
        </p:txBody>
      </p:sp>
      <p:sp>
        <p:nvSpPr>
          <p:cNvPr id="5" name="TextBox 4"/>
          <p:cNvSpPr txBox="1"/>
          <p:nvPr/>
        </p:nvSpPr>
        <p:spPr>
          <a:xfrm>
            <a:off x="2468880" y="91440"/>
            <a:ext cx="6400800" cy="274320"/>
          </a:xfrm>
          <a:prstGeom prst="rect">
            <a:avLst/>
          </a:prstGeom>
          <a:noFill/>
        </p:spPr>
        <p:txBody>
          <a:bodyPr wrap="square" lIns="0" rIns="0" tIns="0" bIns="0" anchor="t">
            <a:spAutoFit/>
          </a:bodyPr>
          <a:lstStyle/>
          <a:p>
            <a:pPr algn="l"/>
            <a:r>
              <a:rPr sz="1000" b="0">
                <a:solidFill>
                  <a:srgbClr val="FFFFFF"/>
                </a:solidFill>
                <a:latin typeface="Calibri"/>
              </a:rPr>
              <a:t>/coach/week-setup  ·  Monday Apr 22</a:t>
            </a:r>
          </a:p>
        </p:txBody>
      </p:sp>
      <p:sp>
        <p:nvSpPr>
          <p:cNvPr id="6" name="TextBox 5"/>
          <p:cNvSpPr txBox="1"/>
          <p:nvPr/>
        </p:nvSpPr>
        <p:spPr>
          <a:xfrm>
            <a:off x="10515600" y="91440"/>
            <a:ext cx="1371600" cy="274320"/>
          </a:xfrm>
          <a:prstGeom prst="rect">
            <a:avLst/>
          </a:prstGeom>
          <a:noFill/>
        </p:spPr>
        <p:txBody>
          <a:bodyPr wrap="square" lIns="0" rIns="0" tIns="0" bIns="0" anchor="t">
            <a:spAutoFit/>
          </a:bodyPr>
          <a:lstStyle/>
          <a:p>
            <a:pPr algn="r"/>
            <a:r>
              <a:rPr sz="1000" b="0">
                <a:solidFill>
                  <a:srgbClr val="29B7E6"/>
                </a:solidFill>
                <a:latin typeface="Calibri"/>
              </a:rPr>
              <a:t>07:15</a:t>
            </a:r>
          </a:p>
        </p:txBody>
      </p:sp>
      <p:sp>
        <p:nvSpPr>
          <p:cNvPr id="7" name="TextBox 6"/>
          <p:cNvSpPr txBox="1"/>
          <p:nvPr/>
        </p:nvSpPr>
        <p:spPr>
          <a:xfrm>
            <a:off x="365760" y="594360"/>
            <a:ext cx="7315200" cy="274320"/>
          </a:xfrm>
          <a:prstGeom prst="rect">
            <a:avLst/>
          </a:prstGeom>
          <a:noFill/>
        </p:spPr>
        <p:txBody>
          <a:bodyPr wrap="square" lIns="0" rIns="0" tIns="0" bIns="0" anchor="t">
            <a:spAutoFit/>
          </a:bodyPr>
          <a:lstStyle/>
          <a:p>
            <a:pPr algn="l"/>
            <a:r>
              <a:rPr sz="1100" b="1">
                <a:solidFill>
                  <a:srgbClr val="005A2B"/>
                </a:solidFill>
                <a:latin typeface="Calibri"/>
              </a:rPr>
              <a:t>07:15  ·  SESSION PLANNING</a:t>
            </a:r>
          </a:p>
        </p:txBody>
      </p:sp>
      <p:sp>
        <p:nvSpPr>
          <p:cNvPr id="8" name="TextBox 7"/>
          <p:cNvSpPr txBox="1"/>
          <p:nvPr/>
        </p:nvSpPr>
        <p:spPr>
          <a:xfrm>
            <a:off x="365760" y="868680"/>
            <a:ext cx="11430000" cy="640080"/>
          </a:xfrm>
          <a:prstGeom prst="rect">
            <a:avLst/>
          </a:prstGeom>
          <a:noFill/>
        </p:spPr>
        <p:txBody>
          <a:bodyPr wrap="square" lIns="0" rIns="0" tIns="0" bIns="0" anchor="t">
            <a:spAutoFit/>
          </a:bodyPr>
          <a:lstStyle/>
          <a:p>
            <a:pPr algn="l"/>
            <a:r>
              <a:rPr sz="2800" b="1">
                <a:solidFill>
                  <a:srgbClr val="1E293B"/>
                </a:solidFill>
                <a:latin typeface="Calibri"/>
              </a:rPr>
              <a:t>Coach adjusts the day before the players arrive.</a:t>
            </a:r>
          </a:p>
        </p:txBody>
      </p:sp>
      <p:sp>
        <p:nvSpPr>
          <p:cNvPr id="9" name="Rounded Rectangle 8"/>
          <p:cNvSpPr/>
          <p:nvPr/>
        </p:nvSpPr>
        <p:spPr>
          <a:xfrm>
            <a:off x="457200" y="1828800"/>
            <a:ext cx="5486400" cy="420624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57400"/>
            <a:ext cx="4937760" cy="274320"/>
          </a:xfrm>
          <a:prstGeom prst="rect">
            <a:avLst/>
          </a:prstGeom>
          <a:noFill/>
        </p:spPr>
        <p:txBody>
          <a:bodyPr wrap="square" lIns="0" rIns="0" tIns="0" bIns="0" anchor="t">
            <a:spAutoFit/>
          </a:bodyPr>
          <a:lstStyle/>
          <a:p>
            <a:pPr algn="l"/>
            <a:r>
              <a:rPr sz="1100" b="1">
                <a:solidFill>
                  <a:srgbClr val="64748B"/>
                </a:solidFill>
                <a:latin typeface="Calibri"/>
              </a:rPr>
              <a:t>ORIGINAL PLAN</a:t>
            </a:r>
          </a:p>
        </p:txBody>
      </p:sp>
      <p:sp>
        <p:nvSpPr>
          <p:cNvPr id="11" name="TextBox 10"/>
          <p:cNvSpPr txBox="1"/>
          <p:nvPr/>
        </p:nvSpPr>
        <p:spPr>
          <a:xfrm>
            <a:off x="731520" y="2377440"/>
            <a:ext cx="4937760" cy="457200"/>
          </a:xfrm>
          <a:prstGeom prst="rect">
            <a:avLst/>
          </a:prstGeom>
          <a:noFill/>
        </p:spPr>
        <p:txBody>
          <a:bodyPr wrap="square" lIns="0" rIns="0" tIns="0" bIns="0" anchor="t">
            <a:spAutoFit/>
          </a:bodyPr>
          <a:lstStyle/>
          <a:p>
            <a:pPr algn="l"/>
            <a:r>
              <a:rPr sz="2200" b="1">
                <a:solidFill>
                  <a:srgbClr val="1E293B"/>
                </a:solidFill>
                <a:latin typeface="Calibri"/>
              </a:rPr>
              <a:t>High-intensity tactical</a:t>
            </a:r>
          </a:p>
        </p:txBody>
      </p:sp>
      <p:sp>
        <p:nvSpPr>
          <p:cNvPr id="12" name="TextBox 11"/>
          <p:cNvSpPr txBox="1"/>
          <p:nvPr/>
        </p:nvSpPr>
        <p:spPr>
          <a:xfrm>
            <a:off x="731520" y="3200400"/>
            <a:ext cx="4937760" cy="2743200"/>
          </a:xfrm>
          <a:prstGeom prst="rect">
            <a:avLst/>
          </a:prstGeom>
          <a:noFill/>
        </p:spPr>
        <p:txBody>
          <a:bodyPr wrap="square" lIns="0" rIns="0" tIns="0" bIns="0">
            <a:spAutoFit/>
          </a:bodyPr>
          <a:lstStyle/>
          <a:p>
            <a:pPr algn="l">
              <a:lnSpc>
                <a:spcPct val="140000"/>
              </a:lnSpc>
            </a:pPr>
            <a:r>
              <a:rPr sz="1400" b="0">
                <a:solidFill>
                  <a:srgbClr val="334155"/>
                </a:solidFill>
                <a:latin typeface="Calibri"/>
              </a:rPr>
              <a:t>10:00  ·  Activation 15 min</a:t>
            </a:r>
          </a:p>
          <a:p>
            <a:pPr algn="l">
              <a:lnSpc>
                <a:spcPct val="140000"/>
              </a:lnSpc>
            </a:pPr>
            <a:r>
              <a:rPr sz="1400" b="0">
                <a:solidFill>
                  <a:srgbClr val="334155"/>
                </a:solidFill>
                <a:latin typeface="Calibri"/>
              </a:rPr>
              <a:t>10:15  ·  Possession 15 v 15 — high pressing</a:t>
            </a:r>
          </a:p>
          <a:p>
            <a:pPr algn="l">
              <a:lnSpc>
                <a:spcPct val="140000"/>
              </a:lnSpc>
            </a:pPr>
            <a:r>
              <a:rPr sz="1400" b="0">
                <a:solidFill>
                  <a:srgbClr val="334155"/>
                </a:solidFill>
                <a:latin typeface="Calibri"/>
              </a:rPr>
              <a:t>10:55  ·  Tactical phase — defensive shape</a:t>
            </a:r>
          </a:p>
          <a:p>
            <a:pPr algn="l">
              <a:lnSpc>
                <a:spcPct val="140000"/>
              </a:lnSpc>
            </a:pPr>
            <a:r>
              <a:rPr sz="1400" b="0">
                <a:solidFill>
                  <a:srgbClr val="334155"/>
                </a:solidFill>
                <a:latin typeface="Calibri"/>
              </a:rPr>
              <a:t>11:35  ·  Conditioning bursts</a:t>
            </a:r>
          </a:p>
          <a:p>
            <a:pPr algn="l">
              <a:lnSpc>
                <a:spcPct val="140000"/>
              </a:lnSpc>
            </a:pPr>
            <a:r>
              <a:rPr sz="1400" b="0">
                <a:solidFill>
                  <a:srgbClr val="334155"/>
                </a:solidFill>
                <a:latin typeface="Calibri"/>
              </a:rPr>
              <a:t>12:00  ·  Cool down</a:t>
            </a:r>
          </a:p>
          <a:p>
            <a:pPr algn="l">
              <a:lnSpc>
                <a:spcPct val="140000"/>
              </a:lnSpc>
            </a:pPr>
            <a:r>
              <a:rPr sz="1400" b="0">
                <a:solidFill>
                  <a:srgbClr val="334155"/>
                </a:solidFill>
                <a:latin typeface="Calibri"/>
              </a:rPr>
              <a:t/>
            </a:r>
          </a:p>
          <a:p>
            <a:pPr algn="l">
              <a:lnSpc>
                <a:spcPct val="140000"/>
              </a:lnSpc>
            </a:pPr>
            <a:r>
              <a:rPr sz="1400" b="0">
                <a:solidFill>
                  <a:srgbClr val="334155"/>
                </a:solidFill>
                <a:latin typeface="Calibri"/>
              </a:rPr>
              <a:t>Whole squad together. No modifications.</a:t>
            </a:r>
          </a:p>
        </p:txBody>
      </p:sp>
      <p:sp>
        <p:nvSpPr>
          <p:cNvPr id="13" name="Rounded Rectangle 12"/>
          <p:cNvSpPr/>
          <p:nvPr/>
        </p:nvSpPr>
        <p:spPr>
          <a:xfrm>
            <a:off x="6263640" y="1828800"/>
            <a:ext cx="5486400" cy="4206240"/>
          </a:xfrm>
          <a:prstGeom prst="roundRect">
            <a:avLst>
              <a:gd name="adj" fmla="val 6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2057400"/>
            <a:ext cx="4937760" cy="274320"/>
          </a:xfrm>
          <a:prstGeom prst="rect">
            <a:avLst/>
          </a:prstGeom>
          <a:noFill/>
        </p:spPr>
        <p:txBody>
          <a:bodyPr wrap="square" lIns="0" rIns="0" tIns="0" bIns="0" anchor="t">
            <a:spAutoFit/>
          </a:bodyPr>
          <a:lstStyle/>
          <a:p>
            <a:pPr algn="l"/>
            <a:r>
              <a:rPr sz="1100" b="1">
                <a:solidFill>
                  <a:srgbClr val="29B7E6"/>
                </a:solidFill>
                <a:latin typeface="Calibri"/>
              </a:rPr>
              <a:t>ADJUSTED FOR TODAY</a:t>
            </a:r>
          </a:p>
        </p:txBody>
      </p:sp>
      <p:sp>
        <p:nvSpPr>
          <p:cNvPr id="15" name="TextBox 14"/>
          <p:cNvSpPr txBox="1"/>
          <p:nvPr/>
        </p:nvSpPr>
        <p:spPr>
          <a:xfrm>
            <a:off x="6537960" y="2377440"/>
            <a:ext cx="4937760" cy="457200"/>
          </a:xfrm>
          <a:prstGeom prst="rect">
            <a:avLst/>
          </a:prstGeom>
          <a:noFill/>
        </p:spPr>
        <p:txBody>
          <a:bodyPr wrap="square" lIns="0" rIns="0" tIns="0" bIns="0" anchor="t">
            <a:spAutoFit/>
          </a:bodyPr>
          <a:lstStyle/>
          <a:p>
            <a:pPr algn="l"/>
            <a:r>
              <a:rPr sz="2200" b="1">
                <a:solidFill>
                  <a:srgbClr val="FFFFFF"/>
                </a:solidFill>
                <a:latin typeface="Calibri"/>
              </a:rPr>
              <a:t>Three modified pathways</a:t>
            </a:r>
          </a:p>
        </p:txBody>
      </p:sp>
      <p:sp>
        <p:nvSpPr>
          <p:cNvPr id="16" name="TextBox 15"/>
          <p:cNvSpPr txBox="1"/>
          <p:nvPr/>
        </p:nvSpPr>
        <p:spPr>
          <a:xfrm>
            <a:off x="6537960" y="3200400"/>
            <a:ext cx="4937760" cy="2743200"/>
          </a:xfrm>
          <a:prstGeom prst="rect">
            <a:avLst/>
          </a:prstGeom>
          <a:noFill/>
        </p:spPr>
        <p:txBody>
          <a:bodyPr wrap="square" lIns="0" rIns="0" tIns="0" bIns="0">
            <a:spAutoFit/>
          </a:bodyPr>
          <a:lstStyle/>
          <a:p>
            <a:pPr algn="l">
              <a:lnSpc>
                <a:spcPct val="140000"/>
              </a:lnSpc>
            </a:pPr>
            <a:r>
              <a:rPr sz="1300" b="0">
                <a:solidFill>
                  <a:srgbClr val="FFFFFF"/>
                </a:solidFill>
                <a:latin typeface="Calibri"/>
              </a:rPr>
              <a:t>🟢 Main squad  →  full plan</a:t>
            </a:r>
          </a:p>
          <a:p>
            <a:pPr algn="l">
              <a:lnSpc>
                <a:spcPct val="140000"/>
              </a:lnSpc>
            </a:pPr>
            <a:r>
              <a:rPr sz="1300" b="0">
                <a:solidFill>
                  <a:srgbClr val="FFFFFF"/>
                </a:solidFill>
                <a:latin typeface="Calibri"/>
              </a:rPr>
              <a:t>🟡 Arnór Gauti  →  reduced volume, no sprint conditioning</a:t>
            </a:r>
          </a:p>
          <a:p>
            <a:pPr algn="l">
              <a:lnSpc>
                <a:spcPct val="140000"/>
              </a:lnSpc>
            </a:pPr>
            <a:r>
              <a:rPr sz="1300" b="0">
                <a:solidFill>
                  <a:srgbClr val="FFFFFF"/>
                </a:solidFill>
                <a:latin typeface="Calibri"/>
              </a:rPr>
              <a:t>🔴 Viktor Karl  →  pool + mobility (no eccentric)</a:t>
            </a:r>
          </a:p>
          <a:p>
            <a:pPr algn="l">
              <a:lnSpc>
                <a:spcPct val="140000"/>
              </a:lnSpc>
            </a:pPr>
            <a:r>
              <a:rPr sz="1300" b="0">
                <a:solidFill>
                  <a:srgbClr val="FFFFFF"/>
                </a:solidFill>
                <a:latin typeface="Calibri"/>
              </a:rPr>
              <a:t>🔴 Arnór Tristan  →  off, sent to medical</a:t>
            </a:r>
          </a:p>
          <a:p>
            <a:pPr algn="l">
              <a:lnSpc>
                <a:spcPct val="140000"/>
              </a:lnSpc>
            </a:pPr>
            <a:r>
              <a:rPr sz="1300" b="0">
                <a:solidFill>
                  <a:srgbClr val="FFFFFF"/>
                </a:solidFill>
                <a:latin typeface="Calibri"/>
              </a:rPr>
              <a:t/>
            </a:r>
          </a:p>
          <a:p>
            <a:pPr algn="l">
              <a:lnSpc>
                <a:spcPct val="140000"/>
              </a:lnSpc>
            </a:pPr>
            <a:r>
              <a:rPr sz="1300" b="0">
                <a:solidFill>
                  <a:srgbClr val="FFFFFF"/>
                </a:solidFill>
                <a:latin typeface="Calibri"/>
              </a:rPr>
              <a:t>Coach informs the players at the briefing.</a:t>
            </a:r>
          </a:p>
          <a:p>
            <a:pPr algn="l">
              <a:lnSpc>
                <a:spcPct val="140000"/>
              </a:lnSpc>
            </a:pPr>
            <a:r>
              <a:rPr sz="1300" b="0">
                <a:solidFill>
                  <a:srgbClr val="FFFFFF"/>
                </a:solidFill>
                <a:latin typeface="Calibri"/>
              </a:rPr>
              <a:t>Decisions are evidence-based, defensible,</a:t>
            </a:r>
          </a:p>
          <a:p>
            <a:pPr algn="l">
              <a:lnSpc>
                <a:spcPct val="140000"/>
              </a:lnSpc>
            </a:pPr>
            <a:r>
              <a:rPr sz="1300" b="0">
                <a:solidFill>
                  <a:srgbClr val="FFFFFF"/>
                </a:solidFill>
                <a:latin typeface="Calibri"/>
              </a:rPr>
              <a:t>documented in MicroPulse.</a:t>
            </a:r>
          </a:p>
        </p:txBody>
      </p:sp>
      <p:sp>
        <p:nvSpPr>
          <p:cNvPr id="17" name="TextBox 16"/>
          <p:cNvSpPr txBox="1"/>
          <p:nvPr/>
        </p:nvSpPr>
        <p:spPr>
          <a:xfrm>
            <a:off x="11247120" y="6446520"/>
            <a:ext cx="914400" cy="274320"/>
          </a:xfrm>
          <a:prstGeom prst="rect">
            <a:avLst/>
          </a:prstGeom>
          <a:noFill/>
        </p:spPr>
        <p:txBody>
          <a:bodyPr wrap="square" lIns="0" rIns="0" tIns="0" bIns="0" anchor="t">
            <a:spAutoFit/>
          </a:bodyPr>
          <a:lstStyle/>
          <a:p>
            <a:pPr algn="r"/>
            <a:r>
              <a:rPr sz="900" b="0">
                <a:solidFill>
                  <a:srgbClr val="64748B"/>
                </a:solidFill>
                <a:latin typeface="Calibri"/>
              </a:rPr>
              <a:t>08 / 14</a:t>
            </a:r>
          </a:p>
        </p:txBody>
      </p:sp>
      <p:sp>
        <p:nvSpPr>
          <p:cNvPr id="18" name="TextBox 17"/>
          <p:cNvSpPr txBox="1"/>
          <p:nvPr/>
        </p:nvSpPr>
        <p:spPr>
          <a:xfrm>
            <a:off x="365760" y="6446520"/>
            <a:ext cx="54864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828800" cy="274320"/>
          </a:xfrm>
          <a:prstGeom prst="rect">
            <a:avLst/>
          </a:prstGeom>
          <a:noFill/>
        </p:spPr>
        <p:txBody>
          <a:bodyPr wrap="square" lIns="0" rIns="0" tIns="0" bIns="0" anchor="t">
            <a:spAutoFit/>
          </a:bodyPr>
          <a:lstStyle/>
          <a:p>
            <a:pPr algn="l"/>
            <a:r>
              <a:rPr sz="1000" b="1">
                <a:solidFill>
                  <a:srgbClr val="29B7E6"/>
                </a:solidFill>
                <a:latin typeface="Calibri"/>
              </a:rPr>
              <a:t>MICROPULSE  ·  COACH</a:t>
            </a:r>
          </a:p>
        </p:txBody>
      </p:sp>
      <p:sp>
        <p:nvSpPr>
          <p:cNvPr id="5" name="TextBox 4"/>
          <p:cNvSpPr txBox="1"/>
          <p:nvPr/>
        </p:nvSpPr>
        <p:spPr>
          <a:xfrm>
            <a:off x="2468880" y="91440"/>
            <a:ext cx="6400800" cy="274320"/>
          </a:xfrm>
          <a:prstGeom prst="rect">
            <a:avLst/>
          </a:prstGeom>
          <a:noFill/>
        </p:spPr>
        <p:txBody>
          <a:bodyPr wrap="square" lIns="0" rIns="0" tIns="0" bIns="0" anchor="t">
            <a:spAutoFit/>
          </a:bodyPr>
          <a:lstStyle/>
          <a:p>
            <a:pPr algn="l"/>
            <a:r>
              <a:rPr sz="1000" b="0">
                <a:solidFill>
                  <a:srgbClr val="FFFFFF"/>
                </a:solidFill>
                <a:latin typeface="Calibri"/>
              </a:rPr>
              <a:t>/coach  ·  RPE inflow  ·  Monday Apr 22</a:t>
            </a:r>
          </a:p>
        </p:txBody>
      </p:sp>
      <p:sp>
        <p:nvSpPr>
          <p:cNvPr id="6" name="TextBox 5"/>
          <p:cNvSpPr txBox="1"/>
          <p:nvPr/>
        </p:nvSpPr>
        <p:spPr>
          <a:xfrm>
            <a:off x="10515600" y="91440"/>
            <a:ext cx="1371600" cy="274320"/>
          </a:xfrm>
          <a:prstGeom prst="rect">
            <a:avLst/>
          </a:prstGeom>
          <a:noFill/>
        </p:spPr>
        <p:txBody>
          <a:bodyPr wrap="square" lIns="0" rIns="0" tIns="0" bIns="0" anchor="t">
            <a:spAutoFit/>
          </a:bodyPr>
          <a:lstStyle/>
          <a:p>
            <a:pPr algn="r"/>
            <a:r>
              <a:rPr sz="1000" b="0">
                <a:solidFill>
                  <a:srgbClr val="29B7E6"/>
                </a:solidFill>
                <a:latin typeface="Calibri"/>
              </a:rPr>
              <a:t>13:15</a:t>
            </a:r>
          </a:p>
        </p:txBody>
      </p:sp>
      <p:sp>
        <p:nvSpPr>
          <p:cNvPr id="7" name="TextBox 6"/>
          <p:cNvSpPr txBox="1"/>
          <p:nvPr/>
        </p:nvSpPr>
        <p:spPr>
          <a:xfrm>
            <a:off x="365760" y="594360"/>
            <a:ext cx="7315200" cy="274320"/>
          </a:xfrm>
          <a:prstGeom prst="rect">
            <a:avLst/>
          </a:prstGeom>
          <a:noFill/>
        </p:spPr>
        <p:txBody>
          <a:bodyPr wrap="square" lIns="0" rIns="0" tIns="0" bIns="0" anchor="t">
            <a:spAutoFit/>
          </a:bodyPr>
          <a:lstStyle/>
          <a:p>
            <a:pPr algn="l"/>
            <a:r>
              <a:rPr sz="1100" b="1">
                <a:solidFill>
                  <a:srgbClr val="005A2B"/>
                </a:solidFill>
                <a:latin typeface="Calibri"/>
              </a:rPr>
              <a:t>13:15  ·  POST-SESSION</a:t>
            </a:r>
          </a:p>
        </p:txBody>
      </p:sp>
      <p:sp>
        <p:nvSpPr>
          <p:cNvPr id="8" name="TextBox 7"/>
          <p:cNvSpPr txBox="1"/>
          <p:nvPr/>
        </p:nvSpPr>
        <p:spPr>
          <a:xfrm>
            <a:off x="365760" y="868680"/>
            <a:ext cx="11430000" cy="640080"/>
          </a:xfrm>
          <a:prstGeom prst="rect">
            <a:avLst/>
          </a:prstGeom>
          <a:noFill/>
        </p:spPr>
        <p:txBody>
          <a:bodyPr wrap="square" lIns="0" rIns="0" tIns="0" bIns="0" anchor="t">
            <a:spAutoFit/>
          </a:bodyPr>
          <a:lstStyle/>
          <a:p>
            <a:pPr algn="l"/>
            <a:r>
              <a:rPr sz="2800" b="1">
                <a:solidFill>
                  <a:srgbClr val="1E293B"/>
                </a:solidFill>
                <a:latin typeface="Calibri"/>
              </a:rPr>
              <a:t>Players submit RPE on their phones · live feed for the coach.</a:t>
            </a:r>
          </a:p>
        </p:txBody>
      </p:sp>
      <p:sp>
        <p:nvSpPr>
          <p:cNvPr id="9" name="Rounded Rectangle 8"/>
          <p:cNvSpPr/>
          <p:nvPr/>
        </p:nvSpPr>
        <p:spPr>
          <a:xfrm>
            <a:off x="457200" y="1828800"/>
            <a:ext cx="2560320" cy="4206240"/>
          </a:xfrm>
          <a:prstGeom prst="roundRect">
            <a:avLst>
              <a:gd name="adj" fmla="val 6000"/>
            </a:avLst>
          </a:prstGeom>
          <a:solidFill>
            <a:srgbClr val="003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103120"/>
            <a:ext cx="2194560" cy="3657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240280"/>
            <a:ext cx="2560320" cy="274320"/>
          </a:xfrm>
          <a:prstGeom prst="rect">
            <a:avLst/>
          </a:prstGeom>
          <a:noFill/>
        </p:spPr>
        <p:txBody>
          <a:bodyPr wrap="square" lIns="0" rIns="0" tIns="0" bIns="0" anchor="t">
            <a:spAutoFit/>
          </a:bodyPr>
          <a:lstStyle/>
          <a:p>
            <a:pPr algn="ctr"/>
            <a:r>
              <a:rPr sz="900" b="1">
                <a:solidFill>
                  <a:srgbClr val="64748B"/>
                </a:solidFill>
                <a:latin typeface="Calibri"/>
              </a:rPr>
              <a:t>PLAYER APP</a:t>
            </a:r>
          </a:p>
        </p:txBody>
      </p:sp>
      <p:sp>
        <p:nvSpPr>
          <p:cNvPr id="12" name="TextBox 11"/>
          <p:cNvSpPr txBox="1"/>
          <p:nvPr/>
        </p:nvSpPr>
        <p:spPr>
          <a:xfrm>
            <a:off x="457200" y="2514600"/>
            <a:ext cx="2560320" cy="457200"/>
          </a:xfrm>
          <a:prstGeom prst="rect">
            <a:avLst/>
          </a:prstGeom>
          <a:noFill/>
        </p:spPr>
        <p:txBody>
          <a:bodyPr wrap="square" lIns="0" rIns="0" tIns="0" bIns="0" anchor="t">
            <a:spAutoFit/>
          </a:bodyPr>
          <a:lstStyle/>
          <a:p>
            <a:pPr algn="ctr"/>
            <a:r>
              <a:rPr sz="1400" b="1">
                <a:solidFill>
                  <a:srgbClr val="1E293B"/>
                </a:solidFill>
                <a:latin typeface="Calibri"/>
              </a:rPr>
              <a:t>Hvernig var æfingin?</a:t>
            </a:r>
          </a:p>
        </p:txBody>
      </p:sp>
      <p:sp>
        <p:nvSpPr>
          <p:cNvPr id="13" name="Rounded Rectangle 12"/>
          <p:cNvSpPr/>
          <p:nvPr/>
        </p:nvSpPr>
        <p:spPr>
          <a:xfrm>
            <a:off x="777240" y="3200400"/>
            <a:ext cx="164592" cy="411480"/>
          </a:xfrm>
          <a:prstGeom prst="roundRect">
            <a:avLst>
              <a:gd name="adj" fmla="val 40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73552"/>
            <a:ext cx="164592" cy="274320"/>
          </a:xfrm>
          <a:prstGeom prst="rect">
            <a:avLst/>
          </a:prstGeom>
          <a:noFill/>
        </p:spPr>
        <p:txBody>
          <a:bodyPr wrap="square" lIns="0" rIns="0" tIns="0" bIns="0" anchor="t">
            <a:spAutoFit/>
          </a:bodyPr>
          <a:lstStyle/>
          <a:p>
            <a:pPr algn="ctr"/>
            <a:r>
              <a:rPr sz="1000" b="1">
                <a:solidFill>
                  <a:srgbClr val="1E293B"/>
                </a:solidFill>
                <a:latin typeface="Calibri"/>
              </a:rPr>
              <a:t>1</a:t>
            </a:r>
          </a:p>
        </p:txBody>
      </p:sp>
      <p:sp>
        <p:nvSpPr>
          <p:cNvPr id="15" name="Rounded Rectangle 14"/>
          <p:cNvSpPr/>
          <p:nvPr/>
        </p:nvSpPr>
        <p:spPr>
          <a:xfrm>
            <a:off x="969264" y="3200400"/>
            <a:ext cx="164592" cy="411480"/>
          </a:xfrm>
          <a:prstGeom prst="roundRect">
            <a:avLst>
              <a:gd name="adj" fmla="val 40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273552"/>
            <a:ext cx="164592" cy="274320"/>
          </a:xfrm>
          <a:prstGeom prst="rect">
            <a:avLst/>
          </a:prstGeom>
          <a:noFill/>
        </p:spPr>
        <p:txBody>
          <a:bodyPr wrap="square" lIns="0" rIns="0" tIns="0" bIns="0" anchor="t">
            <a:spAutoFit/>
          </a:bodyPr>
          <a:lstStyle/>
          <a:p>
            <a:pPr algn="ctr"/>
            <a:r>
              <a:rPr sz="1000" b="1">
                <a:solidFill>
                  <a:srgbClr val="1E293B"/>
                </a:solidFill>
                <a:latin typeface="Calibri"/>
              </a:rPr>
              <a:t>2</a:t>
            </a:r>
          </a:p>
        </p:txBody>
      </p:sp>
      <p:sp>
        <p:nvSpPr>
          <p:cNvPr id="17" name="Rounded Rectangle 16"/>
          <p:cNvSpPr/>
          <p:nvPr/>
        </p:nvSpPr>
        <p:spPr>
          <a:xfrm>
            <a:off x="1161288" y="3200400"/>
            <a:ext cx="164592" cy="411480"/>
          </a:xfrm>
          <a:prstGeom prst="roundRect">
            <a:avLst>
              <a:gd name="adj" fmla="val 40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61288" y="3273552"/>
            <a:ext cx="164592" cy="274320"/>
          </a:xfrm>
          <a:prstGeom prst="rect">
            <a:avLst/>
          </a:prstGeom>
          <a:noFill/>
        </p:spPr>
        <p:txBody>
          <a:bodyPr wrap="square" lIns="0" rIns="0" tIns="0" bIns="0" anchor="t">
            <a:spAutoFit/>
          </a:bodyPr>
          <a:lstStyle/>
          <a:p>
            <a:pPr algn="ctr"/>
            <a:r>
              <a:rPr sz="1000" b="1">
                <a:solidFill>
                  <a:srgbClr val="1E293B"/>
                </a:solidFill>
                <a:latin typeface="Calibri"/>
              </a:rPr>
              <a:t>3</a:t>
            </a:r>
          </a:p>
        </p:txBody>
      </p:sp>
      <p:sp>
        <p:nvSpPr>
          <p:cNvPr id="19" name="Rounded Rectangle 18"/>
          <p:cNvSpPr/>
          <p:nvPr/>
        </p:nvSpPr>
        <p:spPr>
          <a:xfrm>
            <a:off x="1353312" y="3200400"/>
            <a:ext cx="164592" cy="411480"/>
          </a:xfrm>
          <a:prstGeom prst="roundRect">
            <a:avLst>
              <a:gd name="adj" fmla="val 40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53312" y="3273552"/>
            <a:ext cx="164592" cy="274320"/>
          </a:xfrm>
          <a:prstGeom prst="rect">
            <a:avLst/>
          </a:prstGeom>
          <a:noFill/>
        </p:spPr>
        <p:txBody>
          <a:bodyPr wrap="square" lIns="0" rIns="0" tIns="0" bIns="0" anchor="t">
            <a:spAutoFit/>
          </a:bodyPr>
          <a:lstStyle/>
          <a:p>
            <a:pPr algn="ctr"/>
            <a:r>
              <a:rPr sz="1000" b="1">
                <a:solidFill>
                  <a:srgbClr val="1E293B"/>
                </a:solidFill>
                <a:latin typeface="Calibri"/>
              </a:rPr>
              <a:t>4</a:t>
            </a:r>
          </a:p>
        </p:txBody>
      </p:sp>
      <p:sp>
        <p:nvSpPr>
          <p:cNvPr id="21" name="Rounded Rectangle 20"/>
          <p:cNvSpPr/>
          <p:nvPr/>
        </p:nvSpPr>
        <p:spPr>
          <a:xfrm>
            <a:off x="1545336" y="3200400"/>
            <a:ext cx="164592" cy="411480"/>
          </a:xfrm>
          <a:prstGeom prst="roundRect">
            <a:avLst>
              <a:gd name="adj" fmla="val 40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45336" y="3273552"/>
            <a:ext cx="164592" cy="274320"/>
          </a:xfrm>
          <a:prstGeom prst="rect">
            <a:avLst/>
          </a:prstGeom>
          <a:noFill/>
        </p:spPr>
        <p:txBody>
          <a:bodyPr wrap="square" lIns="0" rIns="0" tIns="0" bIns="0" anchor="t">
            <a:spAutoFit/>
          </a:bodyPr>
          <a:lstStyle/>
          <a:p>
            <a:pPr algn="ctr"/>
            <a:r>
              <a:rPr sz="1000" b="1">
                <a:solidFill>
                  <a:srgbClr val="1E293B"/>
                </a:solidFill>
                <a:latin typeface="Calibri"/>
              </a:rPr>
              <a:t>5</a:t>
            </a:r>
          </a:p>
        </p:txBody>
      </p:sp>
      <p:sp>
        <p:nvSpPr>
          <p:cNvPr id="23" name="Rounded Rectangle 22"/>
          <p:cNvSpPr/>
          <p:nvPr/>
        </p:nvSpPr>
        <p:spPr>
          <a:xfrm>
            <a:off x="1737360" y="3200400"/>
            <a:ext cx="164592" cy="411480"/>
          </a:xfrm>
          <a:prstGeom prst="roundRect">
            <a:avLst>
              <a:gd name="adj" fmla="val 40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7360" y="3273552"/>
            <a:ext cx="164592" cy="274320"/>
          </a:xfrm>
          <a:prstGeom prst="rect">
            <a:avLst/>
          </a:prstGeom>
          <a:noFill/>
        </p:spPr>
        <p:txBody>
          <a:bodyPr wrap="square" lIns="0" rIns="0" tIns="0" bIns="0" anchor="t">
            <a:spAutoFit/>
          </a:bodyPr>
          <a:lstStyle/>
          <a:p>
            <a:pPr algn="ctr"/>
            <a:r>
              <a:rPr sz="1000" b="1">
                <a:solidFill>
                  <a:srgbClr val="1E293B"/>
                </a:solidFill>
                <a:latin typeface="Calibri"/>
              </a:rPr>
              <a:t>6</a:t>
            </a:r>
          </a:p>
        </p:txBody>
      </p:sp>
      <p:sp>
        <p:nvSpPr>
          <p:cNvPr id="25" name="Rounded Rectangle 24"/>
          <p:cNvSpPr/>
          <p:nvPr/>
        </p:nvSpPr>
        <p:spPr>
          <a:xfrm>
            <a:off x="1929384" y="3200400"/>
            <a:ext cx="164592" cy="411480"/>
          </a:xfrm>
          <a:prstGeom prst="roundRect">
            <a:avLst>
              <a:gd name="adj" fmla="val 40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929384" y="3273552"/>
            <a:ext cx="164592" cy="274320"/>
          </a:xfrm>
          <a:prstGeom prst="rect">
            <a:avLst/>
          </a:prstGeom>
          <a:noFill/>
        </p:spPr>
        <p:txBody>
          <a:bodyPr wrap="square" lIns="0" rIns="0" tIns="0" bIns="0" anchor="t">
            <a:spAutoFit/>
          </a:bodyPr>
          <a:lstStyle/>
          <a:p>
            <a:pPr algn="ctr"/>
            <a:r>
              <a:rPr sz="1000" b="1">
                <a:solidFill>
                  <a:srgbClr val="FFFFFF"/>
                </a:solidFill>
                <a:latin typeface="Calibri"/>
              </a:rPr>
              <a:t>7</a:t>
            </a:r>
          </a:p>
        </p:txBody>
      </p:sp>
      <p:sp>
        <p:nvSpPr>
          <p:cNvPr id="27" name="Rounded Rectangle 26"/>
          <p:cNvSpPr/>
          <p:nvPr/>
        </p:nvSpPr>
        <p:spPr>
          <a:xfrm>
            <a:off x="2121408" y="3200400"/>
            <a:ext cx="164592" cy="411480"/>
          </a:xfrm>
          <a:prstGeom prst="roundRect">
            <a:avLst>
              <a:gd name="adj" fmla="val 40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21408" y="3273552"/>
            <a:ext cx="164592" cy="274320"/>
          </a:xfrm>
          <a:prstGeom prst="rect">
            <a:avLst/>
          </a:prstGeom>
          <a:noFill/>
        </p:spPr>
        <p:txBody>
          <a:bodyPr wrap="square" lIns="0" rIns="0" tIns="0" bIns="0" anchor="t">
            <a:spAutoFit/>
          </a:bodyPr>
          <a:lstStyle/>
          <a:p>
            <a:pPr algn="ctr"/>
            <a:r>
              <a:rPr sz="1000" b="1">
                <a:solidFill>
                  <a:srgbClr val="1E293B"/>
                </a:solidFill>
                <a:latin typeface="Calibri"/>
              </a:rPr>
              <a:t>8</a:t>
            </a:r>
          </a:p>
        </p:txBody>
      </p:sp>
      <p:sp>
        <p:nvSpPr>
          <p:cNvPr id="29" name="Rounded Rectangle 28"/>
          <p:cNvSpPr/>
          <p:nvPr/>
        </p:nvSpPr>
        <p:spPr>
          <a:xfrm>
            <a:off x="2313432" y="3200400"/>
            <a:ext cx="164592" cy="411480"/>
          </a:xfrm>
          <a:prstGeom prst="roundRect">
            <a:avLst>
              <a:gd name="adj" fmla="val 40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313432" y="3273552"/>
            <a:ext cx="164592" cy="274320"/>
          </a:xfrm>
          <a:prstGeom prst="rect">
            <a:avLst/>
          </a:prstGeom>
          <a:noFill/>
        </p:spPr>
        <p:txBody>
          <a:bodyPr wrap="square" lIns="0" rIns="0" tIns="0" bIns="0" anchor="t">
            <a:spAutoFit/>
          </a:bodyPr>
          <a:lstStyle/>
          <a:p>
            <a:pPr algn="ctr"/>
            <a:r>
              <a:rPr sz="1000" b="1">
                <a:solidFill>
                  <a:srgbClr val="1E293B"/>
                </a:solidFill>
                <a:latin typeface="Calibri"/>
              </a:rPr>
              <a:t>9</a:t>
            </a:r>
          </a:p>
        </p:txBody>
      </p:sp>
      <p:sp>
        <p:nvSpPr>
          <p:cNvPr id="31" name="Rounded Rectangle 30"/>
          <p:cNvSpPr/>
          <p:nvPr/>
        </p:nvSpPr>
        <p:spPr>
          <a:xfrm>
            <a:off x="2505456" y="3200400"/>
            <a:ext cx="164592" cy="411480"/>
          </a:xfrm>
          <a:prstGeom prst="roundRect">
            <a:avLst>
              <a:gd name="adj" fmla="val 40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05456" y="3273552"/>
            <a:ext cx="164592" cy="274320"/>
          </a:xfrm>
          <a:prstGeom prst="rect">
            <a:avLst/>
          </a:prstGeom>
          <a:noFill/>
        </p:spPr>
        <p:txBody>
          <a:bodyPr wrap="square" lIns="0" rIns="0" tIns="0" bIns="0" anchor="t">
            <a:spAutoFit/>
          </a:bodyPr>
          <a:lstStyle/>
          <a:p>
            <a:pPr algn="ctr"/>
            <a:r>
              <a:rPr sz="1000" b="1">
                <a:solidFill>
                  <a:srgbClr val="1E293B"/>
                </a:solidFill>
                <a:latin typeface="Calibri"/>
              </a:rPr>
              <a:t>10</a:t>
            </a:r>
          </a:p>
        </p:txBody>
      </p:sp>
      <p:sp>
        <p:nvSpPr>
          <p:cNvPr id="33" name="TextBox 32"/>
          <p:cNvSpPr txBox="1"/>
          <p:nvPr/>
        </p:nvSpPr>
        <p:spPr>
          <a:xfrm>
            <a:off x="457200" y="3931920"/>
            <a:ext cx="2560320" cy="274320"/>
          </a:xfrm>
          <a:prstGeom prst="rect">
            <a:avLst/>
          </a:prstGeom>
          <a:noFill/>
        </p:spPr>
        <p:txBody>
          <a:bodyPr wrap="square" lIns="0" rIns="0" tIns="0" bIns="0" anchor="t">
            <a:spAutoFit/>
          </a:bodyPr>
          <a:lstStyle/>
          <a:p>
            <a:pPr algn="ctr"/>
            <a:r>
              <a:rPr sz="1200" b="1">
                <a:solidFill>
                  <a:srgbClr val="005A2B"/>
                </a:solidFill>
                <a:latin typeface="Calibri"/>
              </a:rPr>
              <a:t>Andri valdi: 7</a:t>
            </a:r>
          </a:p>
        </p:txBody>
      </p:sp>
      <p:sp>
        <p:nvSpPr>
          <p:cNvPr id="34" name="TextBox 33"/>
          <p:cNvSpPr txBox="1"/>
          <p:nvPr/>
        </p:nvSpPr>
        <p:spPr>
          <a:xfrm>
            <a:off x="457200" y="4297680"/>
            <a:ext cx="2194560" cy="1371600"/>
          </a:xfrm>
          <a:prstGeom prst="rect">
            <a:avLst/>
          </a:prstGeom>
          <a:noFill/>
        </p:spPr>
        <p:txBody>
          <a:bodyPr wrap="square" lIns="0" rIns="0" tIns="0" bIns="0" anchor="t">
            <a:spAutoFit/>
          </a:bodyPr>
          <a:lstStyle/>
          <a:p>
            <a:pPr algn="ctr"/>
            <a:r>
              <a:rPr sz="1100" b="0">
                <a:solidFill>
                  <a:srgbClr val="64748B"/>
                </a:solidFill>
                <a:latin typeface="Calibri"/>
              </a:rPr>
              <a:t>Lengd: 90 mín
Sent: 13:14</a:t>
            </a:r>
          </a:p>
        </p:txBody>
      </p:sp>
      <p:sp>
        <p:nvSpPr>
          <p:cNvPr id="35" name="Rounded Rectangle 34"/>
          <p:cNvSpPr/>
          <p:nvPr/>
        </p:nvSpPr>
        <p:spPr>
          <a:xfrm>
            <a:off x="3383280" y="1828800"/>
            <a:ext cx="8412480" cy="420624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0" y="2057400"/>
            <a:ext cx="7315200" cy="274320"/>
          </a:xfrm>
          <a:prstGeom prst="rect">
            <a:avLst/>
          </a:prstGeom>
          <a:noFill/>
        </p:spPr>
        <p:txBody>
          <a:bodyPr wrap="square" lIns="0" rIns="0" tIns="0" bIns="0" anchor="t">
            <a:spAutoFit/>
          </a:bodyPr>
          <a:lstStyle/>
          <a:p>
            <a:pPr algn="l"/>
            <a:r>
              <a:rPr sz="1000" b="1">
                <a:solidFill>
                  <a:srgbClr val="64748B"/>
                </a:solidFill>
                <a:latin typeface="Calibri"/>
              </a:rPr>
              <a:t>LIVE FEED · 7 of 19 trained players submitted</a:t>
            </a:r>
          </a:p>
        </p:txBody>
      </p:sp>
      <p:sp>
        <p:nvSpPr>
          <p:cNvPr id="37" name="TextBox 36"/>
          <p:cNvSpPr txBox="1"/>
          <p:nvPr/>
        </p:nvSpPr>
        <p:spPr>
          <a:xfrm>
            <a:off x="3657600" y="2331720"/>
            <a:ext cx="7315200" cy="457200"/>
          </a:xfrm>
          <a:prstGeom prst="rect">
            <a:avLst/>
          </a:prstGeom>
          <a:noFill/>
        </p:spPr>
        <p:txBody>
          <a:bodyPr wrap="square" lIns="0" rIns="0" tIns="0" bIns="0" anchor="t">
            <a:spAutoFit/>
          </a:bodyPr>
          <a:lstStyle/>
          <a:p>
            <a:pPr algn="l"/>
            <a:r>
              <a:rPr sz="2000" b="1">
                <a:solidFill>
                  <a:srgbClr val="1E293B"/>
                </a:solidFill>
                <a:latin typeface="Calibri"/>
              </a:rPr>
              <a:t>RPE arrivals</a:t>
            </a:r>
          </a:p>
        </p:txBody>
      </p:sp>
      <p:sp>
        <p:nvSpPr>
          <p:cNvPr id="38" name="TextBox 37"/>
          <p:cNvSpPr txBox="1"/>
          <p:nvPr/>
        </p:nvSpPr>
        <p:spPr>
          <a:xfrm>
            <a:off x="3657600" y="3264408"/>
            <a:ext cx="731520" cy="274320"/>
          </a:xfrm>
          <a:prstGeom prst="rect">
            <a:avLst/>
          </a:prstGeom>
          <a:noFill/>
        </p:spPr>
        <p:txBody>
          <a:bodyPr wrap="square" lIns="0" rIns="0" tIns="0" bIns="0" anchor="t">
            <a:spAutoFit/>
          </a:bodyPr>
          <a:lstStyle/>
          <a:p>
            <a:pPr algn="l"/>
            <a:r>
              <a:rPr sz="1000" b="0">
                <a:solidFill>
                  <a:srgbClr val="64748B"/>
                </a:solidFill>
                <a:latin typeface="Consolas"/>
              </a:rPr>
              <a:t>13:14</a:t>
            </a:r>
          </a:p>
        </p:txBody>
      </p:sp>
      <p:sp>
        <p:nvSpPr>
          <p:cNvPr id="39" name="TextBox 38"/>
          <p:cNvSpPr txBox="1"/>
          <p:nvPr/>
        </p:nvSpPr>
        <p:spPr>
          <a:xfrm>
            <a:off x="4480560" y="3227832"/>
            <a:ext cx="2377440" cy="365760"/>
          </a:xfrm>
          <a:prstGeom prst="rect">
            <a:avLst/>
          </a:prstGeom>
          <a:noFill/>
        </p:spPr>
        <p:txBody>
          <a:bodyPr wrap="square" lIns="0" rIns="0" tIns="0" bIns="0" anchor="t">
            <a:spAutoFit/>
          </a:bodyPr>
          <a:lstStyle/>
          <a:p>
            <a:pPr algn="l"/>
            <a:r>
              <a:rPr sz="1300" b="1">
                <a:solidFill>
                  <a:srgbClr val="1E293B"/>
                </a:solidFill>
                <a:latin typeface="Calibri"/>
              </a:rPr>
              <a:t>Andri Yeoman</a:t>
            </a:r>
          </a:p>
        </p:txBody>
      </p:sp>
      <p:sp>
        <p:nvSpPr>
          <p:cNvPr id="40" name="TextBox 39"/>
          <p:cNvSpPr txBox="1"/>
          <p:nvPr/>
        </p:nvSpPr>
        <p:spPr>
          <a:xfrm>
            <a:off x="7040880" y="3227832"/>
            <a:ext cx="2286000" cy="365760"/>
          </a:xfrm>
          <a:prstGeom prst="rect">
            <a:avLst/>
          </a:prstGeom>
          <a:noFill/>
        </p:spPr>
        <p:txBody>
          <a:bodyPr wrap="square" lIns="0" rIns="0" tIns="0" bIns="0" anchor="t">
            <a:spAutoFit/>
          </a:bodyPr>
          <a:lstStyle/>
          <a:p>
            <a:pPr algn="l"/>
            <a:r>
              <a:rPr sz="1300" b="0">
                <a:solidFill>
                  <a:srgbClr val="1E293B"/>
                </a:solidFill>
                <a:latin typeface="Calibri"/>
              </a:rPr>
              <a:t>RPE 7  ·  90 min</a:t>
            </a:r>
          </a:p>
        </p:txBody>
      </p:sp>
      <p:sp>
        <p:nvSpPr>
          <p:cNvPr id="41" name="TextBox 40"/>
          <p:cNvSpPr txBox="1"/>
          <p:nvPr/>
        </p:nvSpPr>
        <p:spPr>
          <a:xfrm>
            <a:off x="9326880" y="3227832"/>
            <a:ext cx="1645920" cy="365760"/>
          </a:xfrm>
          <a:prstGeom prst="rect">
            <a:avLst/>
          </a:prstGeom>
          <a:noFill/>
        </p:spPr>
        <p:txBody>
          <a:bodyPr wrap="square" lIns="0" rIns="0" tIns="0" bIns="0" anchor="t">
            <a:spAutoFit/>
          </a:bodyPr>
          <a:lstStyle/>
          <a:p>
            <a:pPr algn="l"/>
            <a:r>
              <a:rPr sz="1200" b="0">
                <a:solidFill>
                  <a:srgbClr val="64748B"/>
                </a:solidFill>
                <a:latin typeface="Calibri"/>
              </a:rPr>
              <a:t>session_load 630</a:t>
            </a:r>
          </a:p>
        </p:txBody>
      </p:sp>
      <p:sp>
        <p:nvSpPr>
          <p:cNvPr id="42" name="Rounded Rectangle 41"/>
          <p:cNvSpPr/>
          <p:nvPr/>
        </p:nvSpPr>
        <p:spPr>
          <a:xfrm>
            <a:off x="11064240" y="3200400"/>
            <a:ext cx="365760" cy="320040"/>
          </a:xfrm>
          <a:prstGeom prst="roundRect">
            <a:avLst>
              <a:gd name="adj" fmla="val 30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566160" y="3611880"/>
            <a:ext cx="8046720" cy="502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0" y="3767328"/>
            <a:ext cx="731520" cy="274320"/>
          </a:xfrm>
          <a:prstGeom prst="rect">
            <a:avLst/>
          </a:prstGeom>
          <a:noFill/>
        </p:spPr>
        <p:txBody>
          <a:bodyPr wrap="square" lIns="0" rIns="0" tIns="0" bIns="0" anchor="t">
            <a:spAutoFit/>
          </a:bodyPr>
          <a:lstStyle/>
          <a:p>
            <a:pPr algn="l"/>
            <a:r>
              <a:rPr sz="1000" b="0">
                <a:solidFill>
                  <a:srgbClr val="64748B"/>
                </a:solidFill>
                <a:latin typeface="Consolas"/>
              </a:rPr>
              <a:t>13:13</a:t>
            </a:r>
          </a:p>
        </p:txBody>
      </p:sp>
      <p:sp>
        <p:nvSpPr>
          <p:cNvPr id="45" name="TextBox 44"/>
          <p:cNvSpPr txBox="1"/>
          <p:nvPr/>
        </p:nvSpPr>
        <p:spPr>
          <a:xfrm>
            <a:off x="4480560" y="3730752"/>
            <a:ext cx="2377440" cy="365760"/>
          </a:xfrm>
          <a:prstGeom prst="rect">
            <a:avLst/>
          </a:prstGeom>
          <a:noFill/>
        </p:spPr>
        <p:txBody>
          <a:bodyPr wrap="square" lIns="0" rIns="0" tIns="0" bIns="0" anchor="t">
            <a:spAutoFit/>
          </a:bodyPr>
          <a:lstStyle/>
          <a:p>
            <a:pPr algn="l"/>
            <a:r>
              <a:rPr sz="1300" b="1">
                <a:solidFill>
                  <a:srgbClr val="1E293B"/>
                </a:solidFill>
                <a:latin typeface="Calibri"/>
              </a:rPr>
              <a:t>Magnús Olsen</a:t>
            </a:r>
          </a:p>
        </p:txBody>
      </p:sp>
      <p:sp>
        <p:nvSpPr>
          <p:cNvPr id="46" name="TextBox 45"/>
          <p:cNvSpPr txBox="1"/>
          <p:nvPr/>
        </p:nvSpPr>
        <p:spPr>
          <a:xfrm>
            <a:off x="7040880" y="3730752"/>
            <a:ext cx="2286000" cy="365760"/>
          </a:xfrm>
          <a:prstGeom prst="rect">
            <a:avLst/>
          </a:prstGeom>
          <a:noFill/>
        </p:spPr>
        <p:txBody>
          <a:bodyPr wrap="square" lIns="0" rIns="0" tIns="0" bIns="0" anchor="t">
            <a:spAutoFit/>
          </a:bodyPr>
          <a:lstStyle/>
          <a:p>
            <a:pPr algn="l"/>
            <a:r>
              <a:rPr sz="1300" b="0">
                <a:solidFill>
                  <a:srgbClr val="1E293B"/>
                </a:solidFill>
                <a:latin typeface="Calibri"/>
              </a:rPr>
              <a:t>RPE 7  ·  90 min</a:t>
            </a:r>
          </a:p>
        </p:txBody>
      </p:sp>
      <p:sp>
        <p:nvSpPr>
          <p:cNvPr id="47" name="TextBox 46"/>
          <p:cNvSpPr txBox="1"/>
          <p:nvPr/>
        </p:nvSpPr>
        <p:spPr>
          <a:xfrm>
            <a:off x="9326880" y="3730752"/>
            <a:ext cx="1645920" cy="365760"/>
          </a:xfrm>
          <a:prstGeom prst="rect">
            <a:avLst/>
          </a:prstGeom>
          <a:noFill/>
        </p:spPr>
        <p:txBody>
          <a:bodyPr wrap="square" lIns="0" rIns="0" tIns="0" bIns="0" anchor="t">
            <a:spAutoFit/>
          </a:bodyPr>
          <a:lstStyle/>
          <a:p>
            <a:pPr algn="l"/>
            <a:r>
              <a:rPr sz="1200" b="0">
                <a:solidFill>
                  <a:srgbClr val="64748B"/>
                </a:solidFill>
                <a:latin typeface="Calibri"/>
              </a:rPr>
              <a:t>session_load 630</a:t>
            </a:r>
          </a:p>
        </p:txBody>
      </p:sp>
      <p:sp>
        <p:nvSpPr>
          <p:cNvPr id="48" name="Rounded Rectangle 47"/>
          <p:cNvSpPr/>
          <p:nvPr/>
        </p:nvSpPr>
        <p:spPr>
          <a:xfrm>
            <a:off x="11064240" y="3703320"/>
            <a:ext cx="365760" cy="320040"/>
          </a:xfrm>
          <a:prstGeom prst="roundRect">
            <a:avLst>
              <a:gd name="adj" fmla="val 30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57600" y="4270248"/>
            <a:ext cx="731520" cy="274320"/>
          </a:xfrm>
          <a:prstGeom prst="rect">
            <a:avLst/>
          </a:prstGeom>
          <a:noFill/>
        </p:spPr>
        <p:txBody>
          <a:bodyPr wrap="square" lIns="0" rIns="0" tIns="0" bIns="0" anchor="t">
            <a:spAutoFit/>
          </a:bodyPr>
          <a:lstStyle/>
          <a:p>
            <a:pPr algn="l"/>
            <a:r>
              <a:rPr sz="1000" b="0">
                <a:solidFill>
                  <a:srgbClr val="64748B"/>
                </a:solidFill>
                <a:latin typeface="Consolas"/>
              </a:rPr>
              <a:t>13:12</a:t>
            </a:r>
          </a:p>
        </p:txBody>
      </p:sp>
      <p:sp>
        <p:nvSpPr>
          <p:cNvPr id="50" name="TextBox 49"/>
          <p:cNvSpPr txBox="1"/>
          <p:nvPr/>
        </p:nvSpPr>
        <p:spPr>
          <a:xfrm>
            <a:off x="4480560" y="4233672"/>
            <a:ext cx="2377440" cy="365760"/>
          </a:xfrm>
          <a:prstGeom prst="rect">
            <a:avLst/>
          </a:prstGeom>
          <a:noFill/>
        </p:spPr>
        <p:txBody>
          <a:bodyPr wrap="square" lIns="0" rIns="0" tIns="0" bIns="0" anchor="t">
            <a:spAutoFit/>
          </a:bodyPr>
          <a:lstStyle/>
          <a:p>
            <a:pPr algn="l"/>
            <a:r>
              <a:rPr sz="1300" b="1">
                <a:solidFill>
                  <a:srgbClr val="1E293B"/>
                </a:solidFill>
                <a:latin typeface="Calibri"/>
              </a:rPr>
              <a:t>Kristinn Steindórs</a:t>
            </a:r>
          </a:p>
        </p:txBody>
      </p:sp>
      <p:sp>
        <p:nvSpPr>
          <p:cNvPr id="51" name="TextBox 50"/>
          <p:cNvSpPr txBox="1"/>
          <p:nvPr/>
        </p:nvSpPr>
        <p:spPr>
          <a:xfrm>
            <a:off x="7040880" y="4233672"/>
            <a:ext cx="2286000" cy="365760"/>
          </a:xfrm>
          <a:prstGeom prst="rect">
            <a:avLst/>
          </a:prstGeom>
          <a:noFill/>
        </p:spPr>
        <p:txBody>
          <a:bodyPr wrap="square" lIns="0" rIns="0" tIns="0" bIns="0" anchor="t">
            <a:spAutoFit/>
          </a:bodyPr>
          <a:lstStyle/>
          <a:p>
            <a:pPr algn="l"/>
            <a:r>
              <a:rPr sz="1300" b="0">
                <a:solidFill>
                  <a:srgbClr val="1E293B"/>
                </a:solidFill>
                <a:latin typeface="Calibri"/>
              </a:rPr>
              <a:t>RPE 6  ·  90 min</a:t>
            </a:r>
          </a:p>
        </p:txBody>
      </p:sp>
      <p:sp>
        <p:nvSpPr>
          <p:cNvPr id="52" name="TextBox 51"/>
          <p:cNvSpPr txBox="1"/>
          <p:nvPr/>
        </p:nvSpPr>
        <p:spPr>
          <a:xfrm>
            <a:off x="9326880" y="4233672"/>
            <a:ext cx="1645920" cy="365760"/>
          </a:xfrm>
          <a:prstGeom prst="rect">
            <a:avLst/>
          </a:prstGeom>
          <a:noFill/>
        </p:spPr>
        <p:txBody>
          <a:bodyPr wrap="square" lIns="0" rIns="0" tIns="0" bIns="0" anchor="t">
            <a:spAutoFit/>
          </a:bodyPr>
          <a:lstStyle/>
          <a:p>
            <a:pPr algn="l"/>
            <a:r>
              <a:rPr sz="1200" b="0">
                <a:solidFill>
                  <a:srgbClr val="64748B"/>
                </a:solidFill>
                <a:latin typeface="Calibri"/>
              </a:rPr>
              <a:t>session_load 540</a:t>
            </a:r>
          </a:p>
        </p:txBody>
      </p:sp>
      <p:sp>
        <p:nvSpPr>
          <p:cNvPr id="53" name="Rounded Rectangle 52"/>
          <p:cNvSpPr/>
          <p:nvPr/>
        </p:nvSpPr>
        <p:spPr>
          <a:xfrm>
            <a:off x="11064240" y="4206240"/>
            <a:ext cx="365760" cy="320040"/>
          </a:xfrm>
          <a:prstGeom prst="roundRect">
            <a:avLst>
              <a:gd name="adj" fmla="val 30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566160" y="4617720"/>
            <a:ext cx="8046720" cy="502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657600" y="4773168"/>
            <a:ext cx="731520" cy="274320"/>
          </a:xfrm>
          <a:prstGeom prst="rect">
            <a:avLst/>
          </a:prstGeom>
          <a:noFill/>
        </p:spPr>
        <p:txBody>
          <a:bodyPr wrap="square" lIns="0" rIns="0" tIns="0" bIns="0" anchor="t">
            <a:spAutoFit/>
          </a:bodyPr>
          <a:lstStyle/>
          <a:p>
            <a:pPr algn="l"/>
            <a:r>
              <a:rPr sz="1000" b="0">
                <a:solidFill>
                  <a:srgbClr val="64748B"/>
                </a:solidFill>
                <a:latin typeface="Consolas"/>
              </a:rPr>
              <a:t>13:11</a:t>
            </a:r>
          </a:p>
        </p:txBody>
      </p:sp>
      <p:sp>
        <p:nvSpPr>
          <p:cNvPr id="56" name="TextBox 55"/>
          <p:cNvSpPr txBox="1"/>
          <p:nvPr/>
        </p:nvSpPr>
        <p:spPr>
          <a:xfrm>
            <a:off x="4480560" y="4736592"/>
            <a:ext cx="2377440" cy="365760"/>
          </a:xfrm>
          <a:prstGeom prst="rect">
            <a:avLst/>
          </a:prstGeom>
          <a:noFill/>
        </p:spPr>
        <p:txBody>
          <a:bodyPr wrap="square" lIns="0" rIns="0" tIns="0" bIns="0" anchor="t">
            <a:spAutoFit/>
          </a:bodyPr>
          <a:lstStyle/>
          <a:p>
            <a:pPr algn="l"/>
            <a:r>
              <a:rPr sz="1300" b="1">
                <a:solidFill>
                  <a:srgbClr val="1E293B"/>
                </a:solidFill>
                <a:latin typeface="Calibri"/>
              </a:rPr>
              <a:t>Arnór Gauti</a:t>
            </a:r>
          </a:p>
        </p:txBody>
      </p:sp>
      <p:sp>
        <p:nvSpPr>
          <p:cNvPr id="57" name="TextBox 56"/>
          <p:cNvSpPr txBox="1"/>
          <p:nvPr/>
        </p:nvSpPr>
        <p:spPr>
          <a:xfrm>
            <a:off x="7040880" y="4736592"/>
            <a:ext cx="2286000" cy="365760"/>
          </a:xfrm>
          <a:prstGeom prst="rect">
            <a:avLst/>
          </a:prstGeom>
          <a:noFill/>
        </p:spPr>
        <p:txBody>
          <a:bodyPr wrap="square" lIns="0" rIns="0" tIns="0" bIns="0" anchor="t">
            <a:spAutoFit/>
          </a:bodyPr>
          <a:lstStyle/>
          <a:p>
            <a:pPr algn="l"/>
            <a:r>
              <a:rPr sz="1300" b="0">
                <a:solidFill>
                  <a:srgbClr val="1E293B"/>
                </a:solidFill>
                <a:latin typeface="Calibri"/>
              </a:rPr>
              <a:t>RPE 5  ·  60 min</a:t>
            </a:r>
          </a:p>
        </p:txBody>
      </p:sp>
      <p:sp>
        <p:nvSpPr>
          <p:cNvPr id="58" name="TextBox 57"/>
          <p:cNvSpPr txBox="1"/>
          <p:nvPr/>
        </p:nvSpPr>
        <p:spPr>
          <a:xfrm>
            <a:off x="9326880" y="4736592"/>
            <a:ext cx="1645920" cy="365760"/>
          </a:xfrm>
          <a:prstGeom prst="rect">
            <a:avLst/>
          </a:prstGeom>
          <a:noFill/>
        </p:spPr>
        <p:txBody>
          <a:bodyPr wrap="square" lIns="0" rIns="0" tIns="0" bIns="0" anchor="t">
            <a:spAutoFit/>
          </a:bodyPr>
          <a:lstStyle/>
          <a:p>
            <a:pPr algn="l"/>
            <a:r>
              <a:rPr sz="1200" b="0">
                <a:solidFill>
                  <a:srgbClr val="64748B"/>
                </a:solidFill>
                <a:latin typeface="Calibri"/>
              </a:rPr>
              <a:t>session_load 300</a:t>
            </a:r>
          </a:p>
        </p:txBody>
      </p:sp>
      <p:sp>
        <p:nvSpPr>
          <p:cNvPr id="59" name="Rounded Rectangle 58"/>
          <p:cNvSpPr/>
          <p:nvPr/>
        </p:nvSpPr>
        <p:spPr>
          <a:xfrm>
            <a:off x="11064240" y="4709160"/>
            <a:ext cx="365760" cy="320040"/>
          </a:xfrm>
          <a:prstGeom prst="roundRect">
            <a:avLst>
              <a:gd name="adj" fmla="val 3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57600" y="5276088"/>
            <a:ext cx="731520" cy="274320"/>
          </a:xfrm>
          <a:prstGeom prst="rect">
            <a:avLst/>
          </a:prstGeom>
          <a:noFill/>
        </p:spPr>
        <p:txBody>
          <a:bodyPr wrap="square" lIns="0" rIns="0" tIns="0" bIns="0" anchor="t">
            <a:spAutoFit/>
          </a:bodyPr>
          <a:lstStyle/>
          <a:p>
            <a:pPr algn="l"/>
            <a:r>
              <a:rPr sz="1000" b="0">
                <a:solidFill>
                  <a:srgbClr val="64748B"/>
                </a:solidFill>
                <a:latin typeface="Consolas"/>
              </a:rPr>
              <a:t>13:10</a:t>
            </a:r>
          </a:p>
        </p:txBody>
      </p:sp>
      <p:sp>
        <p:nvSpPr>
          <p:cNvPr id="61" name="TextBox 60"/>
          <p:cNvSpPr txBox="1"/>
          <p:nvPr/>
        </p:nvSpPr>
        <p:spPr>
          <a:xfrm>
            <a:off x="4480560" y="5239512"/>
            <a:ext cx="2377440" cy="365760"/>
          </a:xfrm>
          <a:prstGeom prst="rect">
            <a:avLst/>
          </a:prstGeom>
          <a:noFill/>
        </p:spPr>
        <p:txBody>
          <a:bodyPr wrap="square" lIns="0" rIns="0" tIns="0" bIns="0" anchor="t">
            <a:spAutoFit/>
          </a:bodyPr>
          <a:lstStyle/>
          <a:p>
            <a:pPr algn="l"/>
            <a:r>
              <a:rPr sz="1300" b="1">
                <a:solidFill>
                  <a:srgbClr val="1E293B"/>
                </a:solidFill>
                <a:latin typeface="Calibri"/>
              </a:rPr>
              <a:t>Viktor Karl</a:t>
            </a:r>
          </a:p>
        </p:txBody>
      </p:sp>
      <p:sp>
        <p:nvSpPr>
          <p:cNvPr id="62" name="TextBox 61"/>
          <p:cNvSpPr txBox="1"/>
          <p:nvPr/>
        </p:nvSpPr>
        <p:spPr>
          <a:xfrm>
            <a:off x="7040880" y="5239512"/>
            <a:ext cx="2286000" cy="365760"/>
          </a:xfrm>
          <a:prstGeom prst="rect">
            <a:avLst/>
          </a:prstGeom>
          <a:noFill/>
        </p:spPr>
        <p:txBody>
          <a:bodyPr wrap="square" lIns="0" rIns="0" tIns="0" bIns="0" anchor="t">
            <a:spAutoFit/>
          </a:bodyPr>
          <a:lstStyle/>
          <a:p>
            <a:pPr algn="l"/>
            <a:r>
              <a:rPr sz="1300" b="0">
                <a:solidFill>
                  <a:srgbClr val="1E293B"/>
                </a:solidFill>
                <a:latin typeface="Calibri"/>
              </a:rPr>
              <a:t>RPE 3  ·  35 min pool</a:t>
            </a:r>
          </a:p>
        </p:txBody>
      </p:sp>
      <p:sp>
        <p:nvSpPr>
          <p:cNvPr id="63" name="TextBox 62"/>
          <p:cNvSpPr txBox="1"/>
          <p:nvPr/>
        </p:nvSpPr>
        <p:spPr>
          <a:xfrm>
            <a:off x="9326880" y="5239512"/>
            <a:ext cx="1645920" cy="365760"/>
          </a:xfrm>
          <a:prstGeom prst="rect">
            <a:avLst/>
          </a:prstGeom>
          <a:noFill/>
        </p:spPr>
        <p:txBody>
          <a:bodyPr wrap="square" lIns="0" rIns="0" tIns="0" bIns="0" anchor="t">
            <a:spAutoFit/>
          </a:bodyPr>
          <a:lstStyle/>
          <a:p>
            <a:pPr algn="l"/>
            <a:r>
              <a:rPr sz="1200" b="0">
                <a:solidFill>
                  <a:srgbClr val="64748B"/>
                </a:solidFill>
                <a:latin typeface="Calibri"/>
              </a:rPr>
              <a:t>session_load 105</a:t>
            </a:r>
          </a:p>
        </p:txBody>
      </p:sp>
      <p:sp>
        <p:nvSpPr>
          <p:cNvPr id="64" name="Rounded Rectangle 63"/>
          <p:cNvSpPr/>
          <p:nvPr/>
        </p:nvSpPr>
        <p:spPr>
          <a:xfrm>
            <a:off x="11064240" y="5212080"/>
            <a:ext cx="365760" cy="320040"/>
          </a:xfrm>
          <a:prstGeom prst="roundRect">
            <a:avLst>
              <a:gd name="adj" fmla="val 3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1247120" y="6446520"/>
            <a:ext cx="914400" cy="274320"/>
          </a:xfrm>
          <a:prstGeom prst="rect">
            <a:avLst/>
          </a:prstGeom>
          <a:noFill/>
        </p:spPr>
        <p:txBody>
          <a:bodyPr wrap="square" lIns="0" rIns="0" tIns="0" bIns="0" anchor="t">
            <a:spAutoFit/>
          </a:bodyPr>
          <a:lstStyle/>
          <a:p>
            <a:pPr algn="r"/>
            <a:r>
              <a:rPr sz="900" b="0">
                <a:solidFill>
                  <a:srgbClr val="64748B"/>
                </a:solidFill>
                <a:latin typeface="Calibri"/>
              </a:rPr>
              <a:t>09 / 14</a:t>
            </a:r>
          </a:p>
        </p:txBody>
      </p:sp>
      <p:sp>
        <p:nvSpPr>
          <p:cNvPr id="66" name="TextBox 65"/>
          <p:cNvSpPr txBox="1"/>
          <p:nvPr/>
        </p:nvSpPr>
        <p:spPr>
          <a:xfrm>
            <a:off x="365760" y="6446520"/>
            <a:ext cx="54864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828800" cy="274320"/>
          </a:xfrm>
          <a:prstGeom prst="rect">
            <a:avLst/>
          </a:prstGeom>
          <a:noFill/>
        </p:spPr>
        <p:txBody>
          <a:bodyPr wrap="square" lIns="0" rIns="0" tIns="0" bIns="0" anchor="t">
            <a:spAutoFit/>
          </a:bodyPr>
          <a:lstStyle/>
          <a:p>
            <a:pPr algn="l"/>
            <a:r>
              <a:rPr sz="1000" b="1">
                <a:solidFill>
                  <a:srgbClr val="29B7E6"/>
                </a:solidFill>
                <a:latin typeface="Calibri"/>
              </a:rPr>
              <a:t>MICROPULSE  ·  COACH</a:t>
            </a:r>
          </a:p>
        </p:txBody>
      </p:sp>
      <p:sp>
        <p:nvSpPr>
          <p:cNvPr id="5" name="TextBox 4"/>
          <p:cNvSpPr txBox="1"/>
          <p:nvPr/>
        </p:nvSpPr>
        <p:spPr>
          <a:xfrm>
            <a:off x="2468880" y="91440"/>
            <a:ext cx="6400800" cy="274320"/>
          </a:xfrm>
          <a:prstGeom prst="rect">
            <a:avLst/>
          </a:prstGeom>
          <a:noFill/>
        </p:spPr>
        <p:txBody>
          <a:bodyPr wrap="square" lIns="0" rIns="0" tIns="0" bIns="0" anchor="t">
            <a:spAutoFit/>
          </a:bodyPr>
          <a:lstStyle/>
          <a:p>
            <a:pPr algn="l"/>
            <a:r>
              <a:rPr sz="1000" b="0">
                <a:solidFill>
                  <a:srgbClr val="FFFFFF"/>
                </a:solidFill>
                <a:latin typeface="Calibri"/>
              </a:rPr>
              <a:t>/coach  ·  Catapult sync · Monday Apr 22</a:t>
            </a:r>
          </a:p>
        </p:txBody>
      </p:sp>
      <p:sp>
        <p:nvSpPr>
          <p:cNvPr id="6" name="TextBox 5"/>
          <p:cNvSpPr txBox="1"/>
          <p:nvPr/>
        </p:nvSpPr>
        <p:spPr>
          <a:xfrm>
            <a:off x="10515600" y="91440"/>
            <a:ext cx="1371600" cy="274320"/>
          </a:xfrm>
          <a:prstGeom prst="rect">
            <a:avLst/>
          </a:prstGeom>
          <a:noFill/>
        </p:spPr>
        <p:txBody>
          <a:bodyPr wrap="square" lIns="0" rIns="0" tIns="0" bIns="0" anchor="t">
            <a:spAutoFit/>
          </a:bodyPr>
          <a:lstStyle/>
          <a:p>
            <a:pPr algn="r"/>
            <a:r>
              <a:rPr sz="1000" b="0">
                <a:solidFill>
                  <a:srgbClr val="29B7E6"/>
                </a:solidFill>
                <a:latin typeface="Calibri"/>
              </a:rPr>
              <a:t>15:30</a:t>
            </a:r>
          </a:p>
        </p:txBody>
      </p:sp>
      <p:sp>
        <p:nvSpPr>
          <p:cNvPr id="7" name="TextBox 6"/>
          <p:cNvSpPr txBox="1"/>
          <p:nvPr/>
        </p:nvSpPr>
        <p:spPr>
          <a:xfrm>
            <a:off x="365760" y="594360"/>
            <a:ext cx="7315200" cy="274320"/>
          </a:xfrm>
          <a:prstGeom prst="rect">
            <a:avLst/>
          </a:prstGeom>
          <a:noFill/>
        </p:spPr>
        <p:txBody>
          <a:bodyPr wrap="square" lIns="0" rIns="0" tIns="0" bIns="0" anchor="t">
            <a:spAutoFit/>
          </a:bodyPr>
          <a:lstStyle/>
          <a:p>
            <a:pPr algn="l"/>
            <a:r>
              <a:rPr sz="1100" b="1">
                <a:solidFill>
                  <a:srgbClr val="005A2B"/>
                </a:solidFill>
                <a:latin typeface="Calibri"/>
              </a:rPr>
              <a:t>15:30  ·  AUTOMATIC DECOUPLING CHECK</a:t>
            </a:r>
          </a:p>
        </p:txBody>
      </p:sp>
      <p:sp>
        <p:nvSpPr>
          <p:cNvPr id="8" name="TextBox 7"/>
          <p:cNvSpPr txBox="1"/>
          <p:nvPr/>
        </p:nvSpPr>
        <p:spPr>
          <a:xfrm>
            <a:off x="365760" y="868680"/>
            <a:ext cx="11430000" cy="640080"/>
          </a:xfrm>
          <a:prstGeom prst="rect">
            <a:avLst/>
          </a:prstGeom>
          <a:noFill/>
        </p:spPr>
        <p:txBody>
          <a:bodyPr wrap="square" lIns="0" rIns="0" tIns="0" bIns="0" anchor="t">
            <a:spAutoFit/>
          </a:bodyPr>
          <a:lstStyle/>
          <a:p>
            <a:pPr algn="l"/>
            <a:r>
              <a:rPr sz="2800" b="1">
                <a:solidFill>
                  <a:srgbClr val="1E293B"/>
                </a:solidFill>
                <a:latin typeface="Calibri"/>
              </a:rPr>
              <a:t>GPS pods sync. The system computes internal:external load drift.</a:t>
            </a:r>
          </a:p>
        </p:txBody>
      </p:sp>
      <p:sp>
        <p:nvSpPr>
          <p:cNvPr id="9" name="TextBox 8"/>
          <p:cNvSpPr txBox="1"/>
          <p:nvPr/>
        </p:nvSpPr>
        <p:spPr>
          <a:xfrm>
            <a:off x="457200" y="1828800"/>
            <a:ext cx="10972800" cy="365760"/>
          </a:xfrm>
          <a:prstGeom prst="rect">
            <a:avLst/>
          </a:prstGeom>
          <a:noFill/>
        </p:spPr>
        <p:txBody>
          <a:bodyPr wrap="square" lIns="0" rIns="0" tIns="0" bIns="0" anchor="t">
            <a:spAutoFit/>
          </a:bodyPr>
          <a:lstStyle/>
          <a:p>
            <a:pPr algn="l"/>
            <a:r>
              <a:rPr sz="1100" b="1">
                <a:solidFill>
                  <a:srgbClr val="64748B"/>
                </a:solidFill>
                <a:latin typeface="Calibri"/>
              </a:rPr>
              <a:t>DATA FLOW</a:t>
            </a:r>
          </a:p>
        </p:txBody>
      </p:sp>
      <p:sp>
        <p:nvSpPr>
          <p:cNvPr id="10" name="Rounded Rectangle 9"/>
          <p:cNvSpPr/>
          <p:nvPr/>
        </p:nvSpPr>
        <p:spPr>
          <a:xfrm>
            <a:off x="457200" y="2194560"/>
            <a:ext cx="2103120" cy="914400"/>
          </a:xfrm>
          <a:prstGeom prst="roundRect">
            <a:avLst>
              <a:gd name="adj" fmla="val 6000"/>
            </a:avLst>
          </a:prstGeom>
          <a:solidFill>
            <a:srgbClr val="003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359152"/>
            <a:ext cx="2103120" cy="365760"/>
          </a:xfrm>
          <a:prstGeom prst="rect">
            <a:avLst/>
          </a:prstGeom>
          <a:noFill/>
        </p:spPr>
        <p:txBody>
          <a:bodyPr wrap="square" lIns="0" rIns="0" tIns="0" bIns="0" anchor="t">
            <a:spAutoFit/>
          </a:bodyPr>
          <a:lstStyle/>
          <a:p>
            <a:pPr algn="ctr"/>
            <a:r>
              <a:rPr sz="1400" b="1">
                <a:solidFill>
                  <a:srgbClr val="FFFFFF"/>
                </a:solidFill>
                <a:latin typeface="Calibri"/>
              </a:rPr>
              <a:t>Catapult</a:t>
            </a:r>
          </a:p>
        </p:txBody>
      </p:sp>
      <p:sp>
        <p:nvSpPr>
          <p:cNvPr id="12" name="TextBox 11"/>
          <p:cNvSpPr txBox="1"/>
          <p:nvPr/>
        </p:nvSpPr>
        <p:spPr>
          <a:xfrm>
            <a:off x="457200" y="2697480"/>
            <a:ext cx="2103120" cy="320040"/>
          </a:xfrm>
          <a:prstGeom prst="rect">
            <a:avLst/>
          </a:prstGeom>
          <a:noFill/>
        </p:spPr>
        <p:txBody>
          <a:bodyPr wrap="square" lIns="0" rIns="0" tIns="0" bIns="0" anchor="t">
            <a:spAutoFit/>
          </a:bodyPr>
          <a:lstStyle/>
          <a:p>
            <a:pPr algn="ctr"/>
            <a:r>
              <a:rPr sz="1000" b="0">
                <a:solidFill>
                  <a:srgbClr val="29B7E6"/>
                </a:solidFill>
                <a:latin typeface="Calibri"/>
              </a:rPr>
              <a:t>GPS pods → cloud</a:t>
            </a:r>
          </a:p>
        </p:txBody>
      </p:sp>
      <p:sp>
        <p:nvSpPr>
          <p:cNvPr id="13" name="TextBox 12"/>
          <p:cNvSpPr txBox="1"/>
          <p:nvPr/>
        </p:nvSpPr>
        <p:spPr>
          <a:xfrm>
            <a:off x="2578608" y="2487168"/>
            <a:ext cx="164592" cy="365760"/>
          </a:xfrm>
          <a:prstGeom prst="rect">
            <a:avLst/>
          </a:prstGeom>
          <a:noFill/>
        </p:spPr>
        <p:txBody>
          <a:bodyPr wrap="square" lIns="0" rIns="0" tIns="0" bIns="0" anchor="t">
            <a:spAutoFit/>
          </a:bodyPr>
          <a:lstStyle/>
          <a:p>
            <a:pPr algn="ctr"/>
            <a:r>
              <a:rPr sz="2200" b="1">
                <a:solidFill>
                  <a:srgbClr val="64748B"/>
                </a:solidFill>
                <a:latin typeface="Calibri"/>
              </a:rPr>
              <a:t>›</a:t>
            </a:r>
          </a:p>
        </p:txBody>
      </p:sp>
      <p:sp>
        <p:nvSpPr>
          <p:cNvPr id="14" name="Rounded Rectangle 13"/>
          <p:cNvSpPr/>
          <p:nvPr/>
        </p:nvSpPr>
        <p:spPr>
          <a:xfrm>
            <a:off x="2743200" y="2194560"/>
            <a:ext cx="2103120" cy="914400"/>
          </a:xfrm>
          <a:prstGeom prst="roundRect">
            <a:avLst>
              <a:gd name="adj" fmla="val 6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0" y="2359152"/>
            <a:ext cx="2103120" cy="365760"/>
          </a:xfrm>
          <a:prstGeom prst="rect">
            <a:avLst/>
          </a:prstGeom>
          <a:noFill/>
        </p:spPr>
        <p:txBody>
          <a:bodyPr wrap="square" lIns="0" rIns="0" tIns="0" bIns="0" anchor="t">
            <a:spAutoFit/>
          </a:bodyPr>
          <a:lstStyle/>
          <a:p>
            <a:pPr algn="ctr"/>
            <a:r>
              <a:rPr sz="1400" b="1">
                <a:solidFill>
                  <a:srgbClr val="FFFFFF"/>
                </a:solidFill>
                <a:latin typeface="Calibri"/>
              </a:rPr>
              <a:t>MicroPulse</a:t>
            </a:r>
          </a:p>
        </p:txBody>
      </p:sp>
      <p:sp>
        <p:nvSpPr>
          <p:cNvPr id="16" name="TextBox 15"/>
          <p:cNvSpPr txBox="1"/>
          <p:nvPr/>
        </p:nvSpPr>
        <p:spPr>
          <a:xfrm>
            <a:off x="2743200" y="2697480"/>
            <a:ext cx="2103120" cy="320040"/>
          </a:xfrm>
          <a:prstGeom prst="rect">
            <a:avLst/>
          </a:prstGeom>
          <a:noFill/>
        </p:spPr>
        <p:txBody>
          <a:bodyPr wrap="square" lIns="0" rIns="0" tIns="0" bIns="0" anchor="t">
            <a:spAutoFit/>
          </a:bodyPr>
          <a:lstStyle/>
          <a:p>
            <a:pPr algn="ctr"/>
            <a:r>
              <a:rPr sz="1000" b="0">
                <a:solidFill>
                  <a:srgbClr val="29B7E6"/>
                </a:solidFill>
                <a:latin typeface="Calibri"/>
              </a:rPr>
              <a:t>Auto-import + match</a:t>
            </a:r>
          </a:p>
        </p:txBody>
      </p:sp>
      <p:sp>
        <p:nvSpPr>
          <p:cNvPr id="17" name="TextBox 16"/>
          <p:cNvSpPr txBox="1"/>
          <p:nvPr/>
        </p:nvSpPr>
        <p:spPr>
          <a:xfrm>
            <a:off x="4864608" y="2487168"/>
            <a:ext cx="164592" cy="365760"/>
          </a:xfrm>
          <a:prstGeom prst="rect">
            <a:avLst/>
          </a:prstGeom>
          <a:noFill/>
        </p:spPr>
        <p:txBody>
          <a:bodyPr wrap="square" lIns="0" rIns="0" tIns="0" bIns="0" anchor="t">
            <a:spAutoFit/>
          </a:bodyPr>
          <a:lstStyle/>
          <a:p>
            <a:pPr algn="ctr"/>
            <a:r>
              <a:rPr sz="2200" b="1">
                <a:solidFill>
                  <a:srgbClr val="64748B"/>
                </a:solidFill>
                <a:latin typeface="Calibri"/>
              </a:rPr>
              <a:t>›</a:t>
            </a:r>
          </a:p>
        </p:txBody>
      </p:sp>
      <p:sp>
        <p:nvSpPr>
          <p:cNvPr id="18" name="Rounded Rectangle 17"/>
          <p:cNvSpPr/>
          <p:nvPr/>
        </p:nvSpPr>
        <p:spPr>
          <a:xfrm>
            <a:off x="5029200" y="2194560"/>
            <a:ext cx="2103120" cy="914400"/>
          </a:xfrm>
          <a:prstGeom prst="roundRect">
            <a:avLst>
              <a:gd name="adj" fmla="val 6000"/>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0" y="2359152"/>
            <a:ext cx="2103120" cy="365760"/>
          </a:xfrm>
          <a:prstGeom prst="rect">
            <a:avLst/>
          </a:prstGeom>
          <a:noFill/>
        </p:spPr>
        <p:txBody>
          <a:bodyPr wrap="square" lIns="0" rIns="0" tIns="0" bIns="0" anchor="t">
            <a:spAutoFit/>
          </a:bodyPr>
          <a:lstStyle/>
          <a:p>
            <a:pPr algn="ctr"/>
            <a:r>
              <a:rPr sz="1400" b="1">
                <a:solidFill>
                  <a:srgbClr val="FFFFFF"/>
                </a:solidFill>
                <a:latin typeface="Calibri"/>
              </a:rPr>
              <a:t>Decoupling</a:t>
            </a:r>
          </a:p>
        </p:txBody>
      </p:sp>
      <p:sp>
        <p:nvSpPr>
          <p:cNvPr id="20" name="TextBox 19"/>
          <p:cNvSpPr txBox="1"/>
          <p:nvPr/>
        </p:nvSpPr>
        <p:spPr>
          <a:xfrm>
            <a:off x="5029200" y="2697480"/>
            <a:ext cx="2103120" cy="320040"/>
          </a:xfrm>
          <a:prstGeom prst="rect">
            <a:avLst/>
          </a:prstGeom>
          <a:noFill/>
        </p:spPr>
        <p:txBody>
          <a:bodyPr wrap="square" lIns="0" rIns="0" tIns="0" bIns="0" anchor="t">
            <a:spAutoFit/>
          </a:bodyPr>
          <a:lstStyle/>
          <a:p>
            <a:pPr algn="ctr"/>
            <a:r>
              <a:rPr sz="1000" b="0">
                <a:solidFill>
                  <a:srgbClr val="FFFFFF"/>
                </a:solidFill>
                <a:latin typeface="Calibri"/>
              </a:rPr>
              <a:t>RPE × duration / km</a:t>
            </a:r>
          </a:p>
        </p:txBody>
      </p:sp>
      <p:sp>
        <p:nvSpPr>
          <p:cNvPr id="21" name="TextBox 20"/>
          <p:cNvSpPr txBox="1"/>
          <p:nvPr/>
        </p:nvSpPr>
        <p:spPr>
          <a:xfrm>
            <a:off x="7150608" y="2487168"/>
            <a:ext cx="164592" cy="365760"/>
          </a:xfrm>
          <a:prstGeom prst="rect">
            <a:avLst/>
          </a:prstGeom>
          <a:noFill/>
        </p:spPr>
        <p:txBody>
          <a:bodyPr wrap="square" lIns="0" rIns="0" tIns="0" bIns="0" anchor="t">
            <a:spAutoFit/>
          </a:bodyPr>
          <a:lstStyle/>
          <a:p>
            <a:pPr algn="ctr"/>
            <a:r>
              <a:rPr sz="2200" b="1">
                <a:solidFill>
                  <a:srgbClr val="64748B"/>
                </a:solidFill>
                <a:latin typeface="Calibri"/>
              </a:rPr>
              <a:t>›</a:t>
            </a:r>
          </a:p>
        </p:txBody>
      </p:sp>
      <p:sp>
        <p:nvSpPr>
          <p:cNvPr id="22" name="Rounded Rectangle 21"/>
          <p:cNvSpPr/>
          <p:nvPr/>
        </p:nvSpPr>
        <p:spPr>
          <a:xfrm>
            <a:off x="7315200" y="2194560"/>
            <a:ext cx="2103120" cy="914400"/>
          </a:xfrm>
          <a:prstGeom prst="roundRect">
            <a:avLst>
              <a:gd name="adj" fmla="val 6000"/>
            </a:avLst>
          </a:prstGeom>
          <a:solidFill>
            <a:srgbClr val="29B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0" y="2359152"/>
            <a:ext cx="2103120" cy="365760"/>
          </a:xfrm>
          <a:prstGeom prst="rect">
            <a:avLst/>
          </a:prstGeom>
          <a:noFill/>
        </p:spPr>
        <p:txBody>
          <a:bodyPr wrap="square" lIns="0" rIns="0" tIns="0" bIns="0" anchor="t">
            <a:spAutoFit/>
          </a:bodyPr>
          <a:lstStyle/>
          <a:p>
            <a:pPr algn="ctr"/>
            <a:r>
              <a:rPr sz="1400" b="1">
                <a:solidFill>
                  <a:srgbClr val="FFFFFF"/>
                </a:solidFill>
                <a:latin typeface="Calibri"/>
              </a:rPr>
              <a:t>Per-athlete</a:t>
            </a:r>
          </a:p>
        </p:txBody>
      </p:sp>
      <p:sp>
        <p:nvSpPr>
          <p:cNvPr id="24" name="TextBox 23"/>
          <p:cNvSpPr txBox="1"/>
          <p:nvPr/>
        </p:nvSpPr>
        <p:spPr>
          <a:xfrm>
            <a:off x="7315200" y="2697480"/>
            <a:ext cx="2103120" cy="320040"/>
          </a:xfrm>
          <a:prstGeom prst="rect">
            <a:avLst/>
          </a:prstGeom>
          <a:noFill/>
        </p:spPr>
        <p:txBody>
          <a:bodyPr wrap="square" lIns="0" rIns="0" tIns="0" bIns="0" anchor="t">
            <a:spAutoFit/>
          </a:bodyPr>
          <a:lstStyle/>
          <a:p>
            <a:pPr algn="ctr"/>
            <a:r>
              <a:rPr sz="1000" b="0">
                <a:solidFill>
                  <a:srgbClr val="FFFFFF"/>
                </a:solidFill>
                <a:latin typeface="Calibri"/>
              </a:rPr>
              <a:t>Z vs personal baseline</a:t>
            </a:r>
          </a:p>
        </p:txBody>
      </p:sp>
      <p:sp>
        <p:nvSpPr>
          <p:cNvPr id="25" name="TextBox 24"/>
          <p:cNvSpPr txBox="1"/>
          <p:nvPr/>
        </p:nvSpPr>
        <p:spPr>
          <a:xfrm>
            <a:off x="9436608" y="2487168"/>
            <a:ext cx="164592" cy="365760"/>
          </a:xfrm>
          <a:prstGeom prst="rect">
            <a:avLst/>
          </a:prstGeom>
          <a:noFill/>
        </p:spPr>
        <p:txBody>
          <a:bodyPr wrap="square" lIns="0" rIns="0" tIns="0" bIns="0" anchor="t">
            <a:spAutoFit/>
          </a:bodyPr>
          <a:lstStyle/>
          <a:p>
            <a:pPr algn="ctr"/>
            <a:r>
              <a:rPr sz="2200" b="1">
                <a:solidFill>
                  <a:srgbClr val="64748B"/>
                </a:solidFill>
                <a:latin typeface="Calibri"/>
              </a:rPr>
              <a:t>›</a:t>
            </a:r>
          </a:p>
        </p:txBody>
      </p:sp>
      <p:sp>
        <p:nvSpPr>
          <p:cNvPr id="26" name="Rounded Rectangle 25"/>
          <p:cNvSpPr/>
          <p:nvPr/>
        </p:nvSpPr>
        <p:spPr>
          <a:xfrm>
            <a:off x="9601200" y="2194560"/>
            <a:ext cx="2103120" cy="914400"/>
          </a:xfrm>
          <a:prstGeom prst="roundRect">
            <a:avLst>
              <a:gd name="adj" fmla="val 6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0" y="2359152"/>
            <a:ext cx="2103120" cy="365760"/>
          </a:xfrm>
          <a:prstGeom prst="rect">
            <a:avLst/>
          </a:prstGeom>
          <a:noFill/>
        </p:spPr>
        <p:txBody>
          <a:bodyPr wrap="square" lIns="0" rIns="0" tIns="0" bIns="0" anchor="t">
            <a:spAutoFit/>
          </a:bodyPr>
          <a:lstStyle/>
          <a:p>
            <a:pPr algn="ctr"/>
            <a:r>
              <a:rPr sz="1400" b="1">
                <a:solidFill>
                  <a:srgbClr val="FFFFFF"/>
                </a:solidFill>
                <a:latin typeface="Calibri"/>
              </a:rPr>
              <a:t>Coach view</a:t>
            </a:r>
          </a:p>
        </p:txBody>
      </p:sp>
      <p:sp>
        <p:nvSpPr>
          <p:cNvPr id="28" name="TextBox 27"/>
          <p:cNvSpPr txBox="1"/>
          <p:nvPr/>
        </p:nvSpPr>
        <p:spPr>
          <a:xfrm>
            <a:off x="9601200" y="2697480"/>
            <a:ext cx="2103120" cy="320040"/>
          </a:xfrm>
          <a:prstGeom prst="rect">
            <a:avLst/>
          </a:prstGeom>
          <a:noFill/>
        </p:spPr>
        <p:txBody>
          <a:bodyPr wrap="square" lIns="0" rIns="0" tIns="0" bIns="0" anchor="t">
            <a:spAutoFit/>
          </a:bodyPr>
          <a:lstStyle/>
          <a:p>
            <a:pPr algn="ctr"/>
            <a:r>
              <a:rPr sz="1000" b="0">
                <a:solidFill>
                  <a:srgbClr val="29B7E6"/>
                </a:solidFill>
                <a:latin typeface="Calibri"/>
              </a:rPr>
              <a:t>Flag if z &gt; 1.0</a:t>
            </a:r>
          </a:p>
        </p:txBody>
      </p:sp>
      <p:sp>
        <p:nvSpPr>
          <p:cNvPr id="29" name="Rounded Rectangle 28"/>
          <p:cNvSpPr/>
          <p:nvPr/>
        </p:nvSpPr>
        <p:spPr>
          <a:xfrm>
            <a:off x="457200" y="3657600"/>
            <a:ext cx="11338560" cy="246888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886200"/>
            <a:ext cx="6400800" cy="274320"/>
          </a:xfrm>
          <a:prstGeom prst="rect">
            <a:avLst/>
          </a:prstGeom>
          <a:noFill/>
        </p:spPr>
        <p:txBody>
          <a:bodyPr wrap="square" lIns="0" rIns="0" tIns="0" bIns="0" anchor="t">
            <a:spAutoFit/>
          </a:bodyPr>
          <a:lstStyle/>
          <a:p>
            <a:pPr algn="l"/>
            <a:r>
              <a:rPr sz="1100" b="1">
                <a:solidFill>
                  <a:srgbClr val="64748B"/>
                </a:solidFill>
                <a:latin typeface="Calibri"/>
              </a:rPr>
              <a:t>DECOUPLING RESULT  ·  19 players checked  ·  3 flags raised</a:t>
            </a:r>
          </a:p>
        </p:txBody>
      </p:sp>
      <p:sp>
        <p:nvSpPr>
          <p:cNvPr id="31" name="TextBox 30"/>
          <p:cNvSpPr txBox="1"/>
          <p:nvPr/>
        </p:nvSpPr>
        <p:spPr>
          <a:xfrm>
            <a:off x="731520" y="4416552"/>
            <a:ext cx="2560320" cy="365760"/>
          </a:xfrm>
          <a:prstGeom prst="rect">
            <a:avLst/>
          </a:prstGeom>
          <a:noFill/>
        </p:spPr>
        <p:txBody>
          <a:bodyPr wrap="square" lIns="0" rIns="0" tIns="0" bIns="0" anchor="t">
            <a:spAutoFit/>
          </a:bodyPr>
          <a:lstStyle/>
          <a:p>
            <a:pPr algn="l"/>
            <a:r>
              <a:rPr sz="1300" b="1">
                <a:solidFill>
                  <a:srgbClr val="1E293B"/>
                </a:solidFill>
                <a:latin typeface="Calibri"/>
              </a:rPr>
              <a:t>Andri Yeoman</a:t>
            </a:r>
          </a:p>
        </p:txBody>
      </p:sp>
      <p:sp>
        <p:nvSpPr>
          <p:cNvPr id="32" name="TextBox 31"/>
          <p:cNvSpPr txBox="1"/>
          <p:nvPr/>
        </p:nvSpPr>
        <p:spPr>
          <a:xfrm>
            <a:off x="3474720" y="4416552"/>
            <a:ext cx="2286000" cy="365760"/>
          </a:xfrm>
          <a:prstGeom prst="rect">
            <a:avLst/>
          </a:prstGeom>
          <a:noFill/>
        </p:spPr>
        <p:txBody>
          <a:bodyPr wrap="square" lIns="0" rIns="0" tIns="0" bIns="0" anchor="t">
            <a:spAutoFit/>
          </a:bodyPr>
          <a:lstStyle/>
          <a:p>
            <a:pPr algn="l"/>
            <a:r>
              <a:rPr sz="1300" b="0">
                <a:solidFill>
                  <a:srgbClr val="64748B"/>
                </a:solidFill>
                <a:latin typeface="Calibri"/>
              </a:rPr>
              <a:t>RPE/km 95</a:t>
            </a:r>
          </a:p>
        </p:txBody>
      </p:sp>
      <p:sp>
        <p:nvSpPr>
          <p:cNvPr id="33" name="TextBox 32"/>
          <p:cNvSpPr txBox="1"/>
          <p:nvPr/>
        </p:nvSpPr>
        <p:spPr>
          <a:xfrm>
            <a:off x="5943600" y="4416552"/>
            <a:ext cx="1828800" cy="365760"/>
          </a:xfrm>
          <a:prstGeom prst="rect">
            <a:avLst/>
          </a:prstGeom>
          <a:noFill/>
        </p:spPr>
        <p:txBody>
          <a:bodyPr wrap="square" lIns="0" rIns="0" tIns="0" bIns="0" anchor="t">
            <a:spAutoFit/>
          </a:bodyPr>
          <a:lstStyle/>
          <a:p>
            <a:pPr algn="l"/>
            <a:r>
              <a:rPr sz="1300" b="1">
                <a:solidFill>
                  <a:srgbClr val="16A34A"/>
                </a:solidFill>
                <a:latin typeface="Calibri"/>
              </a:rPr>
              <a:t>z = +0.4</a:t>
            </a:r>
          </a:p>
        </p:txBody>
      </p:sp>
      <p:sp>
        <p:nvSpPr>
          <p:cNvPr id="34" name="Rounded Rectangle 33"/>
          <p:cNvSpPr/>
          <p:nvPr/>
        </p:nvSpPr>
        <p:spPr>
          <a:xfrm>
            <a:off x="8046720" y="4370832"/>
            <a:ext cx="1280160" cy="411480"/>
          </a:xfrm>
          <a:prstGeom prst="roundRect">
            <a:avLst>
              <a:gd name="adj" fmla="val 30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0" y="4439412"/>
            <a:ext cx="1280160" cy="274320"/>
          </a:xfrm>
          <a:prstGeom prst="rect">
            <a:avLst/>
          </a:prstGeom>
          <a:noFill/>
        </p:spPr>
        <p:txBody>
          <a:bodyPr wrap="square" lIns="0" rIns="0" tIns="0" bIns="0" anchor="t">
            <a:spAutoFit/>
          </a:bodyPr>
          <a:lstStyle/>
          <a:p>
            <a:pPr algn="ctr"/>
            <a:r>
              <a:rPr sz="1000" b="1">
                <a:solidFill>
                  <a:srgbClr val="FFFFFF"/>
                </a:solidFill>
                <a:latin typeface="Calibri"/>
              </a:rPr>
              <a:t>GREEN</a:t>
            </a:r>
          </a:p>
        </p:txBody>
      </p:sp>
      <p:sp>
        <p:nvSpPr>
          <p:cNvPr id="36" name="TextBox 35"/>
          <p:cNvSpPr txBox="1"/>
          <p:nvPr/>
        </p:nvSpPr>
        <p:spPr>
          <a:xfrm>
            <a:off x="731520" y="4919472"/>
            <a:ext cx="2560320" cy="365760"/>
          </a:xfrm>
          <a:prstGeom prst="rect">
            <a:avLst/>
          </a:prstGeom>
          <a:noFill/>
        </p:spPr>
        <p:txBody>
          <a:bodyPr wrap="square" lIns="0" rIns="0" tIns="0" bIns="0" anchor="t">
            <a:spAutoFit/>
          </a:bodyPr>
          <a:lstStyle/>
          <a:p>
            <a:pPr algn="l"/>
            <a:r>
              <a:rPr sz="1300" b="1">
                <a:solidFill>
                  <a:srgbClr val="1E293B"/>
                </a:solidFill>
                <a:latin typeface="Calibri"/>
              </a:rPr>
              <a:t>Magnús Olsen</a:t>
            </a:r>
          </a:p>
        </p:txBody>
      </p:sp>
      <p:sp>
        <p:nvSpPr>
          <p:cNvPr id="37" name="TextBox 36"/>
          <p:cNvSpPr txBox="1"/>
          <p:nvPr/>
        </p:nvSpPr>
        <p:spPr>
          <a:xfrm>
            <a:off x="3474720" y="4919472"/>
            <a:ext cx="2286000" cy="365760"/>
          </a:xfrm>
          <a:prstGeom prst="rect">
            <a:avLst/>
          </a:prstGeom>
          <a:noFill/>
        </p:spPr>
        <p:txBody>
          <a:bodyPr wrap="square" lIns="0" rIns="0" tIns="0" bIns="0" anchor="t">
            <a:spAutoFit/>
          </a:bodyPr>
          <a:lstStyle/>
          <a:p>
            <a:pPr algn="l"/>
            <a:r>
              <a:rPr sz="1300" b="0">
                <a:solidFill>
                  <a:srgbClr val="64748B"/>
                </a:solidFill>
                <a:latin typeface="Calibri"/>
              </a:rPr>
              <a:t>RPE/km 130</a:t>
            </a:r>
          </a:p>
        </p:txBody>
      </p:sp>
      <p:sp>
        <p:nvSpPr>
          <p:cNvPr id="38" name="TextBox 37"/>
          <p:cNvSpPr txBox="1"/>
          <p:nvPr/>
        </p:nvSpPr>
        <p:spPr>
          <a:xfrm>
            <a:off x="5943600" y="4919472"/>
            <a:ext cx="1828800" cy="365760"/>
          </a:xfrm>
          <a:prstGeom prst="rect">
            <a:avLst/>
          </a:prstGeom>
          <a:noFill/>
        </p:spPr>
        <p:txBody>
          <a:bodyPr wrap="square" lIns="0" rIns="0" tIns="0" bIns="0" anchor="t">
            <a:spAutoFit/>
          </a:bodyPr>
          <a:lstStyle/>
          <a:p>
            <a:pPr algn="l"/>
            <a:r>
              <a:rPr sz="1300" b="1">
                <a:solidFill>
                  <a:srgbClr val="F59E0B"/>
                </a:solidFill>
                <a:latin typeface="Calibri"/>
              </a:rPr>
              <a:t>z = +1.6</a:t>
            </a:r>
          </a:p>
        </p:txBody>
      </p:sp>
      <p:sp>
        <p:nvSpPr>
          <p:cNvPr id="39" name="Rounded Rectangle 38"/>
          <p:cNvSpPr/>
          <p:nvPr/>
        </p:nvSpPr>
        <p:spPr>
          <a:xfrm>
            <a:off x="8046720" y="4873752"/>
            <a:ext cx="1280160" cy="411480"/>
          </a:xfrm>
          <a:prstGeom prst="roundRect">
            <a:avLst>
              <a:gd name="adj" fmla="val 3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0" y="4942332"/>
            <a:ext cx="1280160" cy="274320"/>
          </a:xfrm>
          <a:prstGeom prst="rect">
            <a:avLst/>
          </a:prstGeom>
          <a:noFill/>
        </p:spPr>
        <p:txBody>
          <a:bodyPr wrap="square" lIns="0" rIns="0" tIns="0" bIns="0" anchor="t">
            <a:spAutoFit/>
          </a:bodyPr>
          <a:lstStyle/>
          <a:p>
            <a:pPr algn="ctr"/>
            <a:r>
              <a:rPr sz="1000" b="1">
                <a:solidFill>
                  <a:srgbClr val="FFFFFF"/>
                </a:solidFill>
                <a:latin typeface="Calibri"/>
              </a:rPr>
              <a:t>YELLOW</a:t>
            </a:r>
          </a:p>
        </p:txBody>
      </p:sp>
      <p:sp>
        <p:nvSpPr>
          <p:cNvPr id="41" name="TextBox 40"/>
          <p:cNvSpPr txBox="1"/>
          <p:nvPr/>
        </p:nvSpPr>
        <p:spPr>
          <a:xfrm>
            <a:off x="731520" y="5422392"/>
            <a:ext cx="2560320" cy="365760"/>
          </a:xfrm>
          <a:prstGeom prst="rect">
            <a:avLst/>
          </a:prstGeom>
          <a:noFill/>
        </p:spPr>
        <p:txBody>
          <a:bodyPr wrap="square" lIns="0" rIns="0" tIns="0" bIns="0" anchor="t">
            <a:spAutoFit/>
          </a:bodyPr>
          <a:lstStyle/>
          <a:p>
            <a:pPr algn="l"/>
            <a:r>
              <a:rPr sz="1300" b="1">
                <a:solidFill>
                  <a:srgbClr val="1E293B"/>
                </a:solidFill>
                <a:latin typeface="Calibri"/>
              </a:rPr>
              <a:t>Kristinn S.</a:t>
            </a:r>
          </a:p>
        </p:txBody>
      </p:sp>
      <p:sp>
        <p:nvSpPr>
          <p:cNvPr id="42" name="TextBox 41"/>
          <p:cNvSpPr txBox="1"/>
          <p:nvPr/>
        </p:nvSpPr>
        <p:spPr>
          <a:xfrm>
            <a:off x="3474720" y="5422392"/>
            <a:ext cx="2286000" cy="365760"/>
          </a:xfrm>
          <a:prstGeom prst="rect">
            <a:avLst/>
          </a:prstGeom>
          <a:noFill/>
        </p:spPr>
        <p:txBody>
          <a:bodyPr wrap="square" lIns="0" rIns="0" tIns="0" bIns="0" anchor="t">
            <a:spAutoFit/>
          </a:bodyPr>
          <a:lstStyle/>
          <a:p>
            <a:pPr algn="l"/>
            <a:r>
              <a:rPr sz="1300" b="0">
                <a:solidFill>
                  <a:srgbClr val="64748B"/>
                </a:solidFill>
                <a:latin typeface="Calibri"/>
              </a:rPr>
              <a:t>RPE/km 165</a:t>
            </a:r>
          </a:p>
        </p:txBody>
      </p:sp>
      <p:sp>
        <p:nvSpPr>
          <p:cNvPr id="43" name="TextBox 42"/>
          <p:cNvSpPr txBox="1"/>
          <p:nvPr/>
        </p:nvSpPr>
        <p:spPr>
          <a:xfrm>
            <a:off x="5943600" y="5422392"/>
            <a:ext cx="1828800" cy="365760"/>
          </a:xfrm>
          <a:prstGeom prst="rect">
            <a:avLst/>
          </a:prstGeom>
          <a:noFill/>
        </p:spPr>
        <p:txBody>
          <a:bodyPr wrap="square" lIns="0" rIns="0" tIns="0" bIns="0" anchor="t">
            <a:spAutoFit/>
          </a:bodyPr>
          <a:lstStyle/>
          <a:p>
            <a:pPr algn="l"/>
            <a:r>
              <a:rPr sz="1300" b="1">
                <a:solidFill>
                  <a:srgbClr val="DC2626"/>
                </a:solidFill>
                <a:latin typeface="Calibri"/>
              </a:rPr>
              <a:t>z = +2.4</a:t>
            </a:r>
          </a:p>
        </p:txBody>
      </p:sp>
      <p:sp>
        <p:nvSpPr>
          <p:cNvPr id="44" name="Rounded Rectangle 43"/>
          <p:cNvSpPr/>
          <p:nvPr/>
        </p:nvSpPr>
        <p:spPr>
          <a:xfrm>
            <a:off x="8046720" y="5376672"/>
            <a:ext cx="1280160" cy="411480"/>
          </a:xfrm>
          <a:prstGeom prst="roundRect">
            <a:avLst>
              <a:gd name="adj" fmla="val 30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20" y="5445252"/>
            <a:ext cx="1280160" cy="274320"/>
          </a:xfrm>
          <a:prstGeom prst="rect">
            <a:avLst/>
          </a:prstGeom>
          <a:noFill/>
        </p:spPr>
        <p:txBody>
          <a:bodyPr wrap="square" lIns="0" rIns="0" tIns="0" bIns="0" anchor="t">
            <a:spAutoFit/>
          </a:bodyPr>
          <a:lstStyle/>
          <a:p>
            <a:pPr algn="ctr"/>
            <a:r>
              <a:rPr sz="1000" b="1">
                <a:solidFill>
                  <a:srgbClr val="FFFFFF"/>
                </a:solidFill>
                <a:latin typeface="Calibri"/>
              </a:rPr>
              <a:t>RED</a:t>
            </a:r>
          </a:p>
        </p:txBody>
      </p:sp>
      <p:sp>
        <p:nvSpPr>
          <p:cNvPr id="46" name="TextBox 45"/>
          <p:cNvSpPr txBox="1"/>
          <p:nvPr/>
        </p:nvSpPr>
        <p:spPr>
          <a:xfrm>
            <a:off x="11247120" y="6446520"/>
            <a:ext cx="914400" cy="274320"/>
          </a:xfrm>
          <a:prstGeom prst="rect">
            <a:avLst/>
          </a:prstGeom>
          <a:noFill/>
        </p:spPr>
        <p:txBody>
          <a:bodyPr wrap="square" lIns="0" rIns="0" tIns="0" bIns="0" anchor="t">
            <a:spAutoFit/>
          </a:bodyPr>
          <a:lstStyle/>
          <a:p>
            <a:pPr algn="r"/>
            <a:r>
              <a:rPr sz="900" b="0">
                <a:solidFill>
                  <a:srgbClr val="64748B"/>
                </a:solidFill>
                <a:latin typeface="Calibri"/>
              </a:rPr>
              <a:t>10 / 14</a:t>
            </a:r>
          </a:p>
        </p:txBody>
      </p:sp>
      <p:sp>
        <p:nvSpPr>
          <p:cNvPr id="47" name="TextBox 46"/>
          <p:cNvSpPr txBox="1"/>
          <p:nvPr/>
        </p:nvSpPr>
        <p:spPr>
          <a:xfrm>
            <a:off x="365760" y="6446520"/>
            <a:ext cx="54864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828800" cy="274320"/>
          </a:xfrm>
          <a:prstGeom prst="rect">
            <a:avLst/>
          </a:prstGeom>
          <a:noFill/>
        </p:spPr>
        <p:txBody>
          <a:bodyPr wrap="square" lIns="0" rIns="0" tIns="0" bIns="0" anchor="t">
            <a:spAutoFit/>
          </a:bodyPr>
          <a:lstStyle/>
          <a:p>
            <a:pPr algn="l"/>
            <a:r>
              <a:rPr sz="1000" b="1">
                <a:solidFill>
                  <a:srgbClr val="29B7E6"/>
                </a:solidFill>
                <a:latin typeface="Calibri"/>
              </a:rPr>
              <a:t>MICROPULSE  ·  COACH</a:t>
            </a:r>
          </a:p>
        </p:txBody>
      </p:sp>
      <p:sp>
        <p:nvSpPr>
          <p:cNvPr id="5" name="TextBox 4"/>
          <p:cNvSpPr txBox="1"/>
          <p:nvPr/>
        </p:nvSpPr>
        <p:spPr>
          <a:xfrm>
            <a:off x="2468880" y="91440"/>
            <a:ext cx="6400800" cy="274320"/>
          </a:xfrm>
          <a:prstGeom prst="rect">
            <a:avLst/>
          </a:prstGeom>
          <a:noFill/>
        </p:spPr>
        <p:txBody>
          <a:bodyPr wrap="square" lIns="0" rIns="0" tIns="0" bIns="0" anchor="t">
            <a:spAutoFit/>
          </a:bodyPr>
          <a:lstStyle/>
          <a:p>
            <a:pPr algn="l"/>
            <a:r>
              <a:rPr sz="1000" b="0">
                <a:solidFill>
                  <a:srgbClr val="FFFFFF"/>
                </a:solidFill>
                <a:latin typeface="Calibri"/>
              </a:rPr>
              <a:t>/coach/players/kristinn-s/decoupling  ·  Apr 22</a:t>
            </a:r>
          </a:p>
        </p:txBody>
      </p:sp>
      <p:sp>
        <p:nvSpPr>
          <p:cNvPr id="6" name="TextBox 5"/>
          <p:cNvSpPr txBox="1"/>
          <p:nvPr/>
        </p:nvSpPr>
        <p:spPr>
          <a:xfrm>
            <a:off x="10515600" y="91440"/>
            <a:ext cx="1371600" cy="274320"/>
          </a:xfrm>
          <a:prstGeom prst="rect">
            <a:avLst/>
          </a:prstGeom>
          <a:noFill/>
        </p:spPr>
        <p:txBody>
          <a:bodyPr wrap="square" lIns="0" rIns="0" tIns="0" bIns="0" anchor="t">
            <a:spAutoFit/>
          </a:bodyPr>
          <a:lstStyle/>
          <a:p>
            <a:pPr algn="r"/>
            <a:r>
              <a:rPr sz="1000" b="0">
                <a:solidFill>
                  <a:srgbClr val="29B7E6"/>
                </a:solidFill>
                <a:latin typeface="Calibri"/>
              </a:rPr>
              <a:t>15:33</a:t>
            </a:r>
          </a:p>
        </p:txBody>
      </p:sp>
      <p:sp>
        <p:nvSpPr>
          <p:cNvPr id="7" name="TextBox 6"/>
          <p:cNvSpPr txBox="1"/>
          <p:nvPr/>
        </p:nvSpPr>
        <p:spPr>
          <a:xfrm>
            <a:off x="365760" y="594360"/>
            <a:ext cx="7315200" cy="274320"/>
          </a:xfrm>
          <a:prstGeom prst="rect">
            <a:avLst/>
          </a:prstGeom>
          <a:noFill/>
        </p:spPr>
        <p:txBody>
          <a:bodyPr wrap="square" lIns="0" rIns="0" tIns="0" bIns="0" anchor="t">
            <a:spAutoFit/>
          </a:bodyPr>
          <a:lstStyle/>
          <a:p>
            <a:pPr algn="l"/>
            <a:r>
              <a:rPr sz="1100" b="1">
                <a:solidFill>
                  <a:srgbClr val="005A2B"/>
                </a:solidFill>
                <a:latin typeface="Calibri"/>
              </a:rPr>
              <a:t>15:33  ·  DECOUPLING ALERT</a:t>
            </a:r>
          </a:p>
        </p:txBody>
      </p:sp>
      <p:sp>
        <p:nvSpPr>
          <p:cNvPr id="8" name="TextBox 7"/>
          <p:cNvSpPr txBox="1"/>
          <p:nvPr/>
        </p:nvSpPr>
        <p:spPr>
          <a:xfrm>
            <a:off x="365760" y="868680"/>
            <a:ext cx="11430000" cy="640080"/>
          </a:xfrm>
          <a:prstGeom prst="rect">
            <a:avLst/>
          </a:prstGeom>
          <a:noFill/>
        </p:spPr>
        <p:txBody>
          <a:bodyPr wrap="square" lIns="0" rIns="0" tIns="0" bIns="0" anchor="t">
            <a:spAutoFit/>
          </a:bodyPr>
          <a:lstStyle/>
          <a:p>
            <a:pPr algn="l"/>
            <a:r>
              <a:rPr sz="2800" b="1">
                <a:solidFill>
                  <a:srgbClr val="1E293B"/>
                </a:solidFill>
                <a:latin typeface="Calibri"/>
              </a:rPr>
              <a:t>Kristinn S — same work today, much higher metabolic cost than usual.</a:t>
            </a:r>
          </a:p>
        </p:txBody>
      </p:sp>
      <p:sp>
        <p:nvSpPr>
          <p:cNvPr id="9" name="Rounded Rectangle 8"/>
          <p:cNvSpPr/>
          <p:nvPr/>
        </p:nvSpPr>
        <p:spPr>
          <a:xfrm>
            <a:off x="457200" y="1828800"/>
            <a:ext cx="6400800" cy="420624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57400"/>
            <a:ext cx="5486400" cy="274320"/>
          </a:xfrm>
          <a:prstGeom prst="rect">
            <a:avLst/>
          </a:prstGeom>
          <a:noFill/>
        </p:spPr>
        <p:txBody>
          <a:bodyPr wrap="square" lIns="0" rIns="0" tIns="0" bIns="0" anchor="t">
            <a:spAutoFit/>
          </a:bodyPr>
          <a:lstStyle/>
          <a:p>
            <a:pPr algn="l"/>
            <a:r>
              <a:rPr sz="1000" b="1">
                <a:solidFill>
                  <a:srgbClr val="64748B"/>
                </a:solidFill>
                <a:latin typeface="Calibri"/>
              </a:rPr>
              <a:t>MIDFIELDER  ·  ECCENTRIC LOAD CHECK</a:t>
            </a:r>
          </a:p>
        </p:txBody>
      </p:sp>
      <p:sp>
        <p:nvSpPr>
          <p:cNvPr id="11" name="TextBox 10"/>
          <p:cNvSpPr txBox="1"/>
          <p:nvPr/>
        </p:nvSpPr>
        <p:spPr>
          <a:xfrm>
            <a:off x="731520" y="2331720"/>
            <a:ext cx="5486400" cy="548640"/>
          </a:xfrm>
          <a:prstGeom prst="rect">
            <a:avLst/>
          </a:prstGeom>
          <a:noFill/>
        </p:spPr>
        <p:txBody>
          <a:bodyPr wrap="square" lIns="0" rIns="0" tIns="0" bIns="0" anchor="t">
            <a:spAutoFit/>
          </a:bodyPr>
          <a:lstStyle/>
          <a:p>
            <a:pPr algn="l"/>
            <a:r>
              <a:rPr sz="2400" b="1">
                <a:solidFill>
                  <a:srgbClr val="1E293B"/>
                </a:solidFill>
                <a:latin typeface="Calibri"/>
              </a:rPr>
              <a:t>Kristinn Steindórsson</a:t>
            </a:r>
          </a:p>
        </p:txBody>
      </p:sp>
      <p:sp>
        <p:nvSpPr>
          <p:cNvPr id="12" name="TextBox 11"/>
          <p:cNvSpPr txBox="1"/>
          <p:nvPr/>
        </p:nvSpPr>
        <p:spPr>
          <a:xfrm>
            <a:off x="731520" y="3200400"/>
            <a:ext cx="5486400" cy="274320"/>
          </a:xfrm>
          <a:prstGeom prst="rect">
            <a:avLst/>
          </a:prstGeom>
          <a:noFill/>
        </p:spPr>
        <p:txBody>
          <a:bodyPr wrap="square" lIns="0" rIns="0" tIns="0" bIns="0" anchor="t">
            <a:spAutoFit/>
          </a:bodyPr>
          <a:lstStyle/>
          <a:p>
            <a:pPr algn="l"/>
            <a:r>
              <a:rPr sz="1100" b="1">
                <a:solidFill>
                  <a:srgbClr val="64748B"/>
                </a:solidFill>
                <a:latin typeface="Calibri"/>
              </a:rPr>
              <a:t>RPE-PER-KM RATIO</a:t>
            </a:r>
          </a:p>
        </p:txBody>
      </p:sp>
      <p:sp>
        <p:nvSpPr>
          <p:cNvPr id="13" name="Rounded Rectangle 12"/>
          <p:cNvSpPr/>
          <p:nvPr/>
        </p:nvSpPr>
        <p:spPr>
          <a:xfrm>
            <a:off x="731520" y="3520440"/>
            <a:ext cx="2743200" cy="2194560"/>
          </a:xfrm>
          <a:prstGeom prst="roundRect">
            <a:avLst>
              <a:gd name="adj" fmla="val 6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703320"/>
            <a:ext cx="2743200" cy="274320"/>
          </a:xfrm>
          <a:prstGeom prst="rect">
            <a:avLst/>
          </a:prstGeom>
          <a:noFill/>
        </p:spPr>
        <p:txBody>
          <a:bodyPr wrap="square" lIns="0" rIns="0" tIns="0" bIns="0" anchor="t">
            <a:spAutoFit/>
          </a:bodyPr>
          <a:lstStyle/>
          <a:p>
            <a:pPr algn="ctr"/>
            <a:r>
              <a:rPr sz="1000" b="1">
                <a:solidFill>
                  <a:srgbClr val="64748B"/>
                </a:solidFill>
                <a:latin typeface="Calibri"/>
              </a:rPr>
              <a:t>his usual</a:t>
            </a:r>
          </a:p>
        </p:txBody>
      </p:sp>
      <p:sp>
        <p:nvSpPr>
          <p:cNvPr id="15" name="TextBox 14"/>
          <p:cNvSpPr txBox="1"/>
          <p:nvPr/>
        </p:nvSpPr>
        <p:spPr>
          <a:xfrm>
            <a:off x="731520" y="4023360"/>
            <a:ext cx="2743200" cy="640080"/>
          </a:xfrm>
          <a:prstGeom prst="rect">
            <a:avLst/>
          </a:prstGeom>
          <a:noFill/>
        </p:spPr>
        <p:txBody>
          <a:bodyPr wrap="square" lIns="0" rIns="0" tIns="0" bIns="0" anchor="t">
            <a:spAutoFit/>
          </a:bodyPr>
          <a:lstStyle/>
          <a:p>
            <a:pPr algn="ctr"/>
            <a:r>
              <a:rPr sz="4200" b="1">
                <a:solidFill>
                  <a:srgbClr val="334155"/>
                </a:solidFill>
                <a:latin typeface="Arial Black"/>
              </a:rPr>
              <a:t>92</a:t>
            </a:r>
          </a:p>
        </p:txBody>
      </p:sp>
      <p:sp>
        <p:nvSpPr>
          <p:cNvPr id="16" name="TextBox 15"/>
          <p:cNvSpPr txBox="1"/>
          <p:nvPr/>
        </p:nvSpPr>
        <p:spPr>
          <a:xfrm>
            <a:off x="731520" y="4800600"/>
            <a:ext cx="2743200" cy="365760"/>
          </a:xfrm>
          <a:prstGeom prst="rect">
            <a:avLst/>
          </a:prstGeom>
          <a:noFill/>
        </p:spPr>
        <p:txBody>
          <a:bodyPr wrap="square" lIns="0" rIns="0" tIns="0" bIns="0" anchor="t">
            <a:spAutoFit/>
          </a:bodyPr>
          <a:lstStyle/>
          <a:p>
            <a:pPr algn="ctr"/>
            <a:r>
              <a:rPr sz="1400" b="0">
                <a:solidFill>
                  <a:srgbClr val="64748B"/>
                </a:solidFill>
                <a:latin typeface="Calibri"/>
              </a:rPr>
              <a:t>± 30</a:t>
            </a:r>
          </a:p>
        </p:txBody>
      </p:sp>
      <p:sp>
        <p:nvSpPr>
          <p:cNvPr id="17" name="TextBox 16"/>
          <p:cNvSpPr txBox="1"/>
          <p:nvPr/>
        </p:nvSpPr>
        <p:spPr>
          <a:xfrm>
            <a:off x="731520" y="5212080"/>
            <a:ext cx="2743200" cy="365760"/>
          </a:xfrm>
          <a:prstGeom prst="rect">
            <a:avLst/>
          </a:prstGeom>
          <a:noFill/>
        </p:spPr>
        <p:txBody>
          <a:bodyPr wrap="square" lIns="0" rIns="0" tIns="0" bIns="0" anchor="t">
            <a:spAutoFit/>
          </a:bodyPr>
          <a:lstStyle/>
          <a:p>
            <a:pPr algn="ctr"/>
            <a:r>
              <a:rPr sz="1100" b="0">
                <a:solidFill>
                  <a:srgbClr val="64748B"/>
                </a:solidFill>
                <a:latin typeface="Calibri"/>
              </a:rPr>
              <a:t>28-day baseline</a:t>
            </a:r>
          </a:p>
        </p:txBody>
      </p:sp>
      <p:sp>
        <p:nvSpPr>
          <p:cNvPr id="18" name="Rounded Rectangle 17"/>
          <p:cNvSpPr/>
          <p:nvPr/>
        </p:nvSpPr>
        <p:spPr>
          <a:xfrm>
            <a:off x="3657600" y="3520440"/>
            <a:ext cx="2926080" cy="2194560"/>
          </a:xfrm>
          <a:prstGeom prst="roundRect">
            <a:avLst>
              <a:gd name="adj" fmla="val 6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0" y="3703320"/>
            <a:ext cx="2926080" cy="274320"/>
          </a:xfrm>
          <a:prstGeom prst="rect">
            <a:avLst/>
          </a:prstGeom>
          <a:noFill/>
        </p:spPr>
        <p:txBody>
          <a:bodyPr wrap="square" lIns="0" rIns="0" tIns="0" bIns="0" anchor="t">
            <a:spAutoFit/>
          </a:bodyPr>
          <a:lstStyle/>
          <a:p>
            <a:pPr algn="ctr"/>
            <a:r>
              <a:rPr sz="1000" b="1">
                <a:solidFill>
                  <a:srgbClr val="FFFFFF"/>
                </a:solidFill>
                <a:latin typeface="Calibri"/>
              </a:rPr>
              <a:t>today</a:t>
            </a:r>
          </a:p>
        </p:txBody>
      </p:sp>
      <p:sp>
        <p:nvSpPr>
          <p:cNvPr id="20" name="TextBox 19"/>
          <p:cNvSpPr txBox="1"/>
          <p:nvPr/>
        </p:nvSpPr>
        <p:spPr>
          <a:xfrm>
            <a:off x="3657600" y="4023360"/>
            <a:ext cx="2926080" cy="640080"/>
          </a:xfrm>
          <a:prstGeom prst="rect">
            <a:avLst/>
          </a:prstGeom>
          <a:noFill/>
        </p:spPr>
        <p:txBody>
          <a:bodyPr wrap="square" lIns="0" rIns="0" tIns="0" bIns="0" anchor="t">
            <a:spAutoFit/>
          </a:bodyPr>
          <a:lstStyle/>
          <a:p>
            <a:pPr algn="ctr"/>
            <a:r>
              <a:rPr sz="4200" b="1">
                <a:solidFill>
                  <a:srgbClr val="FFFFFF"/>
                </a:solidFill>
                <a:latin typeface="Arial Black"/>
              </a:rPr>
              <a:t>165</a:t>
            </a:r>
          </a:p>
        </p:txBody>
      </p:sp>
      <p:sp>
        <p:nvSpPr>
          <p:cNvPr id="21" name="TextBox 20"/>
          <p:cNvSpPr txBox="1"/>
          <p:nvPr/>
        </p:nvSpPr>
        <p:spPr>
          <a:xfrm>
            <a:off x="3657600" y="4800600"/>
            <a:ext cx="2926080" cy="365760"/>
          </a:xfrm>
          <a:prstGeom prst="rect">
            <a:avLst/>
          </a:prstGeom>
          <a:noFill/>
        </p:spPr>
        <p:txBody>
          <a:bodyPr wrap="square" lIns="0" rIns="0" tIns="0" bIns="0" anchor="t">
            <a:spAutoFit/>
          </a:bodyPr>
          <a:lstStyle/>
          <a:p>
            <a:pPr algn="ctr"/>
            <a:r>
              <a:rPr sz="1400" b="1">
                <a:solidFill>
                  <a:srgbClr val="FFFFFF"/>
                </a:solidFill>
                <a:latin typeface="Calibri"/>
              </a:rPr>
              <a:t>z = +2.4</a:t>
            </a:r>
          </a:p>
        </p:txBody>
      </p:sp>
      <p:sp>
        <p:nvSpPr>
          <p:cNvPr id="22" name="TextBox 21"/>
          <p:cNvSpPr txBox="1"/>
          <p:nvPr/>
        </p:nvSpPr>
        <p:spPr>
          <a:xfrm>
            <a:off x="3657600" y="5212080"/>
            <a:ext cx="2926080" cy="365760"/>
          </a:xfrm>
          <a:prstGeom prst="rect">
            <a:avLst/>
          </a:prstGeom>
          <a:noFill/>
        </p:spPr>
        <p:txBody>
          <a:bodyPr wrap="square" lIns="0" rIns="0" tIns="0" bIns="0" anchor="t">
            <a:spAutoFit/>
          </a:bodyPr>
          <a:lstStyle/>
          <a:p>
            <a:pPr algn="ctr"/>
            <a:r>
              <a:rPr sz="1100" b="0">
                <a:solidFill>
                  <a:srgbClr val="FFFFFF"/>
                </a:solidFill>
                <a:latin typeface="Calibri"/>
              </a:rPr>
              <a:t>RED — internal cost up</a:t>
            </a:r>
          </a:p>
        </p:txBody>
      </p:sp>
      <p:sp>
        <p:nvSpPr>
          <p:cNvPr id="23" name="Rounded Rectangle 22"/>
          <p:cNvSpPr/>
          <p:nvPr/>
        </p:nvSpPr>
        <p:spPr>
          <a:xfrm>
            <a:off x="7223760" y="1828800"/>
            <a:ext cx="4572000" cy="4206240"/>
          </a:xfrm>
          <a:prstGeom prst="roundRect">
            <a:avLst>
              <a:gd name="adj" fmla="val 6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0" y="2057400"/>
            <a:ext cx="4023360" cy="365760"/>
          </a:xfrm>
          <a:prstGeom prst="rect">
            <a:avLst/>
          </a:prstGeom>
          <a:noFill/>
        </p:spPr>
        <p:txBody>
          <a:bodyPr wrap="square" lIns="0" rIns="0" tIns="0" bIns="0" anchor="t">
            <a:spAutoFit/>
          </a:bodyPr>
          <a:lstStyle/>
          <a:p>
            <a:pPr algn="l"/>
            <a:r>
              <a:rPr sz="1000" b="1">
                <a:solidFill>
                  <a:srgbClr val="29B7E6"/>
                </a:solidFill>
                <a:latin typeface="Calibri"/>
              </a:rPr>
              <a:t>WHAT MICROPULSE SEES</a:t>
            </a:r>
          </a:p>
        </p:txBody>
      </p:sp>
      <p:sp>
        <p:nvSpPr>
          <p:cNvPr id="25" name="TextBox 24"/>
          <p:cNvSpPr txBox="1"/>
          <p:nvPr/>
        </p:nvSpPr>
        <p:spPr>
          <a:xfrm>
            <a:off x="7498080" y="2377440"/>
            <a:ext cx="4023360" cy="640080"/>
          </a:xfrm>
          <a:prstGeom prst="rect">
            <a:avLst/>
          </a:prstGeom>
          <a:noFill/>
        </p:spPr>
        <p:txBody>
          <a:bodyPr wrap="square" lIns="0" rIns="0" tIns="0" bIns="0" anchor="t">
            <a:spAutoFit/>
          </a:bodyPr>
          <a:lstStyle/>
          <a:p>
            <a:pPr algn="l"/>
            <a:r>
              <a:rPr sz="1800" b="1">
                <a:solidFill>
                  <a:srgbClr val="FFFFFF"/>
                </a:solidFill>
                <a:latin typeface="Calibri"/>
              </a:rPr>
              <a:t>Internal cost up. External work flat.</a:t>
            </a:r>
          </a:p>
        </p:txBody>
      </p:sp>
      <p:sp>
        <p:nvSpPr>
          <p:cNvPr id="26" name="TextBox 25"/>
          <p:cNvSpPr txBox="1"/>
          <p:nvPr/>
        </p:nvSpPr>
        <p:spPr>
          <a:xfrm>
            <a:off x="7498080" y="3291840"/>
            <a:ext cx="4023360" cy="2743200"/>
          </a:xfrm>
          <a:prstGeom prst="rect">
            <a:avLst/>
          </a:prstGeom>
          <a:noFill/>
        </p:spPr>
        <p:txBody>
          <a:bodyPr wrap="square" lIns="0" rIns="0" tIns="0" bIns="0">
            <a:spAutoFit/>
          </a:bodyPr>
          <a:lstStyle/>
          <a:p>
            <a:pPr algn="l">
              <a:lnSpc>
                <a:spcPct val="130000"/>
              </a:lnSpc>
            </a:pPr>
            <a:r>
              <a:rPr sz="1200" b="0">
                <a:solidFill>
                  <a:srgbClr val="FFFFFF"/>
                </a:solidFill>
                <a:latin typeface="Calibri"/>
              </a:rPr>
              <a:t>Same kilometres covered as a normal</a:t>
            </a:r>
          </a:p>
          <a:p>
            <a:pPr algn="l">
              <a:lnSpc>
                <a:spcPct val="130000"/>
              </a:lnSpc>
            </a:pPr>
            <a:r>
              <a:rPr sz="1200" b="0">
                <a:solidFill>
                  <a:srgbClr val="FFFFFF"/>
                </a:solidFill>
                <a:latin typeface="Calibri"/>
              </a:rPr>
              <a:t>Monday session.</a:t>
            </a:r>
          </a:p>
          <a:p>
            <a:pPr algn="l">
              <a:lnSpc>
                <a:spcPct val="130000"/>
              </a:lnSpc>
            </a:pPr>
            <a:r>
              <a:rPr sz="1200" b="0">
                <a:solidFill>
                  <a:srgbClr val="FFFFFF"/>
                </a:solidFill>
                <a:latin typeface="Calibri"/>
              </a:rPr>
              <a:t/>
            </a:r>
          </a:p>
          <a:p>
            <a:pPr algn="l">
              <a:lnSpc>
                <a:spcPct val="130000"/>
              </a:lnSpc>
            </a:pPr>
            <a:r>
              <a:rPr sz="1200" b="0">
                <a:solidFill>
                  <a:srgbClr val="FFFFFF"/>
                </a:solidFill>
                <a:latin typeface="Calibri"/>
              </a:rPr>
              <a:t>Same duration.</a:t>
            </a:r>
          </a:p>
          <a:p>
            <a:pPr algn="l">
              <a:lnSpc>
                <a:spcPct val="130000"/>
              </a:lnSpc>
            </a:pPr>
            <a:r>
              <a:rPr sz="1200" b="0">
                <a:solidFill>
                  <a:srgbClr val="FFFFFF"/>
                </a:solidFill>
                <a:latin typeface="Calibri"/>
              </a:rPr>
              <a:t/>
            </a:r>
          </a:p>
          <a:p>
            <a:pPr algn="l">
              <a:lnSpc>
                <a:spcPct val="130000"/>
              </a:lnSpc>
            </a:pPr>
            <a:r>
              <a:rPr sz="1200" b="0">
                <a:solidFill>
                  <a:srgbClr val="FFFFFF"/>
                </a:solidFill>
                <a:latin typeface="Calibri"/>
              </a:rPr>
              <a:t>But Kristinn paid 80% more internal cost</a:t>
            </a:r>
          </a:p>
          <a:p>
            <a:pPr algn="l">
              <a:lnSpc>
                <a:spcPct val="130000"/>
              </a:lnSpc>
            </a:pPr>
            <a:r>
              <a:rPr sz="1200" b="0">
                <a:solidFill>
                  <a:srgbClr val="FFFFFF"/>
                </a:solidFill>
                <a:latin typeface="Calibri"/>
              </a:rPr>
              <a:t>to do the same external work.</a:t>
            </a:r>
          </a:p>
          <a:p>
            <a:pPr algn="l">
              <a:lnSpc>
                <a:spcPct val="130000"/>
              </a:lnSpc>
            </a:pPr>
            <a:r>
              <a:rPr sz="1200" b="0">
                <a:solidFill>
                  <a:srgbClr val="FFFFFF"/>
                </a:solidFill>
                <a:latin typeface="Calibri"/>
              </a:rPr>
              <a:t/>
            </a:r>
          </a:p>
          <a:p>
            <a:pPr algn="l">
              <a:lnSpc>
                <a:spcPct val="130000"/>
              </a:lnSpc>
            </a:pPr>
            <a:r>
              <a:rPr sz="1200" b="0">
                <a:solidFill>
                  <a:srgbClr val="FFFFFF"/>
                </a:solidFill>
                <a:latin typeface="Calibri"/>
              </a:rPr>
              <a:t>Halson 2014: classic early-warning sign</a:t>
            </a:r>
          </a:p>
          <a:p>
            <a:pPr algn="l">
              <a:lnSpc>
                <a:spcPct val="130000"/>
              </a:lnSpc>
            </a:pPr>
            <a:r>
              <a:rPr sz="1200" b="0">
                <a:solidFill>
                  <a:srgbClr val="FFFFFF"/>
                </a:solidFill>
                <a:latin typeface="Calibri"/>
              </a:rPr>
              <a:t>of cumulative fatigue or sub-clinical</a:t>
            </a:r>
          </a:p>
          <a:p>
            <a:pPr algn="l">
              <a:lnSpc>
                <a:spcPct val="130000"/>
              </a:lnSpc>
            </a:pPr>
            <a:r>
              <a:rPr sz="1200" b="0">
                <a:solidFill>
                  <a:srgbClr val="FFFFFF"/>
                </a:solidFill>
                <a:latin typeface="Calibri"/>
              </a:rPr>
              <a:t>illness — often 24–48 hours before</a:t>
            </a:r>
          </a:p>
          <a:p>
            <a:pPr algn="l">
              <a:lnSpc>
                <a:spcPct val="130000"/>
              </a:lnSpc>
            </a:pPr>
            <a:r>
              <a:rPr sz="1200" b="0">
                <a:solidFill>
                  <a:srgbClr val="FFFFFF"/>
                </a:solidFill>
                <a:latin typeface="Calibri"/>
              </a:rPr>
              <a:t>subjective wellness reflects it.</a:t>
            </a:r>
          </a:p>
        </p:txBody>
      </p:sp>
      <p:sp>
        <p:nvSpPr>
          <p:cNvPr id="27" name="TextBox 26"/>
          <p:cNvSpPr txBox="1"/>
          <p:nvPr/>
        </p:nvSpPr>
        <p:spPr>
          <a:xfrm>
            <a:off x="11247120" y="6446520"/>
            <a:ext cx="914400" cy="274320"/>
          </a:xfrm>
          <a:prstGeom prst="rect">
            <a:avLst/>
          </a:prstGeom>
          <a:noFill/>
        </p:spPr>
        <p:txBody>
          <a:bodyPr wrap="square" lIns="0" rIns="0" tIns="0" bIns="0" anchor="t">
            <a:spAutoFit/>
          </a:bodyPr>
          <a:lstStyle/>
          <a:p>
            <a:pPr algn="r"/>
            <a:r>
              <a:rPr sz="900" b="0">
                <a:solidFill>
                  <a:srgbClr val="64748B"/>
                </a:solidFill>
                <a:latin typeface="Calibri"/>
              </a:rPr>
              <a:t>11 / 14</a:t>
            </a:r>
          </a:p>
        </p:txBody>
      </p:sp>
      <p:sp>
        <p:nvSpPr>
          <p:cNvPr id="28" name="TextBox 27"/>
          <p:cNvSpPr txBox="1"/>
          <p:nvPr/>
        </p:nvSpPr>
        <p:spPr>
          <a:xfrm>
            <a:off x="365760" y="6446520"/>
            <a:ext cx="54864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828800" cy="274320"/>
          </a:xfrm>
          <a:prstGeom prst="rect">
            <a:avLst/>
          </a:prstGeom>
          <a:noFill/>
        </p:spPr>
        <p:txBody>
          <a:bodyPr wrap="square" lIns="0" rIns="0" tIns="0" bIns="0" anchor="t">
            <a:spAutoFit/>
          </a:bodyPr>
          <a:lstStyle/>
          <a:p>
            <a:pPr algn="l"/>
            <a:r>
              <a:rPr sz="1000" b="1">
                <a:solidFill>
                  <a:srgbClr val="29B7E6"/>
                </a:solidFill>
                <a:latin typeface="Calibri"/>
              </a:rPr>
              <a:t>MICROPULSE  ·  COACH</a:t>
            </a:r>
          </a:p>
        </p:txBody>
      </p:sp>
      <p:sp>
        <p:nvSpPr>
          <p:cNvPr id="5" name="TextBox 4"/>
          <p:cNvSpPr txBox="1"/>
          <p:nvPr/>
        </p:nvSpPr>
        <p:spPr>
          <a:xfrm>
            <a:off x="2468880" y="91440"/>
            <a:ext cx="6400800" cy="274320"/>
          </a:xfrm>
          <a:prstGeom prst="rect">
            <a:avLst/>
          </a:prstGeom>
          <a:noFill/>
        </p:spPr>
        <p:txBody>
          <a:bodyPr wrap="square" lIns="0" rIns="0" tIns="0" bIns="0" anchor="t">
            <a:spAutoFit/>
          </a:bodyPr>
          <a:lstStyle/>
          <a:p>
            <a:pPr algn="l"/>
            <a:r>
              <a:rPr sz="1000" b="0">
                <a:solidFill>
                  <a:srgbClr val="FFFFFF"/>
                </a:solidFill>
                <a:latin typeface="Calibri"/>
              </a:rPr>
              <a:t>/coach/week-setup  ·  Tuesday Apr 23 preview</a:t>
            </a:r>
          </a:p>
        </p:txBody>
      </p:sp>
      <p:sp>
        <p:nvSpPr>
          <p:cNvPr id="6" name="TextBox 5"/>
          <p:cNvSpPr txBox="1"/>
          <p:nvPr/>
        </p:nvSpPr>
        <p:spPr>
          <a:xfrm>
            <a:off x="10515600" y="91440"/>
            <a:ext cx="1371600" cy="274320"/>
          </a:xfrm>
          <a:prstGeom prst="rect">
            <a:avLst/>
          </a:prstGeom>
          <a:noFill/>
        </p:spPr>
        <p:txBody>
          <a:bodyPr wrap="square" lIns="0" rIns="0" tIns="0" bIns="0" anchor="t">
            <a:spAutoFit/>
          </a:bodyPr>
          <a:lstStyle/>
          <a:p>
            <a:pPr algn="r"/>
            <a:r>
              <a:rPr sz="1000" b="0">
                <a:solidFill>
                  <a:srgbClr val="29B7E6"/>
                </a:solidFill>
                <a:latin typeface="Calibri"/>
              </a:rPr>
              <a:t>17:00</a:t>
            </a:r>
          </a:p>
        </p:txBody>
      </p:sp>
      <p:sp>
        <p:nvSpPr>
          <p:cNvPr id="7" name="TextBox 6"/>
          <p:cNvSpPr txBox="1"/>
          <p:nvPr/>
        </p:nvSpPr>
        <p:spPr>
          <a:xfrm>
            <a:off x="365760" y="594360"/>
            <a:ext cx="7315200" cy="274320"/>
          </a:xfrm>
          <a:prstGeom prst="rect">
            <a:avLst/>
          </a:prstGeom>
          <a:noFill/>
        </p:spPr>
        <p:txBody>
          <a:bodyPr wrap="square" lIns="0" rIns="0" tIns="0" bIns="0" anchor="t">
            <a:spAutoFit/>
          </a:bodyPr>
          <a:lstStyle/>
          <a:p>
            <a:pPr algn="l"/>
            <a:r>
              <a:rPr sz="1100" b="1">
                <a:solidFill>
                  <a:srgbClr val="005A2B"/>
                </a:solidFill>
                <a:latin typeface="Calibri"/>
              </a:rPr>
              <a:t>17:00  ·  TOMORROW LOCKED</a:t>
            </a:r>
          </a:p>
        </p:txBody>
      </p:sp>
      <p:sp>
        <p:nvSpPr>
          <p:cNvPr id="8" name="TextBox 7"/>
          <p:cNvSpPr txBox="1"/>
          <p:nvPr/>
        </p:nvSpPr>
        <p:spPr>
          <a:xfrm>
            <a:off x="365760" y="868680"/>
            <a:ext cx="11430000" cy="640080"/>
          </a:xfrm>
          <a:prstGeom prst="rect">
            <a:avLst/>
          </a:prstGeom>
          <a:noFill/>
        </p:spPr>
        <p:txBody>
          <a:bodyPr wrap="square" lIns="0" rIns="0" tIns="0" bIns="0" anchor="t">
            <a:spAutoFit/>
          </a:bodyPr>
          <a:lstStyle/>
          <a:p>
            <a:pPr algn="l"/>
            <a:r>
              <a:rPr sz="2800" b="1">
                <a:solidFill>
                  <a:srgbClr val="1E293B"/>
                </a:solidFill>
                <a:latin typeface="Calibri"/>
              </a:rPr>
              <a:t>Coach finalises Tuesday's plan with today's data baked in.</a:t>
            </a:r>
          </a:p>
        </p:txBody>
      </p:sp>
      <p:sp>
        <p:nvSpPr>
          <p:cNvPr id="9" name="Rounded Rectangle 8"/>
          <p:cNvSpPr/>
          <p:nvPr/>
        </p:nvSpPr>
        <p:spPr>
          <a:xfrm>
            <a:off x="457200" y="1828800"/>
            <a:ext cx="11338560" cy="420624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57400"/>
            <a:ext cx="7315200" cy="274320"/>
          </a:xfrm>
          <a:prstGeom prst="rect">
            <a:avLst/>
          </a:prstGeom>
          <a:noFill/>
        </p:spPr>
        <p:txBody>
          <a:bodyPr wrap="square" lIns="0" rIns="0" tIns="0" bIns="0" anchor="t">
            <a:spAutoFit/>
          </a:bodyPr>
          <a:lstStyle/>
          <a:p>
            <a:pPr algn="l"/>
            <a:r>
              <a:rPr sz="1100" b="1">
                <a:solidFill>
                  <a:srgbClr val="64748B"/>
                </a:solidFill>
                <a:latin typeface="Calibri"/>
              </a:rPr>
              <a:t>TUESDAY APR 23  ·  PLANNED 09:00–11:30</a:t>
            </a:r>
          </a:p>
        </p:txBody>
      </p:sp>
      <p:sp>
        <p:nvSpPr>
          <p:cNvPr id="11" name="TextBox 10"/>
          <p:cNvSpPr txBox="1"/>
          <p:nvPr/>
        </p:nvSpPr>
        <p:spPr>
          <a:xfrm>
            <a:off x="731520" y="2331720"/>
            <a:ext cx="7315200" cy="548640"/>
          </a:xfrm>
          <a:prstGeom prst="rect">
            <a:avLst/>
          </a:prstGeom>
          <a:noFill/>
        </p:spPr>
        <p:txBody>
          <a:bodyPr wrap="square" lIns="0" rIns="0" tIns="0" bIns="0" anchor="t">
            <a:spAutoFit/>
          </a:bodyPr>
          <a:lstStyle/>
          <a:p>
            <a:pPr algn="l"/>
            <a:r>
              <a:rPr sz="2200" b="1">
                <a:solidFill>
                  <a:srgbClr val="1E293B"/>
                </a:solidFill>
                <a:latin typeface="Calibri"/>
              </a:rPr>
              <a:t>Mixed-intensity session</a:t>
            </a:r>
          </a:p>
        </p:txBody>
      </p:sp>
      <p:sp>
        <p:nvSpPr>
          <p:cNvPr id="12" name="TextBox 11"/>
          <p:cNvSpPr txBox="1"/>
          <p:nvPr/>
        </p:nvSpPr>
        <p:spPr>
          <a:xfrm>
            <a:off x="731520" y="3108960"/>
            <a:ext cx="10515600" cy="274320"/>
          </a:xfrm>
          <a:prstGeom prst="rect">
            <a:avLst/>
          </a:prstGeom>
          <a:noFill/>
        </p:spPr>
        <p:txBody>
          <a:bodyPr wrap="square" lIns="0" rIns="0" tIns="0" bIns="0" anchor="t">
            <a:spAutoFit/>
          </a:bodyPr>
          <a:lstStyle/>
          <a:p>
            <a:pPr algn="l"/>
            <a:r>
              <a:rPr sz="1100" b="1">
                <a:solidFill>
                  <a:srgbClr val="64748B"/>
                </a:solidFill>
                <a:latin typeface="Calibri"/>
              </a:rPr>
              <a:t>PLAYER ROUTING</a:t>
            </a:r>
          </a:p>
        </p:txBody>
      </p:sp>
      <p:sp>
        <p:nvSpPr>
          <p:cNvPr id="13" name="Rounded Rectangle 12"/>
          <p:cNvSpPr/>
          <p:nvPr/>
        </p:nvSpPr>
        <p:spPr>
          <a:xfrm>
            <a:off x="731520" y="3593592"/>
            <a:ext cx="292608" cy="292608"/>
          </a:xfrm>
          <a:prstGeom prst="roundRect">
            <a:avLst>
              <a:gd name="adj" fmla="val 40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3584448"/>
            <a:ext cx="2468880" cy="365760"/>
          </a:xfrm>
          <a:prstGeom prst="rect">
            <a:avLst/>
          </a:prstGeom>
          <a:noFill/>
        </p:spPr>
        <p:txBody>
          <a:bodyPr wrap="square" lIns="0" rIns="0" tIns="0" bIns="0" anchor="t">
            <a:spAutoFit/>
          </a:bodyPr>
          <a:lstStyle/>
          <a:p>
            <a:pPr algn="l"/>
            <a:r>
              <a:rPr sz="1300" b="1">
                <a:solidFill>
                  <a:srgbClr val="1E293B"/>
                </a:solidFill>
                <a:latin typeface="Calibri"/>
              </a:rPr>
              <a:t>Andri Yeoman</a:t>
            </a:r>
          </a:p>
        </p:txBody>
      </p:sp>
      <p:sp>
        <p:nvSpPr>
          <p:cNvPr id="15" name="TextBox 14"/>
          <p:cNvSpPr txBox="1"/>
          <p:nvPr/>
        </p:nvSpPr>
        <p:spPr>
          <a:xfrm>
            <a:off x="3749040" y="3584448"/>
            <a:ext cx="3657600" cy="365760"/>
          </a:xfrm>
          <a:prstGeom prst="rect">
            <a:avLst/>
          </a:prstGeom>
          <a:noFill/>
        </p:spPr>
        <p:txBody>
          <a:bodyPr wrap="square" lIns="0" rIns="0" tIns="0" bIns="0" anchor="t">
            <a:spAutoFit/>
          </a:bodyPr>
          <a:lstStyle/>
          <a:p>
            <a:pPr algn="l"/>
            <a:r>
              <a:rPr sz="1300" b="0">
                <a:solidFill>
                  <a:srgbClr val="1E293B"/>
                </a:solidFill>
                <a:latin typeface="Calibri"/>
              </a:rPr>
              <a:t>Full session</a:t>
            </a:r>
          </a:p>
        </p:txBody>
      </p:sp>
      <p:sp>
        <p:nvSpPr>
          <p:cNvPr id="16" name="TextBox 15"/>
          <p:cNvSpPr txBox="1"/>
          <p:nvPr/>
        </p:nvSpPr>
        <p:spPr>
          <a:xfrm>
            <a:off x="7498080" y="3611880"/>
            <a:ext cx="4114800" cy="365760"/>
          </a:xfrm>
          <a:prstGeom prst="rect">
            <a:avLst/>
          </a:prstGeom>
          <a:noFill/>
        </p:spPr>
        <p:txBody>
          <a:bodyPr wrap="square" lIns="0" rIns="0" tIns="0" bIns="0" anchor="t">
            <a:spAutoFit/>
          </a:bodyPr>
          <a:lstStyle/>
          <a:p>
            <a:pPr algn="l"/>
            <a:r>
              <a:rPr sz="1100" b="0">
                <a:solidFill>
                  <a:srgbClr val="64748B"/>
                </a:solidFill>
                <a:latin typeface="Calibri"/>
              </a:rPr>
              <a:t>Today RPE 7 · cleared</a:t>
            </a:r>
          </a:p>
        </p:txBody>
      </p:sp>
      <p:sp>
        <p:nvSpPr>
          <p:cNvPr id="17" name="Rectangle 16"/>
          <p:cNvSpPr/>
          <p:nvPr/>
        </p:nvSpPr>
        <p:spPr>
          <a:xfrm>
            <a:off x="640080" y="3941064"/>
            <a:ext cx="10972800" cy="42062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4014216"/>
            <a:ext cx="292608" cy="292608"/>
          </a:xfrm>
          <a:prstGeom prst="roundRect">
            <a:avLst>
              <a:gd name="adj" fmla="val 4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4005072"/>
            <a:ext cx="2468880" cy="365760"/>
          </a:xfrm>
          <a:prstGeom prst="rect">
            <a:avLst/>
          </a:prstGeom>
          <a:noFill/>
        </p:spPr>
        <p:txBody>
          <a:bodyPr wrap="square" lIns="0" rIns="0" tIns="0" bIns="0" anchor="t">
            <a:spAutoFit/>
          </a:bodyPr>
          <a:lstStyle/>
          <a:p>
            <a:pPr algn="l"/>
            <a:r>
              <a:rPr sz="1300" b="1">
                <a:solidFill>
                  <a:srgbClr val="1E293B"/>
                </a:solidFill>
                <a:latin typeface="Calibri"/>
              </a:rPr>
              <a:t>Magnús Olsen</a:t>
            </a:r>
          </a:p>
        </p:txBody>
      </p:sp>
      <p:sp>
        <p:nvSpPr>
          <p:cNvPr id="20" name="TextBox 19"/>
          <p:cNvSpPr txBox="1"/>
          <p:nvPr/>
        </p:nvSpPr>
        <p:spPr>
          <a:xfrm>
            <a:off x="3749040" y="4005072"/>
            <a:ext cx="3657600" cy="365760"/>
          </a:xfrm>
          <a:prstGeom prst="rect">
            <a:avLst/>
          </a:prstGeom>
          <a:noFill/>
        </p:spPr>
        <p:txBody>
          <a:bodyPr wrap="square" lIns="0" rIns="0" tIns="0" bIns="0" anchor="t">
            <a:spAutoFit/>
          </a:bodyPr>
          <a:lstStyle/>
          <a:p>
            <a:pPr algn="l"/>
            <a:r>
              <a:rPr sz="1300" b="0">
                <a:solidFill>
                  <a:srgbClr val="1E293B"/>
                </a:solidFill>
                <a:latin typeface="Calibri"/>
              </a:rPr>
              <a:t>Full session · monitor</a:t>
            </a:r>
          </a:p>
        </p:txBody>
      </p:sp>
      <p:sp>
        <p:nvSpPr>
          <p:cNvPr id="21" name="TextBox 20"/>
          <p:cNvSpPr txBox="1"/>
          <p:nvPr/>
        </p:nvSpPr>
        <p:spPr>
          <a:xfrm>
            <a:off x="7498080" y="4032504"/>
            <a:ext cx="4114800" cy="365760"/>
          </a:xfrm>
          <a:prstGeom prst="rect">
            <a:avLst/>
          </a:prstGeom>
          <a:noFill/>
        </p:spPr>
        <p:txBody>
          <a:bodyPr wrap="square" lIns="0" rIns="0" tIns="0" bIns="0" anchor="t">
            <a:spAutoFit/>
          </a:bodyPr>
          <a:lstStyle/>
          <a:p>
            <a:pPr algn="l"/>
            <a:r>
              <a:rPr sz="1100" b="0">
                <a:solidFill>
                  <a:srgbClr val="64748B"/>
                </a:solidFill>
                <a:latin typeface="Calibri"/>
              </a:rPr>
              <a:t>Yellow decoupling today</a:t>
            </a:r>
          </a:p>
        </p:txBody>
      </p:sp>
      <p:sp>
        <p:nvSpPr>
          <p:cNvPr id="22" name="Rounded Rectangle 21"/>
          <p:cNvSpPr/>
          <p:nvPr/>
        </p:nvSpPr>
        <p:spPr>
          <a:xfrm>
            <a:off x="731520" y="4434840"/>
            <a:ext cx="292608" cy="292608"/>
          </a:xfrm>
          <a:prstGeom prst="roundRect">
            <a:avLst>
              <a:gd name="adj" fmla="val 40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8720" y="4425696"/>
            <a:ext cx="2468880" cy="365760"/>
          </a:xfrm>
          <a:prstGeom prst="rect">
            <a:avLst/>
          </a:prstGeom>
          <a:noFill/>
        </p:spPr>
        <p:txBody>
          <a:bodyPr wrap="square" lIns="0" rIns="0" tIns="0" bIns="0" anchor="t">
            <a:spAutoFit/>
          </a:bodyPr>
          <a:lstStyle/>
          <a:p>
            <a:pPr algn="l"/>
            <a:r>
              <a:rPr sz="1300" b="1">
                <a:solidFill>
                  <a:srgbClr val="1E293B"/>
                </a:solidFill>
                <a:latin typeface="Calibri"/>
              </a:rPr>
              <a:t>Kristinn Steindórs</a:t>
            </a:r>
          </a:p>
        </p:txBody>
      </p:sp>
      <p:sp>
        <p:nvSpPr>
          <p:cNvPr id="24" name="TextBox 23"/>
          <p:cNvSpPr txBox="1"/>
          <p:nvPr/>
        </p:nvSpPr>
        <p:spPr>
          <a:xfrm>
            <a:off x="3749040" y="4425696"/>
            <a:ext cx="3657600" cy="365760"/>
          </a:xfrm>
          <a:prstGeom prst="rect">
            <a:avLst/>
          </a:prstGeom>
          <a:noFill/>
        </p:spPr>
        <p:txBody>
          <a:bodyPr wrap="square" lIns="0" rIns="0" tIns="0" bIns="0" anchor="t">
            <a:spAutoFit/>
          </a:bodyPr>
          <a:lstStyle/>
          <a:p>
            <a:pPr algn="l"/>
            <a:r>
              <a:rPr sz="1300" b="0">
                <a:solidFill>
                  <a:srgbClr val="1E293B"/>
                </a:solidFill>
                <a:latin typeface="Calibri"/>
              </a:rPr>
              <a:t>Reduced 30%</a:t>
            </a:r>
          </a:p>
        </p:txBody>
      </p:sp>
      <p:sp>
        <p:nvSpPr>
          <p:cNvPr id="25" name="TextBox 24"/>
          <p:cNvSpPr txBox="1"/>
          <p:nvPr/>
        </p:nvSpPr>
        <p:spPr>
          <a:xfrm>
            <a:off x="7498080" y="4453128"/>
            <a:ext cx="4114800" cy="365760"/>
          </a:xfrm>
          <a:prstGeom prst="rect">
            <a:avLst/>
          </a:prstGeom>
          <a:noFill/>
        </p:spPr>
        <p:txBody>
          <a:bodyPr wrap="square" lIns="0" rIns="0" tIns="0" bIns="0" anchor="t">
            <a:spAutoFit/>
          </a:bodyPr>
          <a:lstStyle/>
          <a:p>
            <a:pPr algn="l"/>
            <a:r>
              <a:rPr sz="1100" b="0">
                <a:solidFill>
                  <a:srgbClr val="64748B"/>
                </a:solidFill>
                <a:latin typeface="Calibri"/>
              </a:rPr>
              <a:t>Decoupling RED · check medical</a:t>
            </a:r>
          </a:p>
        </p:txBody>
      </p:sp>
      <p:sp>
        <p:nvSpPr>
          <p:cNvPr id="26" name="Rectangle 25"/>
          <p:cNvSpPr/>
          <p:nvPr/>
        </p:nvSpPr>
        <p:spPr>
          <a:xfrm>
            <a:off x="640080" y="4782312"/>
            <a:ext cx="10972800" cy="42062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31520" y="4855464"/>
            <a:ext cx="292608" cy="292608"/>
          </a:xfrm>
          <a:prstGeom prst="roundRect">
            <a:avLst>
              <a:gd name="adj" fmla="val 40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88720" y="4846320"/>
            <a:ext cx="2468880" cy="365760"/>
          </a:xfrm>
          <a:prstGeom prst="rect">
            <a:avLst/>
          </a:prstGeom>
          <a:noFill/>
        </p:spPr>
        <p:txBody>
          <a:bodyPr wrap="square" lIns="0" rIns="0" tIns="0" bIns="0" anchor="t">
            <a:spAutoFit/>
          </a:bodyPr>
          <a:lstStyle/>
          <a:p>
            <a:pPr algn="l"/>
            <a:r>
              <a:rPr sz="1300" b="1">
                <a:solidFill>
                  <a:srgbClr val="1E293B"/>
                </a:solidFill>
                <a:latin typeface="Calibri"/>
              </a:rPr>
              <a:t>Arnór Gauti</a:t>
            </a:r>
          </a:p>
        </p:txBody>
      </p:sp>
      <p:sp>
        <p:nvSpPr>
          <p:cNvPr id="29" name="TextBox 28"/>
          <p:cNvSpPr txBox="1"/>
          <p:nvPr/>
        </p:nvSpPr>
        <p:spPr>
          <a:xfrm>
            <a:off x="3749040" y="4846320"/>
            <a:ext cx="3657600" cy="365760"/>
          </a:xfrm>
          <a:prstGeom prst="rect">
            <a:avLst/>
          </a:prstGeom>
          <a:noFill/>
        </p:spPr>
        <p:txBody>
          <a:bodyPr wrap="square" lIns="0" rIns="0" tIns="0" bIns="0" anchor="t">
            <a:spAutoFit/>
          </a:bodyPr>
          <a:lstStyle/>
          <a:p>
            <a:pPr algn="l"/>
            <a:r>
              <a:rPr sz="1300" b="0">
                <a:solidFill>
                  <a:srgbClr val="1E293B"/>
                </a:solidFill>
                <a:latin typeface="Calibri"/>
              </a:rPr>
              <a:t>Full session · sleep watch</a:t>
            </a:r>
          </a:p>
        </p:txBody>
      </p:sp>
      <p:sp>
        <p:nvSpPr>
          <p:cNvPr id="30" name="TextBox 29"/>
          <p:cNvSpPr txBox="1"/>
          <p:nvPr/>
        </p:nvSpPr>
        <p:spPr>
          <a:xfrm>
            <a:off x="7498080" y="4873752"/>
            <a:ext cx="4114800" cy="365760"/>
          </a:xfrm>
          <a:prstGeom prst="rect">
            <a:avLst/>
          </a:prstGeom>
          <a:noFill/>
        </p:spPr>
        <p:txBody>
          <a:bodyPr wrap="square" lIns="0" rIns="0" tIns="0" bIns="0" anchor="t">
            <a:spAutoFit/>
          </a:bodyPr>
          <a:lstStyle/>
          <a:p>
            <a:pPr algn="l"/>
            <a:r>
              <a:rPr sz="1100" b="0">
                <a:solidFill>
                  <a:srgbClr val="64748B"/>
                </a:solidFill>
                <a:latin typeface="Calibri"/>
              </a:rPr>
              <a:t>Single-metric flag yest.</a:t>
            </a:r>
          </a:p>
        </p:txBody>
      </p:sp>
      <p:sp>
        <p:nvSpPr>
          <p:cNvPr id="31" name="Rounded Rectangle 30"/>
          <p:cNvSpPr/>
          <p:nvPr/>
        </p:nvSpPr>
        <p:spPr>
          <a:xfrm>
            <a:off x="731520" y="5276088"/>
            <a:ext cx="292608" cy="292608"/>
          </a:xfrm>
          <a:prstGeom prst="roundRect">
            <a:avLst>
              <a:gd name="adj" fmla="val 4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88720" y="5266944"/>
            <a:ext cx="2468880" cy="365760"/>
          </a:xfrm>
          <a:prstGeom prst="rect">
            <a:avLst/>
          </a:prstGeom>
          <a:noFill/>
        </p:spPr>
        <p:txBody>
          <a:bodyPr wrap="square" lIns="0" rIns="0" tIns="0" bIns="0" anchor="t">
            <a:spAutoFit/>
          </a:bodyPr>
          <a:lstStyle/>
          <a:p>
            <a:pPr algn="l"/>
            <a:r>
              <a:rPr sz="1300" b="1">
                <a:solidFill>
                  <a:srgbClr val="1E293B"/>
                </a:solidFill>
                <a:latin typeface="Calibri"/>
              </a:rPr>
              <a:t>Viktor Karl</a:t>
            </a:r>
          </a:p>
        </p:txBody>
      </p:sp>
      <p:sp>
        <p:nvSpPr>
          <p:cNvPr id="33" name="TextBox 32"/>
          <p:cNvSpPr txBox="1"/>
          <p:nvPr/>
        </p:nvSpPr>
        <p:spPr>
          <a:xfrm>
            <a:off x="3749040" y="5266944"/>
            <a:ext cx="3657600" cy="365760"/>
          </a:xfrm>
          <a:prstGeom prst="rect">
            <a:avLst/>
          </a:prstGeom>
          <a:noFill/>
        </p:spPr>
        <p:txBody>
          <a:bodyPr wrap="square" lIns="0" rIns="0" tIns="0" bIns="0" anchor="t">
            <a:spAutoFit/>
          </a:bodyPr>
          <a:lstStyle/>
          <a:p>
            <a:pPr algn="l"/>
            <a:r>
              <a:rPr sz="1300" b="0">
                <a:solidFill>
                  <a:srgbClr val="1E293B"/>
                </a:solidFill>
                <a:latin typeface="Calibri"/>
              </a:rPr>
              <a:t>Tactical only · no sprints</a:t>
            </a:r>
          </a:p>
        </p:txBody>
      </p:sp>
      <p:sp>
        <p:nvSpPr>
          <p:cNvPr id="34" name="TextBox 33"/>
          <p:cNvSpPr txBox="1"/>
          <p:nvPr/>
        </p:nvSpPr>
        <p:spPr>
          <a:xfrm>
            <a:off x="7498080" y="5294376"/>
            <a:ext cx="4114800" cy="365760"/>
          </a:xfrm>
          <a:prstGeom prst="rect">
            <a:avLst/>
          </a:prstGeom>
          <a:noFill/>
        </p:spPr>
        <p:txBody>
          <a:bodyPr wrap="square" lIns="0" rIns="0" tIns="0" bIns="0" anchor="t">
            <a:spAutoFit/>
          </a:bodyPr>
          <a:lstStyle/>
          <a:p>
            <a:pPr algn="l"/>
            <a:r>
              <a:rPr sz="1100" b="0">
                <a:solidFill>
                  <a:srgbClr val="64748B"/>
                </a:solidFill>
                <a:latin typeface="Calibri"/>
              </a:rPr>
              <a:t>DOMS recovery in progress</a:t>
            </a:r>
          </a:p>
        </p:txBody>
      </p:sp>
      <p:sp>
        <p:nvSpPr>
          <p:cNvPr id="35" name="Rectangle 34"/>
          <p:cNvSpPr/>
          <p:nvPr/>
        </p:nvSpPr>
        <p:spPr>
          <a:xfrm>
            <a:off x="640080" y="5623560"/>
            <a:ext cx="10972800" cy="42062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31520" y="5696712"/>
            <a:ext cx="292608" cy="292608"/>
          </a:xfrm>
          <a:prstGeom prst="roundRect">
            <a:avLst>
              <a:gd name="adj" fmla="val 40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88720" y="5687568"/>
            <a:ext cx="2468880" cy="365760"/>
          </a:xfrm>
          <a:prstGeom prst="rect">
            <a:avLst/>
          </a:prstGeom>
          <a:noFill/>
        </p:spPr>
        <p:txBody>
          <a:bodyPr wrap="square" lIns="0" rIns="0" tIns="0" bIns="0" anchor="t">
            <a:spAutoFit/>
          </a:bodyPr>
          <a:lstStyle/>
          <a:p>
            <a:pPr algn="l"/>
            <a:r>
              <a:rPr sz="1300" b="1">
                <a:solidFill>
                  <a:srgbClr val="1E293B"/>
                </a:solidFill>
                <a:latin typeface="Calibri"/>
              </a:rPr>
              <a:t>Arnór Tristan</a:t>
            </a:r>
          </a:p>
        </p:txBody>
      </p:sp>
      <p:sp>
        <p:nvSpPr>
          <p:cNvPr id="38" name="TextBox 37"/>
          <p:cNvSpPr txBox="1"/>
          <p:nvPr/>
        </p:nvSpPr>
        <p:spPr>
          <a:xfrm>
            <a:off x="3749040" y="5687568"/>
            <a:ext cx="3657600" cy="365760"/>
          </a:xfrm>
          <a:prstGeom prst="rect">
            <a:avLst/>
          </a:prstGeom>
          <a:noFill/>
        </p:spPr>
        <p:txBody>
          <a:bodyPr wrap="square" lIns="0" rIns="0" tIns="0" bIns="0" anchor="t">
            <a:spAutoFit/>
          </a:bodyPr>
          <a:lstStyle/>
          <a:p>
            <a:pPr algn="l"/>
            <a:r>
              <a:rPr sz="1300" b="0">
                <a:solidFill>
                  <a:srgbClr val="1E293B"/>
                </a:solidFill>
                <a:latin typeface="Calibri"/>
              </a:rPr>
              <a:t>Off · medical follow-up</a:t>
            </a:r>
          </a:p>
        </p:txBody>
      </p:sp>
      <p:sp>
        <p:nvSpPr>
          <p:cNvPr id="39" name="TextBox 38"/>
          <p:cNvSpPr txBox="1"/>
          <p:nvPr/>
        </p:nvSpPr>
        <p:spPr>
          <a:xfrm>
            <a:off x="7498080" y="5715000"/>
            <a:ext cx="4114800" cy="365760"/>
          </a:xfrm>
          <a:prstGeom prst="rect">
            <a:avLst/>
          </a:prstGeom>
          <a:noFill/>
        </p:spPr>
        <p:txBody>
          <a:bodyPr wrap="square" lIns="0" rIns="0" tIns="0" bIns="0" anchor="t">
            <a:spAutoFit/>
          </a:bodyPr>
          <a:lstStyle/>
          <a:p>
            <a:pPr algn="l"/>
            <a:r>
              <a:rPr sz="1100" b="0">
                <a:solidFill>
                  <a:srgbClr val="64748B"/>
                </a:solidFill>
                <a:latin typeface="Calibri"/>
              </a:rPr>
              <a:t>Illness/under-recovery</a:t>
            </a:r>
          </a:p>
        </p:txBody>
      </p:sp>
      <p:sp>
        <p:nvSpPr>
          <p:cNvPr id="40" name="TextBox 39"/>
          <p:cNvSpPr txBox="1"/>
          <p:nvPr/>
        </p:nvSpPr>
        <p:spPr>
          <a:xfrm>
            <a:off x="11247120" y="6446520"/>
            <a:ext cx="914400" cy="274320"/>
          </a:xfrm>
          <a:prstGeom prst="rect">
            <a:avLst/>
          </a:prstGeom>
          <a:noFill/>
        </p:spPr>
        <p:txBody>
          <a:bodyPr wrap="square" lIns="0" rIns="0" tIns="0" bIns="0" anchor="t">
            <a:spAutoFit/>
          </a:bodyPr>
          <a:lstStyle/>
          <a:p>
            <a:pPr algn="r"/>
            <a:r>
              <a:rPr sz="900" b="0">
                <a:solidFill>
                  <a:srgbClr val="64748B"/>
                </a:solidFill>
                <a:latin typeface="Calibri"/>
              </a:rPr>
              <a:t>12 / 14</a:t>
            </a:r>
          </a:p>
        </p:txBody>
      </p:sp>
      <p:sp>
        <p:nvSpPr>
          <p:cNvPr id="41" name="TextBox 40"/>
          <p:cNvSpPr txBox="1"/>
          <p:nvPr/>
        </p:nvSpPr>
        <p:spPr>
          <a:xfrm>
            <a:off x="365760" y="6446520"/>
            <a:ext cx="54864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594360"/>
            <a:ext cx="7315200" cy="274320"/>
          </a:xfrm>
          <a:prstGeom prst="rect">
            <a:avLst/>
          </a:prstGeom>
          <a:noFill/>
        </p:spPr>
        <p:txBody>
          <a:bodyPr wrap="square" lIns="0" rIns="0" tIns="0" bIns="0" anchor="t">
            <a:spAutoFit/>
          </a:bodyPr>
          <a:lstStyle/>
          <a:p>
            <a:pPr algn="l"/>
            <a:r>
              <a:rPr sz="1100" b="1">
                <a:solidFill>
                  <a:srgbClr val="005A2B"/>
                </a:solidFill>
                <a:latin typeface="Calibri"/>
              </a:rPr>
              <a:t>WHAT MICROPULSE ENABLED TODAY</a:t>
            </a:r>
          </a:p>
        </p:txBody>
      </p:sp>
      <p:sp>
        <p:nvSpPr>
          <p:cNvPr id="5" name="TextBox 4"/>
          <p:cNvSpPr txBox="1"/>
          <p:nvPr/>
        </p:nvSpPr>
        <p:spPr>
          <a:xfrm>
            <a:off x="365760" y="868680"/>
            <a:ext cx="11430000" cy="640080"/>
          </a:xfrm>
          <a:prstGeom prst="rect">
            <a:avLst/>
          </a:prstGeom>
          <a:noFill/>
        </p:spPr>
        <p:txBody>
          <a:bodyPr wrap="square" lIns="0" rIns="0" tIns="0" bIns="0" anchor="t">
            <a:spAutoFit/>
          </a:bodyPr>
          <a:lstStyle/>
          <a:p>
            <a:pPr algn="l"/>
            <a:r>
              <a:rPr sz="2800" b="1">
                <a:solidFill>
                  <a:srgbClr val="1E293B"/>
                </a:solidFill>
                <a:latin typeface="Calibri"/>
              </a:rPr>
              <a:t>Three conversations that wouldn't have happened without it.</a:t>
            </a:r>
          </a:p>
        </p:txBody>
      </p:sp>
      <p:sp>
        <p:nvSpPr>
          <p:cNvPr id="6" name="Rounded Rectangle 5"/>
          <p:cNvSpPr/>
          <p:nvPr/>
        </p:nvSpPr>
        <p:spPr>
          <a:xfrm>
            <a:off x="457200" y="2011680"/>
            <a:ext cx="11338560" cy="128016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2286000"/>
            <a:ext cx="914400" cy="365760"/>
          </a:xfrm>
          <a:prstGeom prst="roundRect">
            <a:avLst>
              <a:gd name="adj" fmla="val 30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340864"/>
            <a:ext cx="914400" cy="274320"/>
          </a:xfrm>
          <a:prstGeom prst="rect">
            <a:avLst/>
          </a:prstGeom>
          <a:noFill/>
        </p:spPr>
        <p:txBody>
          <a:bodyPr wrap="square" lIns="0" rIns="0" tIns="0" bIns="0" anchor="t">
            <a:spAutoFit/>
          </a:bodyPr>
          <a:lstStyle/>
          <a:p>
            <a:pPr algn="ctr"/>
            <a:r>
              <a:rPr sz="1100" b="1">
                <a:solidFill>
                  <a:srgbClr val="FFFFFF"/>
                </a:solidFill>
                <a:latin typeface="Consolas"/>
              </a:rPr>
              <a:t>06:39</a:t>
            </a:r>
          </a:p>
        </p:txBody>
      </p:sp>
      <p:sp>
        <p:nvSpPr>
          <p:cNvPr id="9" name="TextBox 8"/>
          <p:cNvSpPr txBox="1"/>
          <p:nvPr/>
        </p:nvSpPr>
        <p:spPr>
          <a:xfrm>
            <a:off x="1828800" y="2176272"/>
            <a:ext cx="10058400" cy="457200"/>
          </a:xfrm>
          <a:prstGeom prst="rect">
            <a:avLst/>
          </a:prstGeom>
          <a:noFill/>
        </p:spPr>
        <p:txBody>
          <a:bodyPr wrap="square" lIns="0" rIns="0" tIns="0" bIns="0" anchor="t">
            <a:spAutoFit/>
          </a:bodyPr>
          <a:lstStyle/>
          <a:p>
            <a:pPr algn="l"/>
            <a:r>
              <a:rPr sz="1800" b="1">
                <a:solidFill>
                  <a:srgbClr val="1E293B"/>
                </a:solidFill>
                <a:latin typeface="Calibri"/>
              </a:rPr>
              <a:t>Sleep check with Arnór Gauti</a:t>
            </a:r>
          </a:p>
        </p:txBody>
      </p:sp>
      <p:sp>
        <p:nvSpPr>
          <p:cNvPr id="10" name="TextBox 9"/>
          <p:cNvSpPr txBox="1"/>
          <p:nvPr/>
        </p:nvSpPr>
        <p:spPr>
          <a:xfrm>
            <a:off x="1828800" y="2606040"/>
            <a:ext cx="9692640" cy="640080"/>
          </a:xfrm>
          <a:prstGeom prst="rect">
            <a:avLst/>
          </a:prstGeom>
          <a:noFill/>
        </p:spPr>
        <p:txBody>
          <a:bodyPr wrap="square" lIns="0" rIns="0" tIns="0" bIns="0">
            <a:spAutoFit/>
          </a:bodyPr>
          <a:lstStyle/>
          <a:p>
            <a:pPr algn="l">
              <a:lnSpc>
                <a:spcPct val="120000"/>
              </a:lnSpc>
            </a:pPr>
            <a:r>
              <a:rPr sz="1100" b="0">
                <a:solidFill>
                  <a:srgbClr val="64748B"/>
                </a:solidFill>
                <a:latin typeface="Calibri"/>
              </a:rPr>
              <a:t>Total wellness 22/25 — no traditional system would have flagged him.</a:t>
            </a:r>
          </a:p>
          <a:p>
            <a:pPr algn="l">
              <a:lnSpc>
                <a:spcPct val="120000"/>
              </a:lnSpc>
            </a:pPr>
            <a:r>
              <a:rPr sz="1100" b="0">
                <a:solidFill>
                  <a:srgbClr val="64748B"/>
                </a:solidFill>
                <a:latin typeface="Calibri"/>
              </a:rPr>
              <a:t>MicroPulse showed sleep duration 4.4 SD below baseline.</a:t>
            </a:r>
          </a:p>
          <a:p>
            <a:pPr algn="l">
              <a:lnSpc>
                <a:spcPct val="120000"/>
              </a:lnSpc>
            </a:pPr>
            <a:r>
              <a:rPr sz="1100" b="0">
                <a:solidFill>
                  <a:srgbClr val="64748B"/>
                </a:solidFill>
                <a:latin typeface="Calibri"/>
              </a:rPr>
              <a:t>Coach asked. Player explained. Caught early.</a:t>
            </a:r>
          </a:p>
        </p:txBody>
      </p:sp>
      <p:sp>
        <p:nvSpPr>
          <p:cNvPr id="11" name="Rounded Rectangle 10"/>
          <p:cNvSpPr/>
          <p:nvPr/>
        </p:nvSpPr>
        <p:spPr>
          <a:xfrm>
            <a:off x="457200" y="3520440"/>
            <a:ext cx="11338560" cy="128016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3794760"/>
            <a:ext cx="914400" cy="365760"/>
          </a:xfrm>
          <a:prstGeom prst="roundRect">
            <a:avLst>
              <a:gd name="adj" fmla="val 30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849624"/>
            <a:ext cx="914400" cy="274320"/>
          </a:xfrm>
          <a:prstGeom prst="rect">
            <a:avLst/>
          </a:prstGeom>
          <a:noFill/>
        </p:spPr>
        <p:txBody>
          <a:bodyPr wrap="square" lIns="0" rIns="0" tIns="0" bIns="0" anchor="t">
            <a:spAutoFit/>
          </a:bodyPr>
          <a:lstStyle/>
          <a:p>
            <a:pPr algn="ctr"/>
            <a:r>
              <a:rPr sz="1100" b="1">
                <a:solidFill>
                  <a:srgbClr val="FFFFFF"/>
                </a:solidFill>
                <a:latin typeface="Consolas"/>
              </a:rPr>
              <a:t>06:35</a:t>
            </a:r>
          </a:p>
        </p:txBody>
      </p:sp>
      <p:sp>
        <p:nvSpPr>
          <p:cNvPr id="14" name="TextBox 13"/>
          <p:cNvSpPr txBox="1"/>
          <p:nvPr/>
        </p:nvSpPr>
        <p:spPr>
          <a:xfrm>
            <a:off x="1828800" y="3685032"/>
            <a:ext cx="10058400" cy="457200"/>
          </a:xfrm>
          <a:prstGeom prst="rect">
            <a:avLst/>
          </a:prstGeom>
          <a:noFill/>
        </p:spPr>
        <p:txBody>
          <a:bodyPr wrap="square" lIns="0" rIns="0" tIns="0" bIns="0" anchor="t">
            <a:spAutoFit/>
          </a:bodyPr>
          <a:lstStyle/>
          <a:p>
            <a:pPr algn="l"/>
            <a:r>
              <a:rPr sz="1800" b="1">
                <a:solidFill>
                  <a:srgbClr val="1E293B"/>
                </a:solidFill>
                <a:latin typeface="Calibri"/>
              </a:rPr>
              <a:t>Medical referral for Arnór Tristan</a:t>
            </a:r>
          </a:p>
        </p:txBody>
      </p:sp>
      <p:sp>
        <p:nvSpPr>
          <p:cNvPr id="15" name="TextBox 14"/>
          <p:cNvSpPr txBox="1"/>
          <p:nvPr/>
        </p:nvSpPr>
        <p:spPr>
          <a:xfrm>
            <a:off x="1828800" y="4114800"/>
            <a:ext cx="9692640" cy="640080"/>
          </a:xfrm>
          <a:prstGeom prst="rect">
            <a:avLst/>
          </a:prstGeom>
          <a:noFill/>
        </p:spPr>
        <p:txBody>
          <a:bodyPr wrap="square" lIns="0" rIns="0" tIns="0" bIns="0">
            <a:spAutoFit/>
          </a:bodyPr>
          <a:lstStyle/>
          <a:p>
            <a:pPr algn="l">
              <a:lnSpc>
                <a:spcPct val="120000"/>
              </a:lnSpc>
            </a:pPr>
            <a:r>
              <a:rPr sz="1100" b="0">
                <a:solidFill>
                  <a:srgbClr val="64748B"/>
                </a:solidFill>
                <a:latin typeface="Calibri"/>
              </a:rPr>
              <a:t>Four-metric crash matched illness pattern.</a:t>
            </a:r>
          </a:p>
          <a:p>
            <a:pPr algn="l">
              <a:lnSpc>
                <a:spcPct val="120000"/>
              </a:lnSpc>
            </a:pPr>
            <a:r>
              <a:rPr sz="1100" b="0">
                <a:solidFill>
                  <a:srgbClr val="64748B"/>
                </a:solidFill>
                <a:latin typeface="Calibri"/>
              </a:rPr>
              <a:t>Off training before his body broke down further.</a:t>
            </a:r>
          </a:p>
          <a:p>
            <a:pPr algn="l">
              <a:lnSpc>
                <a:spcPct val="120000"/>
              </a:lnSpc>
            </a:pPr>
            <a:r>
              <a:rPr sz="1100" b="0">
                <a:solidFill>
                  <a:srgbClr val="64748B"/>
                </a:solidFill>
                <a:latin typeface="Calibri"/>
              </a:rPr>
              <a:t>Estimated recovery saved: 3–5 days.</a:t>
            </a:r>
          </a:p>
        </p:txBody>
      </p:sp>
      <p:sp>
        <p:nvSpPr>
          <p:cNvPr id="16" name="Rounded Rectangle 15"/>
          <p:cNvSpPr/>
          <p:nvPr/>
        </p:nvSpPr>
        <p:spPr>
          <a:xfrm>
            <a:off x="457200" y="5029200"/>
            <a:ext cx="11338560" cy="1280160"/>
          </a:xfrm>
          <a:prstGeom prst="roundRect">
            <a:avLst>
              <a:gd name="adj" fmla="val 600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0080" y="5303520"/>
            <a:ext cx="914400" cy="365760"/>
          </a:xfrm>
          <a:prstGeom prst="roundRect">
            <a:avLst>
              <a:gd name="adj" fmla="val 30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358384"/>
            <a:ext cx="914400" cy="274320"/>
          </a:xfrm>
          <a:prstGeom prst="rect">
            <a:avLst/>
          </a:prstGeom>
          <a:noFill/>
        </p:spPr>
        <p:txBody>
          <a:bodyPr wrap="square" lIns="0" rIns="0" tIns="0" bIns="0" anchor="t">
            <a:spAutoFit/>
          </a:bodyPr>
          <a:lstStyle/>
          <a:p>
            <a:pPr algn="ctr"/>
            <a:r>
              <a:rPr sz="1100" b="1">
                <a:solidFill>
                  <a:srgbClr val="FFFFFF"/>
                </a:solidFill>
                <a:latin typeface="Consolas"/>
              </a:rPr>
              <a:t>15:33</a:t>
            </a:r>
          </a:p>
        </p:txBody>
      </p:sp>
      <p:sp>
        <p:nvSpPr>
          <p:cNvPr id="19" name="TextBox 18"/>
          <p:cNvSpPr txBox="1"/>
          <p:nvPr/>
        </p:nvSpPr>
        <p:spPr>
          <a:xfrm>
            <a:off x="1828800" y="5193792"/>
            <a:ext cx="10058400" cy="457200"/>
          </a:xfrm>
          <a:prstGeom prst="rect">
            <a:avLst/>
          </a:prstGeom>
          <a:noFill/>
        </p:spPr>
        <p:txBody>
          <a:bodyPr wrap="square" lIns="0" rIns="0" tIns="0" bIns="0" anchor="t">
            <a:spAutoFit/>
          </a:bodyPr>
          <a:lstStyle/>
          <a:p>
            <a:pPr algn="l"/>
            <a:r>
              <a:rPr sz="1800" b="1">
                <a:solidFill>
                  <a:srgbClr val="1E293B"/>
                </a:solidFill>
                <a:latin typeface="Calibri"/>
              </a:rPr>
              <a:t>Decoupling watch on Kristinn</a:t>
            </a:r>
          </a:p>
        </p:txBody>
      </p:sp>
      <p:sp>
        <p:nvSpPr>
          <p:cNvPr id="20" name="TextBox 19"/>
          <p:cNvSpPr txBox="1"/>
          <p:nvPr/>
        </p:nvSpPr>
        <p:spPr>
          <a:xfrm>
            <a:off x="1828800" y="5623560"/>
            <a:ext cx="9692640" cy="640080"/>
          </a:xfrm>
          <a:prstGeom prst="rect">
            <a:avLst/>
          </a:prstGeom>
          <a:noFill/>
        </p:spPr>
        <p:txBody>
          <a:bodyPr wrap="square" lIns="0" rIns="0" tIns="0" bIns="0">
            <a:spAutoFit/>
          </a:bodyPr>
          <a:lstStyle/>
          <a:p>
            <a:pPr algn="l">
              <a:lnSpc>
                <a:spcPct val="120000"/>
              </a:lnSpc>
            </a:pPr>
            <a:r>
              <a:rPr sz="1100" b="0">
                <a:solidFill>
                  <a:srgbClr val="64748B"/>
                </a:solidFill>
                <a:latin typeface="Calibri"/>
              </a:rPr>
              <a:t>He felt fine. His body told a different story.</a:t>
            </a:r>
          </a:p>
          <a:p>
            <a:pPr algn="l">
              <a:lnSpc>
                <a:spcPct val="120000"/>
              </a:lnSpc>
            </a:pPr>
            <a:r>
              <a:rPr sz="1100" b="0">
                <a:solidFill>
                  <a:srgbClr val="64748B"/>
                </a:solidFill>
                <a:latin typeface="Calibri"/>
              </a:rPr>
              <a:t>Coach + medical now have 24h advance warning.</a:t>
            </a:r>
          </a:p>
          <a:p>
            <a:pPr algn="l">
              <a:lnSpc>
                <a:spcPct val="120000"/>
              </a:lnSpc>
            </a:pPr>
            <a:r>
              <a:rPr sz="1100" b="0">
                <a:solidFill>
                  <a:srgbClr val="64748B"/>
                </a:solidFill>
                <a:latin typeface="Calibri"/>
              </a:rPr>
              <a:t>Before subjective wellness even reflects it.</a:t>
            </a:r>
          </a:p>
        </p:txBody>
      </p:sp>
      <p:sp>
        <p:nvSpPr>
          <p:cNvPr id="21" name="TextBox 20"/>
          <p:cNvSpPr txBox="1"/>
          <p:nvPr/>
        </p:nvSpPr>
        <p:spPr>
          <a:xfrm>
            <a:off x="11247120" y="6446520"/>
            <a:ext cx="914400" cy="274320"/>
          </a:xfrm>
          <a:prstGeom prst="rect">
            <a:avLst/>
          </a:prstGeom>
          <a:noFill/>
        </p:spPr>
        <p:txBody>
          <a:bodyPr wrap="square" lIns="0" rIns="0" tIns="0" bIns="0" anchor="t">
            <a:spAutoFit/>
          </a:bodyPr>
          <a:lstStyle/>
          <a:p>
            <a:pPr algn="r"/>
            <a:r>
              <a:rPr sz="900" b="0">
                <a:solidFill>
                  <a:srgbClr val="64748B"/>
                </a:solidFill>
                <a:latin typeface="Calibri"/>
              </a:rPr>
              <a:t>13 / 14</a:t>
            </a:r>
          </a:p>
        </p:txBody>
      </p:sp>
      <p:sp>
        <p:nvSpPr>
          <p:cNvPr id="22" name="TextBox 21"/>
          <p:cNvSpPr txBox="1"/>
          <p:nvPr/>
        </p:nvSpPr>
        <p:spPr>
          <a:xfrm>
            <a:off x="365760" y="6446520"/>
            <a:ext cx="5486400" cy="274320"/>
          </a:xfrm>
          <a:prstGeom prst="rect">
            <a:avLst/>
          </a:prstGeom>
          <a:noFill/>
        </p:spPr>
        <p:txBody>
          <a:bodyPr wrap="square" lIns="0" rIns="0" tIns="0" bIns="0" anchor="t">
            <a:spAutoFit/>
          </a:bodyPr>
          <a:lstStyle/>
          <a:p>
            <a:pPr algn="l"/>
            <a:r>
              <a:rPr sz="900" b="0">
                <a:solidFill>
                  <a:srgbClr val="64748B"/>
                </a:solidFill>
                <a:latin typeface="Calibri"/>
              </a:rPr>
              <a:t>MICROPULSE  ·  performance intelligence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5486400" cy="365760"/>
          </a:xfrm>
          <a:prstGeom prst="rect">
            <a:avLst/>
          </a:prstGeom>
          <a:noFill/>
        </p:spPr>
        <p:txBody>
          <a:bodyPr wrap="square" lIns="0" rIns="0" tIns="0" bIns="0" anchor="t">
            <a:spAutoFit/>
          </a:bodyPr>
          <a:lstStyle/>
          <a:p>
            <a:pPr algn="l"/>
            <a:r>
              <a:rPr sz="1100" b="1">
                <a:solidFill>
                  <a:srgbClr val="29B7E6"/>
                </a:solidFill>
                <a:latin typeface="Calibri"/>
              </a:rPr>
              <a:t>MICROPULSE</a:t>
            </a:r>
          </a:p>
        </p:txBody>
      </p:sp>
      <p:sp>
        <p:nvSpPr>
          <p:cNvPr id="4" name="TextBox 3"/>
          <p:cNvSpPr txBox="1"/>
          <p:nvPr/>
        </p:nvSpPr>
        <p:spPr>
          <a:xfrm>
            <a:off x="640080" y="1828800"/>
            <a:ext cx="10972800" cy="1828800"/>
          </a:xfrm>
          <a:prstGeom prst="rect">
            <a:avLst/>
          </a:prstGeom>
          <a:noFill/>
        </p:spPr>
        <p:txBody>
          <a:bodyPr wrap="square" lIns="0" rIns="0" tIns="0" bIns="0" anchor="t">
            <a:spAutoFit/>
          </a:bodyPr>
          <a:lstStyle/>
          <a:p>
            <a:pPr algn="l"/>
            <a:r>
              <a:rPr sz="5600" b="1">
                <a:solidFill>
                  <a:srgbClr val="FFFFFF"/>
                </a:solidFill>
                <a:latin typeface="Arial Black"/>
              </a:rPr>
              <a:t>Want to see this with</a:t>
            </a:r>
          </a:p>
        </p:txBody>
      </p:sp>
      <p:sp>
        <p:nvSpPr>
          <p:cNvPr id="5" name="TextBox 4"/>
          <p:cNvSpPr txBox="1"/>
          <p:nvPr/>
        </p:nvSpPr>
        <p:spPr>
          <a:xfrm>
            <a:off x="640080" y="2834640"/>
            <a:ext cx="10972800" cy="1828800"/>
          </a:xfrm>
          <a:prstGeom prst="rect">
            <a:avLst/>
          </a:prstGeom>
          <a:noFill/>
        </p:spPr>
        <p:txBody>
          <a:bodyPr wrap="square" lIns="0" rIns="0" tIns="0" bIns="0" anchor="t">
            <a:spAutoFit/>
          </a:bodyPr>
          <a:lstStyle/>
          <a:p>
            <a:pPr algn="l"/>
            <a:r>
              <a:rPr sz="5600" b="1">
                <a:solidFill>
                  <a:srgbClr val="29B7E6"/>
                </a:solidFill>
                <a:latin typeface="Arial Black"/>
              </a:rPr>
              <a:t>your players?</a:t>
            </a:r>
          </a:p>
        </p:txBody>
      </p:sp>
      <p:sp>
        <p:nvSpPr>
          <p:cNvPr id="6" name="TextBox 5"/>
          <p:cNvSpPr txBox="1"/>
          <p:nvPr/>
        </p:nvSpPr>
        <p:spPr>
          <a:xfrm>
            <a:off x="640080" y="4114800"/>
            <a:ext cx="10972800" cy="548640"/>
          </a:xfrm>
          <a:prstGeom prst="rect">
            <a:avLst/>
          </a:prstGeom>
          <a:noFill/>
        </p:spPr>
        <p:txBody>
          <a:bodyPr wrap="square" lIns="0" rIns="0" tIns="0" bIns="0" anchor="t">
            <a:spAutoFit/>
          </a:bodyPr>
          <a:lstStyle/>
          <a:p>
            <a:pPr algn="l"/>
            <a:r>
              <a:rPr sz="2000" b="0">
                <a:solidFill>
                  <a:srgbClr val="94A3B8"/>
                </a:solidFill>
                <a:latin typeface="Calibri"/>
              </a:rPr>
              <a:t>90-day pilot. Your data. Your decisions. Your case study.</a:t>
            </a:r>
          </a:p>
        </p:txBody>
      </p:sp>
      <p:sp>
        <p:nvSpPr>
          <p:cNvPr id="7" name="Rounded Rectangle 6"/>
          <p:cNvSpPr/>
          <p:nvPr/>
        </p:nvSpPr>
        <p:spPr>
          <a:xfrm>
            <a:off x="540867" y="5029200"/>
            <a:ext cx="3520440" cy="1188720"/>
          </a:xfrm>
          <a:prstGeom prst="roundRect">
            <a:avLst>
              <a:gd name="adj" fmla="val 6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0867" y="5303520"/>
            <a:ext cx="3520440" cy="365760"/>
          </a:xfrm>
          <a:prstGeom prst="rect">
            <a:avLst/>
          </a:prstGeom>
          <a:noFill/>
        </p:spPr>
        <p:txBody>
          <a:bodyPr wrap="square" lIns="0" rIns="0" tIns="0" bIns="0" anchor="t">
            <a:spAutoFit/>
          </a:bodyPr>
          <a:lstStyle/>
          <a:p>
            <a:pPr algn="ctr"/>
            <a:r>
              <a:rPr sz="1400" b="1">
                <a:solidFill>
                  <a:srgbClr val="FFFFFF"/>
                </a:solidFill>
                <a:latin typeface="Calibri"/>
              </a:rPr>
              <a:t>Per-athlete baselines</a:t>
            </a:r>
          </a:p>
        </p:txBody>
      </p:sp>
      <p:sp>
        <p:nvSpPr>
          <p:cNvPr id="9" name="TextBox 8"/>
          <p:cNvSpPr txBox="1"/>
          <p:nvPr/>
        </p:nvSpPr>
        <p:spPr>
          <a:xfrm>
            <a:off x="540867" y="5715000"/>
            <a:ext cx="3520440" cy="320040"/>
          </a:xfrm>
          <a:prstGeom prst="rect">
            <a:avLst/>
          </a:prstGeom>
          <a:noFill/>
        </p:spPr>
        <p:txBody>
          <a:bodyPr wrap="square" lIns="0" rIns="0" tIns="0" bIns="0" anchor="t">
            <a:spAutoFit/>
          </a:bodyPr>
          <a:lstStyle/>
          <a:p>
            <a:pPr algn="ctr"/>
            <a:r>
              <a:rPr sz="1200" b="0">
                <a:solidFill>
                  <a:srgbClr val="29B7E6"/>
                </a:solidFill>
                <a:latin typeface="Calibri"/>
              </a:rPr>
              <a:t>From day 14</a:t>
            </a:r>
          </a:p>
        </p:txBody>
      </p:sp>
      <p:sp>
        <p:nvSpPr>
          <p:cNvPr id="10" name="Rounded Rectangle 9"/>
          <p:cNvSpPr/>
          <p:nvPr/>
        </p:nvSpPr>
        <p:spPr>
          <a:xfrm>
            <a:off x="4335627" y="5029200"/>
            <a:ext cx="3520440" cy="1188720"/>
          </a:xfrm>
          <a:prstGeom prst="roundRect">
            <a:avLst>
              <a:gd name="adj" fmla="val 6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5627" y="5303520"/>
            <a:ext cx="3520440" cy="365760"/>
          </a:xfrm>
          <a:prstGeom prst="rect">
            <a:avLst/>
          </a:prstGeom>
          <a:noFill/>
        </p:spPr>
        <p:txBody>
          <a:bodyPr wrap="square" lIns="0" rIns="0" tIns="0" bIns="0" anchor="t">
            <a:spAutoFit/>
          </a:bodyPr>
          <a:lstStyle/>
          <a:p>
            <a:pPr algn="ctr"/>
            <a:r>
              <a:rPr sz="1400" b="1">
                <a:solidFill>
                  <a:srgbClr val="FFFFFF"/>
                </a:solidFill>
                <a:latin typeface="Calibri"/>
              </a:rPr>
              <a:t>Decoupling early-warnings</a:t>
            </a:r>
          </a:p>
        </p:txBody>
      </p:sp>
      <p:sp>
        <p:nvSpPr>
          <p:cNvPr id="12" name="TextBox 11"/>
          <p:cNvSpPr txBox="1"/>
          <p:nvPr/>
        </p:nvSpPr>
        <p:spPr>
          <a:xfrm>
            <a:off x="4335627" y="5715000"/>
            <a:ext cx="3520440" cy="320040"/>
          </a:xfrm>
          <a:prstGeom prst="rect">
            <a:avLst/>
          </a:prstGeom>
          <a:noFill/>
        </p:spPr>
        <p:txBody>
          <a:bodyPr wrap="square" lIns="0" rIns="0" tIns="0" bIns="0" anchor="t">
            <a:spAutoFit/>
          </a:bodyPr>
          <a:lstStyle/>
          <a:p>
            <a:pPr algn="ctr"/>
            <a:r>
              <a:rPr sz="1200" b="0">
                <a:solidFill>
                  <a:srgbClr val="29B7E6"/>
                </a:solidFill>
                <a:latin typeface="Calibri"/>
              </a:rPr>
              <a:t>From session 1</a:t>
            </a:r>
          </a:p>
        </p:txBody>
      </p:sp>
      <p:sp>
        <p:nvSpPr>
          <p:cNvPr id="13" name="Rounded Rectangle 12"/>
          <p:cNvSpPr/>
          <p:nvPr/>
        </p:nvSpPr>
        <p:spPr>
          <a:xfrm>
            <a:off x="8130387" y="5029200"/>
            <a:ext cx="3520440" cy="1188720"/>
          </a:xfrm>
          <a:prstGeom prst="roundRect">
            <a:avLst>
              <a:gd name="adj" fmla="val 6000"/>
            </a:avLst>
          </a:prstGeom>
          <a:solidFill>
            <a:srgbClr val="00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0387" y="5303520"/>
            <a:ext cx="3520440" cy="365760"/>
          </a:xfrm>
          <a:prstGeom prst="rect">
            <a:avLst/>
          </a:prstGeom>
          <a:noFill/>
        </p:spPr>
        <p:txBody>
          <a:bodyPr wrap="square" lIns="0" rIns="0" tIns="0" bIns="0" anchor="t">
            <a:spAutoFit/>
          </a:bodyPr>
          <a:lstStyle/>
          <a:p>
            <a:pPr algn="ctr"/>
            <a:r>
              <a:rPr sz="1400" b="1">
                <a:solidFill>
                  <a:srgbClr val="FFFFFF"/>
                </a:solidFill>
                <a:latin typeface="Calibri"/>
              </a:rPr>
              <a:t>Coach-explain panel</a:t>
            </a:r>
          </a:p>
        </p:txBody>
      </p:sp>
      <p:sp>
        <p:nvSpPr>
          <p:cNvPr id="15" name="TextBox 14"/>
          <p:cNvSpPr txBox="1"/>
          <p:nvPr/>
        </p:nvSpPr>
        <p:spPr>
          <a:xfrm>
            <a:off x="8130387" y="5715000"/>
            <a:ext cx="3520440" cy="320040"/>
          </a:xfrm>
          <a:prstGeom prst="rect">
            <a:avLst/>
          </a:prstGeom>
          <a:noFill/>
        </p:spPr>
        <p:txBody>
          <a:bodyPr wrap="square" lIns="0" rIns="0" tIns="0" bIns="0" anchor="t">
            <a:spAutoFit/>
          </a:bodyPr>
          <a:lstStyle/>
          <a:p>
            <a:pPr algn="ctr"/>
            <a:r>
              <a:rPr sz="1200" b="0">
                <a:solidFill>
                  <a:srgbClr val="29B7E6"/>
                </a:solidFill>
                <a:latin typeface="Calibri"/>
              </a:rPr>
              <a:t>Every flag</a:t>
            </a:r>
          </a:p>
        </p:txBody>
      </p:sp>
      <p:sp>
        <p:nvSpPr>
          <p:cNvPr id="16" name="TextBox 15"/>
          <p:cNvSpPr txBox="1"/>
          <p:nvPr/>
        </p:nvSpPr>
        <p:spPr>
          <a:xfrm>
            <a:off x="11247120" y="6446520"/>
            <a:ext cx="914400" cy="274320"/>
          </a:xfrm>
          <a:prstGeom prst="rect">
            <a:avLst/>
          </a:prstGeom>
          <a:noFill/>
        </p:spPr>
        <p:txBody>
          <a:bodyPr wrap="square" lIns="0" rIns="0" tIns="0" bIns="0" anchor="t">
            <a:spAutoFit/>
          </a:bodyPr>
          <a:lstStyle/>
          <a:p>
            <a:pPr algn="r"/>
            <a:r>
              <a:rPr sz="900" b="0">
                <a:solidFill>
                  <a:srgbClr val="FFFFFF"/>
                </a:solidFill>
                <a:latin typeface="Calibri"/>
              </a:rPr>
              <a:t>14 / 14</a:t>
            </a:r>
          </a:p>
        </p:txBody>
      </p:sp>
      <p:sp>
        <p:nvSpPr>
          <p:cNvPr id="17" name="TextBox 16"/>
          <p:cNvSpPr txBox="1"/>
          <p:nvPr/>
        </p:nvSpPr>
        <p:spPr>
          <a:xfrm>
            <a:off x="365760" y="6446520"/>
            <a:ext cx="5486400" cy="274320"/>
          </a:xfrm>
          <a:prstGeom prst="rect">
            <a:avLst/>
          </a:prstGeom>
          <a:noFill/>
        </p:spPr>
        <p:txBody>
          <a:bodyPr wrap="square" lIns="0" rIns="0" tIns="0" bIns="0" anchor="t">
            <a:spAutoFit/>
          </a:bodyPr>
          <a:lstStyle/>
          <a:p>
            <a:pPr algn="l"/>
            <a:r>
              <a:rPr sz="900" b="0">
                <a:solidFill>
                  <a:srgbClr val="FFFFFF"/>
                </a:solidFill>
                <a:latin typeface="Calibri"/>
              </a:rPr>
              <a:t>MICROPULSE  ·  performance intelligence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