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MicroPulse Load Metrics learning series. Over the next five short videos, we'll cover the five key load concepts every coach, strength coach, and sports medicine practitioner should understand to make informed training decisions. Mechanical Load Index. Metabolic Load Score. Neuromuscular Burden Score. Composite Load. And Load Intelligence. 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follows the same structure: a hook, the definition, why the metric matters, how MicroPulse uses it in practice, and a practical takeaway. Total runtime: about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player can run six kilometres in a session and walk off feeling fresh. Another player runs the same six kilometres and is wrecked the next morning. Total distance does not explain the difference. Mechanical Load Index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Mechanical Load Index, or M-L-I, is a composite of every explosive mechanical action an athlete does in a session. Not their steady running — that's metabolic. Mechanical load is the start-stop, plant-and-cut, brake-and-burst work that loads tendons, ligaments, and bone. It combines three things: accelerations, decelerations, and change-of-direction events. Each one is weighted by how intense it was. A maximum-effort sprint start counts more than a jog-to-walk transition.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players. Same distance. Same duration. Wildly different mechanical load. That is the heart of why M-L-I exists. Sports-science research consistently shows that eccentric mechanical work — the braking, the cutting, the landing — is the strongest predictor of soft-tissue injury. Hamstrings, quads, calves, ankles. Not how far you ran. How hard you stopped. If a coach only sees total distance, they undercook recovery for the press-heavy midfielder and overcook it for the centre-back. M-L-I fixes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MicroPulse, every athlete has their own personal Mechanical Load baseline — built from the last twenty-eight days of their own data, not a league average. So a midfielder's normal might be twelve hundred. A goalkeeper's normal might be three hundred. When today's M-L-I drifts more than one standard deviation above baseline, the player flags yellow. More than two standard deviations, red. The coach sees this before the next session starts. Mechanical Load Index turns 'the player feels tired' into 'the player did 1.4 standard deviations more eccentric work than usual — and here's what to change tomorrow.'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constant jog burns calories. A constant jog with eight sudden bursts burns three times more. But your stopwatch tells you the same total time. Metabolic Load Score is what tells you the real cost.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Metabolic Load Score measures how much energy an athlete actually spent — based on how often, and how sharply, their speed changed. Originally developed by Italian sports scientist Pietro di Prampero, the formula treats running with acceleration as equivalent to running uphill. The harder you accelerate, the steeper the imaginary slope. It's expressed in watts per kilogram — the same unit used in cycling. A typical training session might score around 8 to 12 watts per kilo. A high-intensity match can exceed 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sessions. Same average speed. Same total distance. Right-hand session burns twice the energy. The difference is the speed changes — every burst, every cut, every sudden brake costs metabolic fuel even if it doesn't add a single metre to the distance counter. This is why average heart rate is a poor measure of session intensity in team sport. Heart rate lags. Metabolic Load Score doesn't. It captures every spike, every nuance of variable-pace work — exactly the way football is actually played.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MicroPulse computes Metabolic Load Score for every session, every player. We baseline each athlete against their own personal twenty-eight-day rolling history. So a striker's normal load isn't compared to a defender's normal — it's compared to their normal. When the score drifts above the player's baseline band, the coach sees it before they plan the next session. Distance tells you how far. Metabolic Load Score tells you how expensive it was.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recover your aerobic system overnight. Your neuromuscular system needs longer. Much longer. Neuromuscular Burden Score tracks the load that doesn't recover by morning.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Neuromuscular Burden Score isolates the high-velocity, high-force actions that fatigue the nervous system — not just the muscle fibres themselves, but the brain's ability to recruit them. It combines three things: maximum-effort sprints, peak accelerations, and peak decelerations. Anything that demands the highest neural drive — explosive, short-duration, all-out efforts. The unit is composite — the score is normalised against the athlete's own personal peak history, so a value of one means today was a typical day for this athlete, and three means today was three times more neuromuscularly demanding.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trap. After a hard match, an athlete's heart rate variability normalises in twenty-four to thirty-six hours. Their subjective wellness scores normalise. They feel ready. But their fast-twitch system — the part that fires the sprint, the cut, the jump — can take seventy-two hours to fully recover. If you do another high-intensity session before that recovery completes, you don't just get suboptimal performance. You get an athlete sprinting on tired neural circuits. That's the moment hamstrings tear. Neuromuscular Burden Score is the metric that prevents that compounding error.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MicroPulse tracks Neuromuscular Burden across rolling seventy-two-hour windows. Even if today's training was light, the burden score keeps reading from the previous days. When it's still elevated, the coach sees a warning to scale back high-intensity drills — even if the player feels fine. Neuromuscular Burden Score answers one question every elite coach asks: 'Can this player handle high-speed work today?' Distance and heart rate can't answer that. The neuromuscular system can. Listen to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GPS unit gives you twenty different numbers. Every wellness questionnaire gives you another five. No coach has time to read them all. Composite Load gives you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Load is the unifying number — a single index that combines the three load systems we've already covered: mechanical, metabolic, and neuromuscular. The weighting reflects what sports science research tells us about injury risk and performance decrement. Mechanical work gets thirty-five percent. Metabolic work also gets thirty-five percent. Neuromuscular burden gets thirty percent. The result is a single value, scaled so that one is a typical training day for this athlete and two is as hard as a competitive match.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Load isn't just a daily summary. It powers the most important number in modern athlete monitoring: the Acute-to-Chronic Workload Ratio. The research, led by Tim Gabbett and replicated dozens of times since, shows that injury risk roughly doubles when an athlete's recent seven-day load exceeds their preceding four-week load by more than fifty percent. You can't compute that ratio meaningfully from raw distance — different sessions have different intensities. You need a single, intensity-weighted number. That's Composite Load.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MicroPulse dashboard, every player's Composite Load is computed nightly. Every player's seven-day-to-twenty-eight-day ratio is tracked. When the ratio drifts into the danger zone — above 1.5 — that player's row turns red, with a recommended training modification. The coach plans the week in five minutes. Not five hours. Composite Load is the answer to 'how hard was today, really?' — and the input to 'what should tomorrow look like?'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Intelligence is a set of four advanced metrics derived from Catapult GPS data. They're not raw counts. They're computed signals that tell you why an athlete's body is loaded the way it is. Decel Burden. Accel-to-Decel Ratio. High-Intensity Distance Trend. And Residual Decel. Each one answers a different question. Together they tell you whether an athlete's load is the kind that builds fitness — or the kind that breaks tissue.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Decel Burden tracks how many high-intensity deceleration events an athlete performed — specifically, decelerations beyond two metres per second squared. Why it matters: deceleration is eccentric muscle action. The muscle is lengthening while contracting — the most damaging type of contraction for soft tissue. Vanrenterghem and others have shown decel burden is more predictive of hamstring and calf injuries than total distance, sprint count, or even total deceleration count. A high decel burden in a single session, or a sudden week-on-week spike, is the single clearest mechanical injury warning.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Accel-to-Decel Ratio compares how often the athlete accelerated versus decelerated. In healthy match play, it sits roughly at one — for every burst forward, there's a brake to follow. When the ratio drops below 0.8, the athlete is decelerating more than they're accelerating — usually because they're being chased, scrambling defensively, or reacting to lost possession. Reactive decelerations are far less controlled, and far more injury-prone, than planned ones.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High-Intensity Distance percentage — HID — is the share of total distance an athlete covered above their high-speed threshold, typically 19.8 kilometres per hour. Tracked as a trend over four weeks, HID percentage tells you whether the athlete's training is drifting toward more explosive work even when total volume stays constant. A rising HID trend with stable total distance means the same hours of training are loading the body differently — and demanding more recovery.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 Decel is the most subtle of the four — and possibly the most powerful. It's the gap between how much an athlete decelerated, and how much we'd expect them to decelerate based on how much they accelerated and how far they ran. If a player's actual deceleration count is much higher than predicted, the difference is residual — extra eccentric work the model can't explain by normal running mechanics. In our data, residual decel has been the strongest single-session correlate of next-day soft-tissue complaints.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these four metrics give the coach what raw GPS data never could: the meaning behind the numbers. That's Load Intelligence.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4572000" cy="365760"/>
          </a:xfrm>
          <a:prstGeom prst="rect">
            <a:avLst/>
          </a:prstGeom>
          <a:noFill/>
        </p:spPr>
        <p:txBody>
          <a:bodyPr wrap="square" lIns="0" rIns="0" tIns="0" bIns="0" anchor="t">
            <a:spAutoFit/>
          </a:bodyPr>
          <a:lstStyle/>
          <a:p>
            <a:pPr algn="l"/>
            <a:r>
              <a:rPr sz="1100" b="1">
                <a:solidFill>
                  <a:srgbClr val="29B7E6"/>
                </a:solidFill>
                <a:latin typeface="Calibri"/>
              </a:rPr>
              <a:t>MICROPULSE</a:t>
            </a:r>
          </a:p>
        </p:txBody>
      </p:sp>
      <p:sp>
        <p:nvSpPr>
          <p:cNvPr id="4" name="TextBox 3"/>
          <p:cNvSpPr txBox="1"/>
          <p:nvPr/>
        </p:nvSpPr>
        <p:spPr>
          <a:xfrm>
            <a:off x="640080" y="2103120"/>
            <a:ext cx="10515600" cy="1463040"/>
          </a:xfrm>
          <a:prstGeom prst="rect">
            <a:avLst/>
          </a:prstGeom>
          <a:noFill/>
        </p:spPr>
        <p:txBody>
          <a:bodyPr wrap="square" lIns="0" rIns="0" tIns="0" bIns="0" anchor="t">
            <a:spAutoFit/>
          </a:bodyPr>
          <a:lstStyle/>
          <a:p>
            <a:pPr algn="l"/>
            <a:r>
              <a:rPr sz="8000" b="1">
                <a:solidFill>
                  <a:srgbClr val="FFFFFF"/>
                </a:solidFill>
                <a:latin typeface="Arial Black"/>
              </a:rPr>
              <a:t>Load Metrics</a:t>
            </a:r>
          </a:p>
        </p:txBody>
      </p:sp>
      <p:sp>
        <p:nvSpPr>
          <p:cNvPr id="5" name="TextBox 4"/>
          <p:cNvSpPr txBox="1"/>
          <p:nvPr/>
        </p:nvSpPr>
        <p:spPr>
          <a:xfrm>
            <a:off x="640080" y="3520440"/>
            <a:ext cx="10515600" cy="548640"/>
          </a:xfrm>
          <a:prstGeom prst="rect">
            <a:avLst/>
          </a:prstGeom>
          <a:noFill/>
        </p:spPr>
        <p:txBody>
          <a:bodyPr wrap="square" lIns="0" rIns="0" tIns="0" bIns="0" anchor="t">
            <a:spAutoFit/>
          </a:bodyPr>
          <a:lstStyle/>
          <a:p>
            <a:pPr algn="l"/>
            <a:r>
              <a:rPr sz="2200" b="0">
                <a:solidFill>
                  <a:srgbClr val="29B7E6"/>
                </a:solidFill>
                <a:latin typeface="Calibri"/>
              </a:rPr>
              <a:t>A 5-part learning series for coaches, S&amp;C, and medical staff</a:t>
            </a:r>
          </a:p>
        </p:txBody>
      </p:sp>
      <p:sp>
        <p:nvSpPr>
          <p:cNvPr id="6" name="Rounded Rectangle 5"/>
          <p:cNvSpPr/>
          <p:nvPr/>
        </p:nvSpPr>
        <p:spPr>
          <a:xfrm>
            <a:off x="838047" y="5029200"/>
            <a:ext cx="1920240" cy="109728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047" y="5166360"/>
            <a:ext cx="1920240" cy="365760"/>
          </a:xfrm>
          <a:prstGeom prst="rect">
            <a:avLst/>
          </a:prstGeom>
          <a:noFill/>
        </p:spPr>
        <p:txBody>
          <a:bodyPr wrap="square" lIns="0" rIns="0" tIns="0" bIns="0" anchor="t">
            <a:spAutoFit/>
          </a:bodyPr>
          <a:lstStyle/>
          <a:p>
            <a:pPr algn="ctr"/>
            <a:r>
              <a:rPr sz="2000" b="1">
                <a:solidFill>
                  <a:srgbClr val="29B7E6"/>
                </a:solidFill>
                <a:latin typeface="Arial Black"/>
              </a:rPr>
              <a:t>01</a:t>
            </a:r>
          </a:p>
        </p:txBody>
      </p:sp>
      <p:sp>
        <p:nvSpPr>
          <p:cNvPr id="8" name="TextBox 7"/>
          <p:cNvSpPr txBox="1"/>
          <p:nvPr/>
        </p:nvSpPr>
        <p:spPr>
          <a:xfrm>
            <a:off x="929487" y="5532120"/>
            <a:ext cx="1737360" cy="548640"/>
          </a:xfrm>
          <a:prstGeom prst="rect">
            <a:avLst/>
          </a:prstGeom>
          <a:noFill/>
        </p:spPr>
        <p:txBody>
          <a:bodyPr wrap="square" lIns="0" rIns="0" tIns="0" bIns="0" anchor="t">
            <a:spAutoFit/>
          </a:bodyPr>
          <a:lstStyle/>
          <a:p>
            <a:pPr algn="ctr"/>
            <a:r>
              <a:rPr sz="1000" b="1">
                <a:solidFill>
                  <a:srgbClr val="FFFFFF"/>
                </a:solidFill>
                <a:latin typeface="Calibri"/>
              </a:rPr>
              <a:t>MECHANICAL LOAD INDEX</a:t>
            </a:r>
          </a:p>
        </p:txBody>
      </p:sp>
      <p:sp>
        <p:nvSpPr>
          <p:cNvPr id="9" name="Rounded Rectangle 8"/>
          <p:cNvSpPr/>
          <p:nvPr/>
        </p:nvSpPr>
        <p:spPr>
          <a:xfrm>
            <a:off x="2986887" y="5029200"/>
            <a:ext cx="1920240" cy="109728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6887" y="5166360"/>
            <a:ext cx="1920240" cy="365760"/>
          </a:xfrm>
          <a:prstGeom prst="rect">
            <a:avLst/>
          </a:prstGeom>
          <a:noFill/>
        </p:spPr>
        <p:txBody>
          <a:bodyPr wrap="square" lIns="0" rIns="0" tIns="0" bIns="0" anchor="t">
            <a:spAutoFit/>
          </a:bodyPr>
          <a:lstStyle/>
          <a:p>
            <a:pPr algn="ctr"/>
            <a:r>
              <a:rPr sz="2000" b="1">
                <a:solidFill>
                  <a:srgbClr val="29B7E6"/>
                </a:solidFill>
                <a:latin typeface="Arial Black"/>
              </a:rPr>
              <a:t>02</a:t>
            </a:r>
          </a:p>
        </p:txBody>
      </p:sp>
      <p:sp>
        <p:nvSpPr>
          <p:cNvPr id="11" name="TextBox 10"/>
          <p:cNvSpPr txBox="1"/>
          <p:nvPr/>
        </p:nvSpPr>
        <p:spPr>
          <a:xfrm>
            <a:off x="3078327" y="5532120"/>
            <a:ext cx="1737360" cy="548640"/>
          </a:xfrm>
          <a:prstGeom prst="rect">
            <a:avLst/>
          </a:prstGeom>
          <a:noFill/>
        </p:spPr>
        <p:txBody>
          <a:bodyPr wrap="square" lIns="0" rIns="0" tIns="0" bIns="0" anchor="t">
            <a:spAutoFit/>
          </a:bodyPr>
          <a:lstStyle/>
          <a:p>
            <a:pPr algn="ctr"/>
            <a:r>
              <a:rPr sz="1000" b="1">
                <a:solidFill>
                  <a:srgbClr val="FFFFFF"/>
                </a:solidFill>
                <a:latin typeface="Calibri"/>
              </a:rPr>
              <a:t>METABOLIC LOAD SCORE</a:t>
            </a:r>
          </a:p>
        </p:txBody>
      </p:sp>
      <p:sp>
        <p:nvSpPr>
          <p:cNvPr id="12" name="Rounded Rectangle 11"/>
          <p:cNvSpPr/>
          <p:nvPr/>
        </p:nvSpPr>
        <p:spPr>
          <a:xfrm>
            <a:off x="5135727" y="5029200"/>
            <a:ext cx="1920240" cy="109728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5727" y="5166360"/>
            <a:ext cx="1920240" cy="365760"/>
          </a:xfrm>
          <a:prstGeom prst="rect">
            <a:avLst/>
          </a:prstGeom>
          <a:noFill/>
        </p:spPr>
        <p:txBody>
          <a:bodyPr wrap="square" lIns="0" rIns="0" tIns="0" bIns="0" anchor="t">
            <a:spAutoFit/>
          </a:bodyPr>
          <a:lstStyle/>
          <a:p>
            <a:pPr algn="ctr"/>
            <a:r>
              <a:rPr sz="2000" b="1">
                <a:solidFill>
                  <a:srgbClr val="29B7E6"/>
                </a:solidFill>
                <a:latin typeface="Arial Black"/>
              </a:rPr>
              <a:t>03</a:t>
            </a:r>
          </a:p>
        </p:txBody>
      </p:sp>
      <p:sp>
        <p:nvSpPr>
          <p:cNvPr id="14" name="TextBox 13"/>
          <p:cNvSpPr txBox="1"/>
          <p:nvPr/>
        </p:nvSpPr>
        <p:spPr>
          <a:xfrm>
            <a:off x="5227167" y="5532120"/>
            <a:ext cx="1737360" cy="548640"/>
          </a:xfrm>
          <a:prstGeom prst="rect">
            <a:avLst/>
          </a:prstGeom>
          <a:noFill/>
        </p:spPr>
        <p:txBody>
          <a:bodyPr wrap="square" lIns="0" rIns="0" tIns="0" bIns="0" anchor="t">
            <a:spAutoFit/>
          </a:bodyPr>
          <a:lstStyle/>
          <a:p>
            <a:pPr algn="ctr"/>
            <a:r>
              <a:rPr sz="1000" b="1">
                <a:solidFill>
                  <a:srgbClr val="FFFFFF"/>
                </a:solidFill>
                <a:latin typeface="Calibri"/>
              </a:rPr>
              <a:t>NEUROMUSCULAR BURDEN</a:t>
            </a:r>
          </a:p>
        </p:txBody>
      </p:sp>
      <p:sp>
        <p:nvSpPr>
          <p:cNvPr id="15" name="Rounded Rectangle 14"/>
          <p:cNvSpPr/>
          <p:nvPr/>
        </p:nvSpPr>
        <p:spPr>
          <a:xfrm>
            <a:off x="7284567" y="5029200"/>
            <a:ext cx="1920240" cy="109728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84567" y="5166360"/>
            <a:ext cx="1920240" cy="365760"/>
          </a:xfrm>
          <a:prstGeom prst="rect">
            <a:avLst/>
          </a:prstGeom>
          <a:noFill/>
        </p:spPr>
        <p:txBody>
          <a:bodyPr wrap="square" lIns="0" rIns="0" tIns="0" bIns="0" anchor="t">
            <a:spAutoFit/>
          </a:bodyPr>
          <a:lstStyle/>
          <a:p>
            <a:pPr algn="ctr"/>
            <a:r>
              <a:rPr sz="2000" b="1">
                <a:solidFill>
                  <a:srgbClr val="29B7E6"/>
                </a:solidFill>
                <a:latin typeface="Arial Black"/>
              </a:rPr>
              <a:t>04</a:t>
            </a:r>
          </a:p>
        </p:txBody>
      </p:sp>
      <p:sp>
        <p:nvSpPr>
          <p:cNvPr id="17" name="TextBox 16"/>
          <p:cNvSpPr txBox="1"/>
          <p:nvPr/>
        </p:nvSpPr>
        <p:spPr>
          <a:xfrm>
            <a:off x="7376007" y="5532120"/>
            <a:ext cx="1737360" cy="548640"/>
          </a:xfrm>
          <a:prstGeom prst="rect">
            <a:avLst/>
          </a:prstGeom>
          <a:noFill/>
        </p:spPr>
        <p:txBody>
          <a:bodyPr wrap="square" lIns="0" rIns="0" tIns="0" bIns="0" anchor="t">
            <a:spAutoFit/>
          </a:bodyPr>
          <a:lstStyle/>
          <a:p>
            <a:pPr algn="ctr"/>
            <a:r>
              <a:rPr sz="1000" b="1">
                <a:solidFill>
                  <a:srgbClr val="FFFFFF"/>
                </a:solidFill>
                <a:latin typeface="Calibri"/>
              </a:rPr>
              <a:t>COMPOSITE LOAD</a:t>
            </a:r>
          </a:p>
        </p:txBody>
      </p:sp>
      <p:sp>
        <p:nvSpPr>
          <p:cNvPr id="18" name="Rounded Rectangle 17"/>
          <p:cNvSpPr/>
          <p:nvPr/>
        </p:nvSpPr>
        <p:spPr>
          <a:xfrm>
            <a:off x="9433407" y="5029200"/>
            <a:ext cx="1920240" cy="109728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33407" y="5166360"/>
            <a:ext cx="1920240" cy="365760"/>
          </a:xfrm>
          <a:prstGeom prst="rect">
            <a:avLst/>
          </a:prstGeom>
          <a:noFill/>
        </p:spPr>
        <p:txBody>
          <a:bodyPr wrap="square" lIns="0" rIns="0" tIns="0" bIns="0" anchor="t">
            <a:spAutoFit/>
          </a:bodyPr>
          <a:lstStyle/>
          <a:p>
            <a:pPr algn="ctr"/>
            <a:r>
              <a:rPr sz="2000" b="1">
                <a:solidFill>
                  <a:srgbClr val="29B7E6"/>
                </a:solidFill>
                <a:latin typeface="Arial Black"/>
              </a:rPr>
              <a:t>05</a:t>
            </a:r>
          </a:p>
        </p:txBody>
      </p:sp>
      <p:sp>
        <p:nvSpPr>
          <p:cNvPr id="20" name="TextBox 19"/>
          <p:cNvSpPr txBox="1"/>
          <p:nvPr/>
        </p:nvSpPr>
        <p:spPr>
          <a:xfrm>
            <a:off x="9524847" y="5532120"/>
            <a:ext cx="1737360" cy="548640"/>
          </a:xfrm>
          <a:prstGeom prst="rect">
            <a:avLst/>
          </a:prstGeom>
          <a:noFill/>
        </p:spPr>
        <p:txBody>
          <a:bodyPr wrap="square" lIns="0" rIns="0" tIns="0" bIns="0" anchor="t">
            <a:spAutoFit/>
          </a:bodyPr>
          <a:lstStyle/>
          <a:p>
            <a:pPr algn="ctr"/>
            <a:r>
              <a:rPr sz="1000" b="1">
                <a:solidFill>
                  <a:srgbClr val="FFFFFF"/>
                </a:solidFill>
                <a:latin typeface="Calibri"/>
              </a:rPr>
              <a:t>LOAD INTELLIGENCE</a:t>
            </a:r>
          </a:p>
        </p:txBody>
      </p:sp>
      <p:sp>
        <p:nvSpPr>
          <p:cNvPr id="21" name="Oval 20"/>
          <p:cNvSpPr/>
          <p:nvPr/>
        </p:nvSpPr>
        <p:spPr>
          <a:xfrm>
            <a:off x="9776766" y="61447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04781" y="61447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32797" y="61447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60814" y="61447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288829" y="55047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416846" y="42245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544862" y="23042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640874" y="3840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736884" y="-15361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32897" y="3840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928908" y="23042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24921" y="42245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120932" y="61447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248949" y="678484"/>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376965" y="64648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504980" y="61447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10972800" cy="548640"/>
          </a:xfrm>
          <a:prstGeom prst="rect">
            <a:avLst/>
          </a:prstGeom>
          <a:noFill/>
        </p:spPr>
        <p:txBody>
          <a:bodyPr wrap="square" lIns="0" rIns="0" tIns="0" bIns="0" anchor="t">
            <a:spAutoFit/>
          </a:bodyPr>
          <a:lstStyle/>
          <a:p>
            <a:pPr algn="l"/>
            <a:r>
              <a:rPr sz="3600" b="1">
                <a:solidFill>
                  <a:srgbClr val="1E293B"/>
                </a:solidFill>
                <a:latin typeface="Calibri"/>
              </a:rPr>
              <a:t>What's inside</a:t>
            </a:r>
          </a:p>
        </p:txBody>
      </p:sp>
      <p:sp>
        <p:nvSpPr>
          <p:cNvPr id="5" name="TextBox 4"/>
          <p:cNvSpPr txBox="1"/>
          <p:nvPr/>
        </p:nvSpPr>
        <p:spPr>
          <a:xfrm>
            <a:off x="640080" y="1097280"/>
            <a:ext cx="10972800" cy="365760"/>
          </a:xfrm>
          <a:prstGeom prst="rect">
            <a:avLst/>
          </a:prstGeom>
          <a:noFill/>
        </p:spPr>
        <p:txBody>
          <a:bodyPr wrap="square" lIns="0" rIns="0" tIns="0" bIns="0" anchor="t">
            <a:spAutoFit/>
          </a:bodyPr>
          <a:lstStyle/>
          <a:p>
            <a:pPr algn="l"/>
            <a:r>
              <a:rPr sz="1500" b="0">
                <a:solidFill>
                  <a:srgbClr val="64748B"/>
                </a:solidFill>
                <a:latin typeface="Calibri"/>
              </a:rPr>
              <a:t>Five 2-3 minute concepts. Watch one a day, or all in one sitting.</a:t>
            </a:r>
          </a:p>
        </p:txBody>
      </p:sp>
      <p:sp>
        <p:nvSpPr>
          <p:cNvPr id="6" name="Rounded Rectangle 5"/>
          <p:cNvSpPr/>
          <p:nvPr/>
        </p:nvSpPr>
        <p:spPr>
          <a:xfrm>
            <a:off x="640080" y="1828800"/>
            <a:ext cx="822960" cy="77724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47672"/>
            <a:ext cx="822960" cy="548640"/>
          </a:xfrm>
          <a:prstGeom prst="rect">
            <a:avLst/>
          </a:prstGeom>
          <a:noFill/>
        </p:spPr>
        <p:txBody>
          <a:bodyPr wrap="square" lIns="0" rIns="0" tIns="0" bIns="0" anchor="t">
            <a:spAutoFit/>
          </a:bodyPr>
          <a:lstStyle/>
          <a:p>
            <a:pPr algn="ctr"/>
            <a:r>
              <a:rPr sz="2400" b="1">
                <a:solidFill>
                  <a:srgbClr val="FFFFFF"/>
                </a:solidFill>
                <a:latin typeface="Arial Black"/>
              </a:rPr>
              <a:t>01</a:t>
            </a:r>
          </a:p>
        </p:txBody>
      </p:sp>
      <p:sp>
        <p:nvSpPr>
          <p:cNvPr id="8" name="TextBox 7"/>
          <p:cNvSpPr txBox="1"/>
          <p:nvPr/>
        </p:nvSpPr>
        <p:spPr>
          <a:xfrm>
            <a:off x="1691640" y="1783080"/>
            <a:ext cx="10058400" cy="457200"/>
          </a:xfrm>
          <a:prstGeom prst="rect">
            <a:avLst/>
          </a:prstGeom>
          <a:noFill/>
        </p:spPr>
        <p:txBody>
          <a:bodyPr wrap="square" lIns="0" rIns="0" tIns="0" bIns="0" anchor="t">
            <a:spAutoFit/>
          </a:bodyPr>
          <a:lstStyle/>
          <a:p>
            <a:pPr algn="l"/>
            <a:r>
              <a:rPr sz="2200" b="1">
                <a:solidFill>
                  <a:srgbClr val="1E293B"/>
                </a:solidFill>
                <a:latin typeface="Calibri"/>
              </a:rPr>
              <a:t>Mechanical Load Index</a:t>
            </a:r>
          </a:p>
        </p:txBody>
      </p:sp>
      <p:sp>
        <p:nvSpPr>
          <p:cNvPr id="9" name="TextBox 8"/>
          <p:cNvSpPr txBox="1"/>
          <p:nvPr/>
        </p:nvSpPr>
        <p:spPr>
          <a:xfrm>
            <a:off x="1691640" y="2240280"/>
            <a:ext cx="10058400" cy="365760"/>
          </a:xfrm>
          <a:prstGeom prst="rect">
            <a:avLst/>
          </a:prstGeom>
          <a:noFill/>
        </p:spPr>
        <p:txBody>
          <a:bodyPr wrap="square" lIns="0" rIns="0" tIns="0" bIns="0" anchor="t">
            <a:spAutoFit/>
          </a:bodyPr>
          <a:lstStyle/>
          <a:p>
            <a:pPr algn="l"/>
            <a:r>
              <a:rPr sz="1300" b="0">
                <a:solidFill>
                  <a:srgbClr val="64748B"/>
                </a:solidFill>
                <a:latin typeface="Calibri"/>
              </a:rPr>
              <a:t>The cost of stop-start work — accels, decels, cuts</a:t>
            </a:r>
          </a:p>
        </p:txBody>
      </p:sp>
      <p:sp>
        <p:nvSpPr>
          <p:cNvPr id="10" name="Rounded Rectangle 9"/>
          <p:cNvSpPr/>
          <p:nvPr/>
        </p:nvSpPr>
        <p:spPr>
          <a:xfrm>
            <a:off x="640080" y="2788920"/>
            <a:ext cx="822960" cy="77724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07792"/>
            <a:ext cx="822960" cy="548640"/>
          </a:xfrm>
          <a:prstGeom prst="rect">
            <a:avLst/>
          </a:prstGeom>
          <a:noFill/>
        </p:spPr>
        <p:txBody>
          <a:bodyPr wrap="square" lIns="0" rIns="0" tIns="0" bIns="0" anchor="t">
            <a:spAutoFit/>
          </a:bodyPr>
          <a:lstStyle/>
          <a:p>
            <a:pPr algn="ctr"/>
            <a:r>
              <a:rPr sz="2400" b="1">
                <a:solidFill>
                  <a:srgbClr val="FFFFFF"/>
                </a:solidFill>
                <a:latin typeface="Arial Black"/>
              </a:rPr>
              <a:t>02</a:t>
            </a:r>
          </a:p>
        </p:txBody>
      </p:sp>
      <p:sp>
        <p:nvSpPr>
          <p:cNvPr id="12" name="TextBox 11"/>
          <p:cNvSpPr txBox="1"/>
          <p:nvPr/>
        </p:nvSpPr>
        <p:spPr>
          <a:xfrm>
            <a:off x="1691640" y="2743200"/>
            <a:ext cx="10058400" cy="457200"/>
          </a:xfrm>
          <a:prstGeom prst="rect">
            <a:avLst/>
          </a:prstGeom>
          <a:noFill/>
        </p:spPr>
        <p:txBody>
          <a:bodyPr wrap="square" lIns="0" rIns="0" tIns="0" bIns="0" anchor="t">
            <a:spAutoFit/>
          </a:bodyPr>
          <a:lstStyle/>
          <a:p>
            <a:pPr algn="l"/>
            <a:r>
              <a:rPr sz="2200" b="1">
                <a:solidFill>
                  <a:srgbClr val="1E293B"/>
                </a:solidFill>
                <a:latin typeface="Calibri"/>
              </a:rPr>
              <a:t>Metabolic Load Score</a:t>
            </a:r>
          </a:p>
        </p:txBody>
      </p:sp>
      <p:sp>
        <p:nvSpPr>
          <p:cNvPr id="13" name="TextBox 12"/>
          <p:cNvSpPr txBox="1"/>
          <p:nvPr/>
        </p:nvSpPr>
        <p:spPr>
          <a:xfrm>
            <a:off x="1691640" y="3200400"/>
            <a:ext cx="10058400" cy="365760"/>
          </a:xfrm>
          <a:prstGeom prst="rect">
            <a:avLst/>
          </a:prstGeom>
          <a:noFill/>
        </p:spPr>
        <p:txBody>
          <a:bodyPr wrap="square" lIns="0" rIns="0" tIns="0" bIns="0" anchor="t">
            <a:spAutoFit/>
          </a:bodyPr>
          <a:lstStyle/>
          <a:p>
            <a:pPr algn="l"/>
            <a:r>
              <a:rPr sz="1300" b="0">
                <a:solidFill>
                  <a:srgbClr val="64748B"/>
                </a:solidFill>
                <a:latin typeface="Calibri"/>
              </a:rPr>
              <a:t>What an athlete actually spent — energy from speed changes</a:t>
            </a:r>
          </a:p>
        </p:txBody>
      </p:sp>
      <p:sp>
        <p:nvSpPr>
          <p:cNvPr id="14" name="Rounded Rectangle 13"/>
          <p:cNvSpPr/>
          <p:nvPr/>
        </p:nvSpPr>
        <p:spPr>
          <a:xfrm>
            <a:off x="640080" y="3749040"/>
            <a:ext cx="822960" cy="77724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67912"/>
            <a:ext cx="822960" cy="548640"/>
          </a:xfrm>
          <a:prstGeom prst="rect">
            <a:avLst/>
          </a:prstGeom>
          <a:noFill/>
        </p:spPr>
        <p:txBody>
          <a:bodyPr wrap="square" lIns="0" rIns="0" tIns="0" bIns="0" anchor="t">
            <a:spAutoFit/>
          </a:bodyPr>
          <a:lstStyle/>
          <a:p>
            <a:pPr algn="ctr"/>
            <a:r>
              <a:rPr sz="2400" b="1">
                <a:solidFill>
                  <a:srgbClr val="FFFFFF"/>
                </a:solidFill>
                <a:latin typeface="Arial Black"/>
              </a:rPr>
              <a:t>03</a:t>
            </a:r>
          </a:p>
        </p:txBody>
      </p:sp>
      <p:sp>
        <p:nvSpPr>
          <p:cNvPr id="16" name="TextBox 15"/>
          <p:cNvSpPr txBox="1"/>
          <p:nvPr/>
        </p:nvSpPr>
        <p:spPr>
          <a:xfrm>
            <a:off x="1691640" y="3703320"/>
            <a:ext cx="10058400" cy="457200"/>
          </a:xfrm>
          <a:prstGeom prst="rect">
            <a:avLst/>
          </a:prstGeom>
          <a:noFill/>
        </p:spPr>
        <p:txBody>
          <a:bodyPr wrap="square" lIns="0" rIns="0" tIns="0" bIns="0" anchor="t">
            <a:spAutoFit/>
          </a:bodyPr>
          <a:lstStyle/>
          <a:p>
            <a:pPr algn="l"/>
            <a:r>
              <a:rPr sz="2200" b="1">
                <a:solidFill>
                  <a:srgbClr val="1E293B"/>
                </a:solidFill>
                <a:latin typeface="Calibri"/>
              </a:rPr>
              <a:t>Neuromuscular Burden Score</a:t>
            </a:r>
          </a:p>
        </p:txBody>
      </p:sp>
      <p:sp>
        <p:nvSpPr>
          <p:cNvPr id="17" name="TextBox 16"/>
          <p:cNvSpPr txBox="1"/>
          <p:nvPr/>
        </p:nvSpPr>
        <p:spPr>
          <a:xfrm>
            <a:off x="1691640" y="4160520"/>
            <a:ext cx="10058400" cy="365760"/>
          </a:xfrm>
          <a:prstGeom prst="rect">
            <a:avLst/>
          </a:prstGeom>
          <a:noFill/>
        </p:spPr>
        <p:txBody>
          <a:bodyPr wrap="square" lIns="0" rIns="0" tIns="0" bIns="0" anchor="t">
            <a:spAutoFit/>
          </a:bodyPr>
          <a:lstStyle/>
          <a:p>
            <a:pPr algn="l"/>
            <a:r>
              <a:rPr sz="1300" b="0">
                <a:solidFill>
                  <a:srgbClr val="64748B"/>
                </a:solidFill>
                <a:latin typeface="Calibri"/>
              </a:rPr>
              <a:t>The fast-twitch load that doesn't recover overnight</a:t>
            </a:r>
          </a:p>
        </p:txBody>
      </p:sp>
      <p:sp>
        <p:nvSpPr>
          <p:cNvPr id="18" name="Rounded Rectangle 17"/>
          <p:cNvSpPr/>
          <p:nvPr/>
        </p:nvSpPr>
        <p:spPr>
          <a:xfrm>
            <a:off x="640080" y="4709160"/>
            <a:ext cx="822960" cy="77724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828032"/>
            <a:ext cx="822960" cy="548640"/>
          </a:xfrm>
          <a:prstGeom prst="rect">
            <a:avLst/>
          </a:prstGeom>
          <a:noFill/>
        </p:spPr>
        <p:txBody>
          <a:bodyPr wrap="square" lIns="0" rIns="0" tIns="0" bIns="0" anchor="t">
            <a:spAutoFit/>
          </a:bodyPr>
          <a:lstStyle/>
          <a:p>
            <a:pPr algn="ctr"/>
            <a:r>
              <a:rPr sz="2400" b="1">
                <a:solidFill>
                  <a:srgbClr val="FFFFFF"/>
                </a:solidFill>
                <a:latin typeface="Arial Black"/>
              </a:rPr>
              <a:t>04</a:t>
            </a:r>
          </a:p>
        </p:txBody>
      </p:sp>
      <p:sp>
        <p:nvSpPr>
          <p:cNvPr id="20" name="TextBox 19"/>
          <p:cNvSpPr txBox="1"/>
          <p:nvPr/>
        </p:nvSpPr>
        <p:spPr>
          <a:xfrm>
            <a:off x="1691640" y="4663440"/>
            <a:ext cx="10058400" cy="457200"/>
          </a:xfrm>
          <a:prstGeom prst="rect">
            <a:avLst/>
          </a:prstGeom>
          <a:noFill/>
        </p:spPr>
        <p:txBody>
          <a:bodyPr wrap="square" lIns="0" rIns="0" tIns="0" bIns="0" anchor="t">
            <a:spAutoFit/>
          </a:bodyPr>
          <a:lstStyle/>
          <a:p>
            <a:pPr algn="l"/>
            <a:r>
              <a:rPr sz="2200" b="1">
                <a:solidFill>
                  <a:srgbClr val="1E293B"/>
                </a:solidFill>
                <a:latin typeface="Calibri"/>
              </a:rPr>
              <a:t>Composite Load</a:t>
            </a:r>
          </a:p>
        </p:txBody>
      </p:sp>
      <p:sp>
        <p:nvSpPr>
          <p:cNvPr id="21" name="TextBox 20"/>
          <p:cNvSpPr txBox="1"/>
          <p:nvPr/>
        </p:nvSpPr>
        <p:spPr>
          <a:xfrm>
            <a:off x="1691640" y="5120640"/>
            <a:ext cx="10058400" cy="365760"/>
          </a:xfrm>
          <a:prstGeom prst="rect">
            <a:avLst/>
          </a:prstGeom>
          <a:noFill/>
        </p:spPr>
        <p:txBody>
          <a:bodyPr wrap="square" lIns="0" rIns="0" tIns="0" bIns="0" anchor="t">
            <a:spAutoFit/>
          </a:bodyPr>
          <a:lstStyle/>
          <a:p>
            <a:pPr algn="l"/>
            <a:r>
              <a:rPr sz="1300" b="0">
                <a:solidFill>
                  <a:srgbClr val="64748B"/>
                </a:solidFill>
                <a:latin typeface="Calibri"/>
              </a:rPr>
              <a:t>One number for the day · the input to ACWR</a:t>
            </a:r>
          </a:p>
        </p:txBody>
      </p:sp>
      <p:sp>
        <p:nvSpPr>
          <p:cNvPr id="22" name="Rounded Rectangle 21"/>
          <p:cNvSpPr/>
          <p:nvPr/>
        </p:nvSpPr>
        <p:spPr>
          <a:xfrm>
            <a:off x="640080" y="5669280"/>
            <a:ext cx="822960" cy="77724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788152"/>
            <a:ext cx="822960" cy="548640"/>
          </a:xfrm>
          <a:prstGeom prst="rect">
            <a:avLst/>
          </a:prstGeom>
          <a:noFill/>
        </p:spPr>
        <p:txBody>
          <a:bodyPr wrap="square" lIns="0" rIns="0" tIns="0" bIns="0" anchor="t">
            <a:spAutoFit/>
          </a:bodyPr>
          <a:lstStyle/>
          <a:p>
            <a:pPr algn="ctr"/>
            <a:r>
              <a:rPr sz="2400" b="1">
                <a:solidFill>
                  <a:srgbClr val="FFFFFF"/>
                </a:solidFill>
                <a:latin typeface="Arial Black"/>
              </a:rPr>
              <a:t>05</a:t>
            </a:r>
          </a:p>
        </p:txBody>
      </p:sp>
      <p:sp>
        <p:nvSpPr>
          <p:cNvPr id="24" name="TextBox 23"/>
          <p:cNvSpPr txBox="1"/>
          <p:nvPr/>
        </p:nvSpPr>
        <p:spPr>
          <a:xfrm>
            <a:off x="1691640" y="5623560"/>
            <a:ext cx="10058400" cy="457200"/>
          </a:xfrm>
          <a:prstGeom prst="rect">
            <a:avLst/>
          </a:prstGeom>
          <a:noFill/>
        </p:spPr>
        <p:txBody>
          <a:bodyPr wrap="square" lIns="0" rIns="0" tIns="0" bIns="0" anchor="t">
            <a:spAutoFit/>
          </a:bodyPr>
          <a:lstStyle/>
          <a:p>
            <a:pPr algn="l"/>
            <a:r>
              <a:rPr sz="2200" b="1">
                <a:solidFill>
                  <a:srgbClr val="1E293B"/>
                </a:solidFill>
                <a:latin typeface="Calibri"/>
              </a:rPr>
              <a:t>Load Intelligence</a:t>
            </a:r>
          </a:p>
        </p:txBody>
      </p:sp>
      <p:sp>
        <p:nvSpPr>
          <p:cNvPr id="25" name="TextBox 24"/>
          <p:cNvSpPr txBox="1"/>
          <p:nvPr/>
        </p:nvSpPr>
        <p:spPr>
          <a:xfrm>
            <a:off x="1691640" y="6080760"/>
            <a:ext cx="10058400" cy="365760"/>
          </a:xfrm>
          <a:prstGeom prst="rect">
            <a:avLst/>
          </a:prstGeom>
          <a:noFill/>
        </p:spPr>
        <p:txBody>
          <a:bodyPr wrap="square" lIns="0" rIns="0" tIns="0" bIns="0" anchor="t">
            <a:spAutoFit/>
          </a:bodyPr>
          <a:lstStyle/>
          <a:p>
            <a:pPr algn="l"/>
            <a:r>
              <a:rPr sz="1300" b="0">
                <a:solidFill>
                  <a:srgbClr val="64748B"/>
                </a:solidFill>
                <a:latin typeface="Calibri"/>
              </a:rPr>
              <a:t>Decel burden · Accel:Decel · HID% trend · Residual Decel</a:t>
            </a:r>
          </a:p>
        </p:txBody>
      </p:sp>
      <p:sp>
        <p:nvSpPr>
          <p:cNvPr id="26" name="TextBox 25"/>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02 / 29</a:t>
            </a:r>
          </a:p>
        </p:txBody>
      </p:sp>
      <p:sp>
        <p:nvSpPr>
          <p:cNvPr id="27" name="TextBox 26"/>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457200"/>
            <a:ext cx="1828800" cy="365760"/>
          </a:xfrm>
          <a:prstGeom prst="rect">
            <a:avLst/>
          </a:prstGeom>
          <a:noFill/>
        </p:spPr>
        <p:txBody>
          <a:bodyPr wrap="square" lIns="0" rIns="0" tIns="0" bIns="0" anchor="t">
            <a:spAutoFit/>
          </a:bodyPr>
          <a:lstStyle/>
          <a:p>
            <a:pPr algn="r"/>
            <a:r>
              <a:rPr sz="1100" b="1">
                <a:solidFill>
                  <a:srgbClr val="29B7E6"/>
                </a:solidFill>
                <a:latin typeface="Calibri"/>
              </a:rPr>
              <a:t>SECTION 1 / 5</a:t>
            </a:r>
          </a:p>
        </p:txBody>
      </p:sp>
      <p:sp>
        <p:nvSpPr>
          <p:cNvPr id="4" name="TextBox 3"/>
          <p:cNvSpPr txBox="1"/>
          <p:nvPr/>
        </p:nvSpPr>
        <p:spPr>
          <a:xfrm>
            <a:off x="457200" y="2011680"/>
            <a:ext cx="3108960" cy="2286000"/>
          </a:xfrm>
          <a:prstGeom prst="rect">
            <a:avLst/>
          </a:prstGeom>
          <a:noFill/>
        </p:spPr>
        <p:txBody>
          <a:bodyPr wrap="square" lIns="0" rIns="0" tIns="0" bIns="0" anchor="t">
            <a:spAutoFit/>
          </a:bodyPr>
          <a:lstStyle/>
          <a:p>
            <a:pPr algn="ctr"/>
            <a:r>
              <a:rPr sz="14000" b="1">
                <a:solidFill>
                  <a:srgbClr val="005A2B"/>
                </a:solidFill>
                <a:latin typeface="Arial Black"/>
              </a:rPr>
              <a:t>01</a:t>
            </a:r>
          </a:p>
        </p:txBody>
      </p:sp>
      <p:sp>
        <p:nvSpPr>
          <p:cNvPr id="5" name="TextBox 4"/>
          <p:cNvSpPr txBox="1"/>
          <p:nvPr/>
        </p:nvSpPr>
        <p:spPr>
          <a:xfrm>
            <a:off x="3657600" y="2286000"/>
            <a:ext cx="8229600" cy="1371600"/>
          </a:xfrm>
          <a:prstGeom prst="rect">
            <a:avLst/>
          </a:prstGeom>
          <a:noFill/>
        </p:spPr>
        <p:txBody>
          <a:bodyPr wrap="square" lIns="0" rIns="0" tIns="0" bIns="0" anchor="t">
            <a:spAutoFit/>
          </a:bodyPr>
          <a:lstStyle/>
          <a:p>
            <a:pPr algn="l"/>
            <a:r>
              <a:rPr sz="4800" b="1">
                <a:solidFill>
                  <a:srgbClr val="FFFFFF"/>
                </a:solidFill>
                <a:latin typeface="Arial Black"/>
              </a:rPr>
              <a:t>Mechanical Load Index</a:t>
            </a:r>
          </a:p>
        </p:txBody>
      </p:sp>
      <p:sp>
        <p:nvSpPr>
          <p:cNvPr id="6" name="TextBox 5"/>
          <p:cNvSpPr txBox="1"/>
          <p:nvPr/>
        </p:nvSpPr>
        <p:spPr>
          <a:xfrm>
            <a:off x="3657600" y="3931920"/>
            <a:ext cx="8229600" cy="914400"/>
          </a:xfrm>
          <a:prstGeom prst="rect">
            <a:avLst/>
          </a:prstGeom>
          <a:noFill/>
        </p:spPr>
        <p:txBody>
          <a:bodyPr wrap="square" lIns="0" rIns="0" tIns="0" bIns="0" anchor="t">
            <a:spAutoFit/>
          </a:bodyPr>
          <a:lstStyle/>
          <a:p>
            <a:pPr algn="l"/>
            <a:r>
              <a:rPr sz="2200" b="0">
                <a:solidFill>
                  <a:srgbClr val="29B7E6"/>
                </a:solidFill>
                <a:latin typeface="Calibri"/>
              </a:rPr>
              <a:t>The cost of stop-start work</a:t>
            </a:r>
          </a:p>
        </p:txBody>
      </p:sp>
      <p:sp>
        <p:nvSpPr>
          <p:cNvPr id="7" name="Oval 6"/>
          <p:cNvSpPr/>
          <p:nvPr/>
        </p:nvSpPr>
        <p:spPr>
          <a:xfrm>
            <a:off x="9593886"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21901"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49917"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77934"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05949" y="585399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33966"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61982"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57994"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54004" y="5149901"/>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50017"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6028"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42041"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38052"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66069" y="5982004"/>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94085" y="595000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322100"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FFFFFF"/>
                </a:solidFill>
                <a:latin typeface="Calibri"/>
              </a:rPr>
              <a:t>MICROPULSE  ·  performance intelligence</a:t>
            </a:r>
          </a:p>
        </p:txBody>
      </p:sp>
      <p:sp>
        <p:nvSpPr>
          <p:cNvPr id="24" name="TextBox 23"/>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FFFFFF"/>
                </a:solidFill>
                <a:latin typeface="Calibri"/>
              </a:rPr>
              <a:t>03 /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01 · MECHANICAL LOAD INDEX</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Same distance. Different damage.</a:t>
            </a:r>
          </a:p>
        </p:txBody>
      </p:sp>
      <p:sp>
        <p:nvSpPr>
          <p:cNvPr id="6" name="Rounded Rectangle 5"/>
          <p:cNvSpPr/>
          <p:nvPr/>
        </p:nvSpPr>
        <p:spPr>
          <a:xfrm>
            <a:off x="640080" y="1645920"/>
            <a:ext cx="5394960" cy="41148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365760"/>
          </a:xfrm>
          <a:prstGeom prst="rect">
            <a:avLst/>
          </a:prstGeom>
          <a:noFill/>
        </p:spPr>
        <p:txBody>
          <a:bodyPr wrap="square" lIns="0" rIns="0" tIns="0" bIns="0" anchor="t">
            <a:spAutoFit/>
          </a:bodyPr>
          <a:lstStyle/>
          <a:p>
            <a:pPr algn="l"/>
            <a:r>
              <a:rPr sz="1200" b="1">
                <a:solidFill>
                  <a:srgbClr val="64748B"/>
                </a:solidFill>
                <a:latin typeface="Calibri"/>
              </a:rPr>
              <a:t>PLAYER A</a:t>
            </a:r>
          </a:p>
        </p:txBody>
      </p:sp>
      <p:sp>
        <p:nvSpPr>
          <p:cNvPr id="8" name="TextBox 7"/>
          <p:cNvSpPr txBox="1"/>
          <p:nvPr/>
        </p:nvSpPr>
        <p:spPr>
          <a:xfrm>
            <a:off x="868680" y="2331720"/>
            <a:ext cx="5029200" cy="640080"/>
          </a:xfrm>
          <a:prstGeom prst="rect">
            <a:avLst/>
          </a:prstGeom>
          <a:noFill/>
        </p:spPr>
        <p:txBody>
          <a:bodyPr wrap="square" lIns="0" rIns="0" tIns="0" bIns="0" anchor="t">
            <a:spAutoFit/>
          </a:bodyPr>
          <a:lstStyle/>
          <a:p>
            <a:pPr algn="l"/>
            <a:r>
              <a:rPr sz="2600" b="1">
                <a:solidFill>
                  <a:srgbClr val="1E293B"/>
                </a:solidFill>
                <a:latin typeface="Calibri"/>
              </a:rPr>
              <a:t>Steady runner</a:t>
            </a:r>
          </a:p>
        </p:txBody>
      </p:sp>
      <p:sp>
        <p:nvSpPr>
          <p:cNvPr id="9" name="TextBox 8"/>
          <p:cNvSpPr txBox="1"/>
          <p:nvPr/>
        </p:nvSpPr>
        <p:spPr>
          <a:xfrm>
            <a:off x="868680" y="3291840"/>
            <a:ext cx="5029200" cy="274320"/>
          </a:xfrm>
          <a:prstGeom prst="rect">
            <a:avLst/>
          </a:prstGeom>
          <a:noFill/>
        </p:spPr>
        <p:txBody>
          <a:bodyPr wrap="square" lIns="0" rIns="0" tIns="0" bIns="0" anchor="t">
            <a:spAutoFit/>
          </a:bodyPr>
          <a:lstStyle/>
          <a:p>
            <a:pPr algn="l"/>
            <a:r>
              <a:rPr sz="1000" b="1">
                <a:solidFill>
                  <a:srgbClr val="64748B"/>
                </a:solidFill>
                <a:latin typeface="Calibri"/>
              </a:rPr>
              <a:t>DISTANCE</a:t>
            </a:r>
          </a:p>
        </p:txBody>
      </p:sp>
      <p:sp>
        <p:nvSpPr>
          <p:cNvPr id="10" name="TextBox 9"/>
          <p:cNvSpPr txBox="1"/>
          <p:nvPr/>
        </p:nvSpPr>
        <p:spPr>
          <a:xfrm>
            <a:off x="868680" y="3566160"/>
            <a:ext cx="5029200" cy="365760"/>
          </a:xfrm>
          <a:prstGeom prst="rect">
            <a:avLst/>
          </a:prstGeom>
          <a:noFill/>
        </p:spPr>
        <p:txBody>
          <a:bodyPr wrap="square" lIns="0" rIns="0" tIns="0" bIns="0" anchor="t">
            <a:spAutoFit/>
          </a:bodyPr>
          <a:lstStyle/>
          <a:p>
            <a:pPr algn="l"/>
            <a:r>
              <a:rPr sz="2000" b="1">
                <a:solidFill>
                  <a:srgbClr val="1E293B"/>
                </a:solidFill>
                <a:latin typeface="Calibri"/>
              </a:rPr>
              <a:t>6,200 m</a:t>
            </a:r>
          </a:p>
        </p:txBody>
      </p:sp>
      <p:sp>
        <p:nvSpPr>
          <p:cNvPr id="11" name="TextBox 10"/>
          <p:cNvSpPr txBox="1"/>
          <p:nvPr/>
        </p:nvSpPr>
        <p:spPr>
          <a:xfrm>
            <a:off x="868680" y="4114800"/>
            <a:ext cx="5029200" cy="274320"/>
          </a:xfrm>
          <a:prstGeom prst="rect">
            <a:avLst/>
          </a:prstGeom>
          <a:noFill/>
        </p:spPr>
        <p:txBody>
          <a:bodyPr wrap="square" lIns="0" rIns="0" tIns="0" bIns="0" anchor="t">
            <a:spAutoFit/>
          </a:bodyPr>
          <a:lstStyle/>
          <a:p>
            <a:pPr algn="l"/>
            <a:r>
              <a:rPr sz="1000" b="1">
                <a:solidFill>
                  <a:srgbClr val="64748B"/>
                </a:solidFill>
                <a:latin typeface="Calibri"/>
              </a:rPr>
              <a:t>MECHANICAL LOAD</a:t>
            </a:r>
          </a:p>
        </p:txBody>
      </p:sp>
      <p:sp>
        <p:nvSpPr>
          <p:cNvPr id="12" name="TextBox 11"/>
          <p:cNvSpPr txBox="1"/>
          <p:nvPr/>
        </p:nvSpPr>
        <p:spPr>
          <a:xfrm>
            <a:off x="868680" y="4389120"/>
            <a:ext cx="5029200" cy="365760"/>
          </a:xfrm>
          <a:prstGeom prst="rect">
            <a:avLst/>
          </a:prstGeom>
          <a:noFill/>
        </p:spPr>
        <p:txBody>
          <a:bodyPr wrap="square" lIns="0" rIns="0" tIns="0" bIns="0" anchor="t">
            <a:spAutoFit/>
          </a:bodyPr>
          <a:lstStyle/>
          <a:p>
            <a:pPr algn="l"/>
            <a:r>
              <a:rPr sz="2000" b="1">
                <a:solidFill>
                  <a:srgbClr val="1E293B"/>
                </a:solidFill>
                <a:latin typeface="Calibri"/>
              </a:rPr>
              <a:t>low</a:t>
            </a:r>
          </a:p>
        </p:txBody>
      </p:sp>
      <p:sp>
        <p:nvSpPr>
          <p:cNvPr id="13" name="TextBox 12"/>
          <p:cNvSpPr txBox="1"/>
          <p:nvPr/>
        </p:nvSpPr>
        <p:spPr>
          <a:xfrm>
            <a:off x="868680" y="5166360"/>
            <a:ext cx="5029200" cy="457200"/>
          </a:xfrm>
          <a:prstGeom prst="rect">
            <a:avLst/>
          </a:prstGeom>
          <a:noFill/>
        </p:spPr>
        <p:txBody>
          <a:bodyPr wrap="square" lIns="0" rIns="0" tIns="0" bIns="0" anchor="t">
            <a:spAutoFit/>
          </a:bodyPr>
          <a:lstStyle/>
          <a:p>
            <a:pPr algn="l"/>
            <a:r>
              <a:rPr sz="1800" b="1">
                <a:solidFill>
                  <a:srgbClr val="16A34A"/>
                </a:solidFill>
                <a:latin typeface="Calibri"/>
              </a:rPr>
              <a:t>→ fresh tomorrow</a:t>
            </a:r>
          </a:p>
        </p:txBody>
      </p:sp>
      <p:sp>
        <p:nvSpPr>
          <p:cNvPr id="14" name="Rounded Rectangle 13"/>
          <p:cNvSpPr/>
          <p:nvPr/>
        </p:nvSpPr>
        <p:spPr>
          <a:xfrm>
            <a:off x="6263640" y="1645920"/>
            <a:ext cx="5303520" cy="41148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920240"/>
            <a:ext cx="4937760" cy="365760"/>
          </a:xfrm>
          <a:prstGeom prst="rect">
            <a:avLst/>
          </a:prstGeom>
          <a:noFill/>
        </p:spPr>
        <p:txBody>
          <a:bodyPr wrap="square" lIns="0" rIns="0" tIns="0" bIns="0" anchor="t">
            <a:spAutoFit/>
          </a:bodyPr>
          <a:lstStyle/>
          <a:p>
            <a:pPr algn="l"/>
            <a:r>
              <a:rPr sz="1200" b="1">
                <a:solidFill>
                  <a:srgbClr val="64748B"/>
                </a:solidFill>
                <a:latin typeface="Calibri"/>
              </a:rPr>
              <a:t>PLAYER B</a:t>
            </a:r>
          </a:p>
        </p:txBody>
      </p:sp>
      <p:sp>
        <p:nvSpPr>
          <p:cNvPr id="16" name="TextBox 15"/>
          <p:cNvSpPr txBox="1"/>
          <p:nvPr/>
        </p:nvSpPr>
        <p:spPr>
          <a:xfrm>
            <a:off x="6492240" y="2331720"/>
            <a:ext cx="4937760" cy="640080"/>
          </a:xfrm>
          <a:prstGeom prst="rect">
            <a:avLst/>
          </a:prstGeom>
          <a:noFill/>
        </p:spPr>
        <p:txBody>
          <a:bodyPr wrap="square" lIns="0" rIns="0" tIns="0" bIns="0" anchor="t">
            <a:spAutoFit/>
          </a:bodyPr>
          <a:lstStyle/>
          <a:p>
            <a:pPr algn="l"/>
            <a:r>
              <a:rPr sz="2600" b="1">
                <a:solidFill>
                  <a:srgbClr val="1E293B"/>
                </a:solidFill>
                <a:latin typeface="Calibri"/>
              </a:rPr>
              <a:t>Press-and-cut midfielder</a:t>
            </a:r>
          </a:p>
        </p:txBody>
      </p:sp>
      <p:sp>
        <p:nvSpPr>
          <p:cNvPr id="17" name="TextBox 16"/>
          <p:cNvSpPr txBox="1"/>
          <p:nvPr/>
        </p:nvSpPr>
        <p:spPr>
          <a:xfrm>
            <a:off x="6492240" y="3291840"/>
            <a:ext cx="4937760" cy="274320"/>
          </a:xfrm>
          <a:prstGeom prst="rect">
            <a:avLst/>
          </a:prstGeom>
          <a:noFill/>
        </p:spPr>
        <p:txBody>
          <a:bodyPr wrap="square" lIns="0" rIns="0" tIns="0" bIns="0" anchor="t">
            <a:spAutoFit/>
          </a:bodyPr>
          <a:lstStyle/>
          <a:p>
            <a:pPr algn="l"/>
            <a:r>
              <a:rPr sz="1000" b="1">
                <a:solidFill>
                  <a:srgbClr val="64748B"/>
                </a:solidFill>
                <a:latin typeface="Calibri"/>
              </a:rPr>
              <a:t>DISTANCE</a:t>
            </a:r>
          </a:p>
        </p:txBody>
      </p:sp>
      <p:sp>
        <p:nvSpPr>
          <p:cNvPr id="18" name="TextBox 17"/>
          <p:cNvSpPr txBox="1"/>
          <p:nvPr/>
        </p:nvSpPr>
        <p:spPr>
          <a:xfrm>
            <a:off x="6492240" y="3566160"/>
            <a:ext cx="4937760" cy="365760"/>
          </a:xfrm>
          <a:prstGeom prst="rect">
            <a:avLst/>
          </a:prstGeom>
          <a:noFill/>
        </p:spPr>
        <p:txBody>
          <a:bodyPr wrap="square" lIns="0" rIns="0" tIns="0" bIns="0" anchor="t">
            <a:spAutoFit/>
          </a:bodyPr>
          <a:lstStyle/>
          <a:p>
            <a:pPr algn="l"/>
            <a:r>
              <a:rPr sz="2000" b="1">
                <a:solidFill>
                  <a:srgbClr val="1E293B"/>
                </a:solidFill>
                <a:latin typeface="Calibri"/>
              </a:rPr>
              <a:t>6,200 m</a:t>
            </a:r>
          </a:p>
        </p:txBody>
      </p:sp>
      <p:sp>
        <p:nvSpPr>
          <p:cNvPr id="19" name="TextBox 18"/>
          <p:cNvSpPr txBox="1"/>
          <p:nvPr/>
        </p:nvSpPr>
        <p:spPr>
          <a:xfrm>
            <a:off x="6492240" y="4114800"/>
            <a:ext cx="4937760" cy="274320"/>
          </a:xfrm>
          <a:prstGeom prst="rect">
            <a:avLst/>
          </a:prstGeom>
          <a:noFill/>
        </p:spPr>
        <p:txBody>
          <a:bodyPr wrap="square" lIns="0" rIns="0" tIns="0" bIns="0" anchor="t">
            <a:spAutoFit/>
          </a:bodyPr>
          <a:lstStyle/>
          <a:p>
            <a:pPr algn="l"/>
            <a:r>
              <a:rPr sz="1000" b="1">
                <a:solidFill>
                  <a:srgbClr val="64748B"/>
                </a:solidFill>
                <a:latin typeface="Calibri"/>
              </a:rPr>
              <a:t>MECHANICAL LOAD</a:t>
            </a:r>
          </a:p>
        </p:txBody>
      </p:sp>
      <p:sp>
        <p:nvSpPr>
          <p:cNvPr id="20" name="TextBox 19"/>
          <p:cNvSpPr txBox="1"/>
          <p:nvPr/>
        </p:nvSpPr>
        <p:spPr>
          <a:xfrm>
            <a:off x="6492240" y="4389120"/>
            <a:ext cx="4937760" cy="365760"/>
          </a:xfrm>
          <a:prstGeom prst="rect">
            <a:avLst/>
          </a:prstGeom>
          <a:noFill/>
        </p:spPr>
        <p:txBody>
          <a:bodyPr wrap="square" lIns="0" rIns="0" tIns="0" bIns="0" anchor="t">
            <a:spAutoFit/>
          </a:bodyPr>
          <a:lstStyle/>
          <a:p>
            <a:pPr algn="l"/>
            <a:r>
              <a:rPr sz="2000" b="1">
                <a:solidFill>
                  <a:srgbClr val="F59E0B"/>
                </a:solidFill>
                <a:latin typeface="Calibri"/>
              </a:rPr>
              <a:t>1.4 SD above baseline</a:t>
            </a:r>
          </a:p>
        </p:txBody>
      </p:sp>
      <p:sp>
        <p:nvSpPr>
          <p:cNvPr id="21" name="TextBox 20"/>
          <p:cNvSpPr txBox="1"/>
          <p:nvPr/>
        </p:nvSpPr>
        <p:spPr>
          <a:xfrm>
            <a:off x="6492240" y="5166360"/>
            <a:ext cx="4937760" cy="457200"/>
          </a:xfrm>
          <a:prstGeom prst="rect">
            <a:avLst/>
          </a:prstGeom>
          <a:noFill/>
        </p:spPr>
        <p:txBody>
          <a:bodyPr wrap="square" lIns="0" rIns="0" tIns="0" bIns="0" anchor="t">
            <a:spAutoFit/>
          </a:bodyPr>
          <a:lstStyle/>
          <a:p>
            <a:pPr algn="l"/>
            <a:r>
              <a:rPr sz="1800" b="1">
                <a:solidFill>
                  <a:srgbClr val="DC2626"/>
                </a:solidFill>
                <a:latin typeface="Calibri"/>
              </a:rPr>
              <a:t>→ wrecked next morning</a:t>
            </a:r>
          </a:p>
        </p:txBody>
      </p:sp>
      <p:sp>
        <p:nvSpPr>
          <p:cNvPr id="22" name="TextBox 21"/>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23" name="TextBox 22"/>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04 / 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01 · MECHANICAL LOAD INDEX</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What it measures</a:t>
            </a:r>
          </a:p>
        </p:txBody>
      </p:sp>
      <p:sp>
        <p:nvSpPr>
          <p:cNvPr id="6" name="Rounded Rectangle 5"/>
          <p:cNvSpPr/>
          <p:nvPr/>
        </p:nvSpPr>
        <p:spPr>
          <a:xfrm>
            <a:off x="640080" y="1828800"/>
            <a:ext cx="10972800" cy="137160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40280"/>
            <a:ext cx="10972800" cy="548640"/>
          </a:xfrm>
          <a:prstGeom prst="rect">
            <a:avLst/>
          </a:prstGeom>
          <a:noFill/>
        </p:spPr>
        <p:txBody>
          <a:bodyPr wrap="square" lIns="0" rIns="0" tIns="0" bIns="0" anchor="t">
            <a:spAutoFit/>
          </a:bodyPr>
          <a:lstStyle/>
          <a:p>
            <a:pPr algn="ctr"/>
            <a:r>
              <a:rPr sz="2000" b="1">
                <a:solidFill>
                  <a:srgbClr val="FFFFFF"/>
                </a:solidFill>
                <a:latin typeface="Consolas"/>
              </a:rPr>
              <a:t>MLI = Σ (Accelerations + Decelerations + Change-of-direction events) × intensity weight</a:t>
            </a:r>
          </a:p>
        </p:txBody>
      </p:sp>
      <p:sp>
        <p:nvSpPr>
          <p:cNvPr id="8" name="TextBox 7"/>
          <p:cNvSpPr txBox="1"/>
          <p:nvPr/>
        </p:nvSpPr>
        <p:spPr>
          <a:xfrm>
            <a:off x="640080" y="3657600"/>
            <a:ext cx="10972800" cy="2286000"/>
          </a:xfrm>
          <a:prstGeom prst="rect">
            <a:avLst/>
          </a:prstGeom>
          <a:noFill/>
        </p:spPr>
        <p:txBody>
          <a:bodyPr wrap="square" lIns="0" rIns="0" tIns="0" bIns="0">
            <a:spAutoFit/>
          </a:bodyPr>
          <a:lstStyle/>
          <a:p>
            <a:pPr algn="l">
              <a:lnSpc>
                <a:spcPct val="150000"/>
              </a:lnSpc>
            </a:pPr>
            <a:r>
              <a:rPr sz="1800" b="0">
                <a:solidFill>
                  <a:srgbClr val="1E293B"/>
                </a:solidFill>
                <a:latin typeface="Calibri"/>
              </a:rPr>
              <a:t>A composite of every explosive mechanical action in a session.</a:t>
            </a:r>
          </a:p>
          <a:p>
            <a:pPr algn="l">
              <a:lnSpc>
                <a:spcPct val="150000"/>
              </a:lnSpc>
            </a:pPr>
            <a:r>
              <a:rPr sz="1800" b="0">
                <a:solidFill>
                  <a:srgbClr val="1E293B"/>
                </a:solidFill>
                <a:latin typeface="Calibri"/>
              </a:rPr>
              <a:t>Not steady running — that's metabolic. Mechanical = stop-start work.</a:t>
            </a:r>
          </a:p>
          <a:p>
            <a:pPr algn="l">
              <a:lnSpc>
                <a:spcPct val="150000"/>
              </a:lnSpc>
            </a:pPr>
            <a:r>
              <a:rPr sz="1800" b="0">
                <a:solidFill>
                  <a:srgbClr val="1E293B"/>
                </a:solidFill>
                <a:latin typeface="Calibri"/>
              </a:rPr>
              <a:t>Each event weighted by intensity (max-effort sprint &gt; jog-to-walk).</a:t>
            </a:r>
          </a:p>
        </p:txBody>
      </p:sp>
      <p:sp>
        <p:nvSpPr>
          <p:cNvPr id="9" name="TextBox 8"/>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0" name="TextBox 9"/>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05 /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01 · MECHANICAL LOAD INDEX</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Why eccentric work matters</a:t>
            </a:r>
          </a:p>
        </p:txBody>
      </p:sp>
      <p:sp>
        <p:nvSpPr>
          <p:cNvPr id="6" name="TextBox 5"/>
          <p:cNvSpPr txBox="1"/>
          <p:nvPr/>
        </p:nvSpPr>
        <p:spPr>
          <a:xfrm>
            <a:off x="640080" y="1828800"/>
            <a:ext cx="5486400" cy="1371600"/>
          </a:xfrm>
          <a:prstGeom prst="rect">
            <a:avLst/>
          </a:prstGeom>
          <a:noFill/>
        </p:spPr>
        <p:txBody>
          <a:bodyPr wrap="square" lIns="0" rIns="0" tIns="0" bIns="0" anchor="t">
            <a:spAutoFit/>
          </a:bodyPr>
          <a:lstStyle/>
          <a:p>
            <a:pPr algn="l"/>
            <a:r>
              <a:rPr sz="1800" b="0">
                <a:solidFill>
                  <a:srgbClr val="64748B"/>
                </a:solidFill>
                <a:latin typeface="Calibri"/>
              </a:rPr>
              <a:t>Eccentric load</a:t>
            </a:r>
          </a:p>
        </p:txBody>
      </p:sp>
      <p:sp>
        <p:nvSpPr>
          <p:cNvPr id="7" name="TextBox 6"/>
          <p:cNvSpPr txBox="1"/>
          <p:nvPr/>
        </p:nvSpPr>
        <p:spPr>
          <a:xfrm>
            <a:off x="640080" y="2194560"/>
            <a:ext cx="5486400" cy="1828800"/>
          </a:xfrm>
          <a:prstGeom prst="rect">
            <a:avLst/>
          </a:prstGeom>
          <a:noFill/>
        </p:spPr>
        <p:txBody>
          <a:bodyPr wrap="square" lIns="0" rIns="0" tIns="0" bIns="0" anchor="t">
            <a:spAutoFit/>
          </a:bodyPr>
          <a:lstStyle/>
          <a:p>
            <a:pPr algn="l"/>
            <a:r>
              <a:rPr sz="3200" b="1">
                <a:solidFill>
                  <a:srgbClr val="1E293B"/>
                </a:solidFill>
                <a:latin typeface="Calibri"/>
              </a:rPr>
              <a:t>is the strongest predictor of soft-tissue injury</a:t>
            </a:r>
          </a:p>
        </p:txBody>
      </p:sp>
      <p:sp>
        <p:nvSpPr>
          <p:cNvPr id="8" name="TextBox 7"/>
          <p:cNvSpPr txBox="1"/>
          <p:nvPr/>
        </p:nvSpPr>
        <p:spPr>
          <a:xfrm>
            <a:off x="640080" y="4206240"/>
            <a:ext cx="5486400" cy="457200"/>
          </a:xfrm>
          <a:prstGeom prst="rect">
            <a:avLst/>
          </a:prstGeom>
          <a:noFill/>
        </p:spPr>
        <p:txBody>
          <a:bodyPr wrap="square" lIns="0" rIns="0" tIns="0" bIns="0" anchor="t">
            <a:spAutoFit/>
          </a:bodyPr>
          <a:lstStyle/>
          <a:p>
            <a:pPr algn="l"/>
            <a:r>
              <a:rPr sz="1500" b="0">
                <a:solidFill>
                  <a:srgbClr val="64748B"/>
                </a:solidFill>
                <a:latin typeface="Calibri"/>
              </a:rPr>
              <a:t>Hamstrings · quads · calves · ankles</a:t>
            </a:r>
          </a:p>
        </p:txBody>
      </p:sp>
      <p:sp>
        <p:nvSpPr>
          <p:cNvPr id="9" name="Rounded Rectangle 8"/>
          <p:cNvSpPr/>
          <p:nvPr/>
        </p:nvSpPr>
        <p:spPr>
          <a:xfrm>
            <a:off x="6400800" y="1828800"/>
            <a:ext cx="5212080" cy="13716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74519"/>
            <a:ext cx="4846320" cy="365760"/>
          </a:xfrm>
          <a:prstGeom prst="rect">
            <a:avLst/>
          </a:prstGeom>
          <a:noFill/>
        </p:spPr>
        <p:txBody>
          <a:bodyPr wrap="square" lIns="0" rIns="0" tIns="0" bIns="0" anchor="t">
            <a:spAutoFit/>
          </a:bodyPr>
          <a:lstStyle/>
          <a:p>
            <a:pPr algn="l"/>
            <a:r>
              <a:rPr sz="1000" b="1">
                <a:solidFill>
                  <a:srgbClr val="64748B"/>
                </a:solidFill>
                <a:latin typeface="Calibri"/>
              </a:rPr>
              <a:t>WHAT COACHES TYPICALLY SEE</a:t>
            </a:r>
          </a:p>
        </p:txBody>
      </p:sp>
      <p:sp>
        <p:nvSpPr>
          <p:cNvPr id="11" name="TextBox 10"/>
          <p:cNvSpPr txBox="1"/>
          <p:nvPr/>
        </p:nvSpPr>
        <p:spPr>
          <a:xfrm>
            <a:off x="6583680" y="2194560"/>
            <a:ext cx="4846320" cy="731520"/>
          </a:xfrm>
          <a:prstGeom prst="rect">
            <a:avLst/>
          </a:prstGeom>
          <a:noFill/>
        </p:spPr>
        <p:txBody>
          <a:bodyPr wrap="square" lIns="0" rIns="0" tIns="0" bIns="0" anchor="t">
            <a:spAutoFit/>
          </a:bodyPr>
          <a:lstStyle/>
          <a:p>
            <a:pPr algn="l"/>
            <a:r>
              <a:rPr sz="2000" b="1">
                <a:solidFill>
                  <a:srgbClr val="1E293B"/>
                </a:solidFill>
                <a:latin typeface="Calibri"/>
              </a:rPr>
              <a:t>Total distance</a:t>
            </a:r>
          </a:p>
        </p:txBody>
      </p:sp>
      <p:sp>
        <p:nvSpPr>
          <p:cNvPr id="12" name="TextBox 11"/>
          <p:cNvSpPr txBox="1"/>
          <p:nvPr/>
        </p:nvSpPr>
        <p:spPr>
          <a:xfrm>
            <a:off x="6583680" y="2606040"/>
            <a:ext cx="4846320" cy="457200"/>
          </a:xfrm>
          <a:prstGeom prst="rect">
            <a:avLst/>
          </a:prstGeom>
          <a:noFill/>
        </p:spPr>
        <p:txBody>
          <a:bodyPr wrap="square" lIns="0" rIns="0" tIns="0" bIns="0" anchor="t">
            <a:spAutoFit/>
          </a:bodyPr>
          <a:lstStyle/>
          <a:p>
            <a:pPr algn="l"/>
            <a:r>
              <a:rPr sz="1400" b="0">
                <a:solidFill>
                  <a:srgbClr val="DC2626"/>
                </a:solidFill>
                <a:latin typeface="Calibri"/>
              </a:rPr>
              <a:t>→ misleading</a:t>
            </a:r>
          </a:p>
        </p:txBody>
      </p:sp>
      <p:sp>
        <p:nvSpPr>
          <p:cNvPr id="13" name="Rounded Rectangle 12"/>
          <p:cNvSpPr/>
          <p:nvPr/>
        </p:nvSpPr>
        <p:spPr>
          <a:xfrm>
            <a:off x="6400800" y="3383280"/>
            <a:ext cx="5212080" cy="137160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429000"/>
            <a:ext cx="4846320" cy="365760"/>
          </a:xfrm>
          <a:prstGeom prst="rect">
            <a:avLst/>
          </a:prstGeom>
          <a:noFill/>
        </p:spPr>
        <p:txBody>
          <a:bodyPr wrap="square" lIns="0" rIns="0" tIns="0" bIns="0" anchor="t">
            <a:spAutoFit/>
          </a:bodyPr>
          <a:lstStyle/>
          <a:p>
            <a:pPr algn="l"/>
            <a:r>
              <a:rPr sz="1000" b="1">
                <a:solidFill>
                  <a:srgbClr val="29B7E6"/>
                </a:solidFill>
                <a:latin typeface="Calibri"/>
              </a:rPr>
              <a:t>WHAT MLI REVEALS</a:t>
            </a:r>
          </a:p>
        </p:txBody>
      </p:sp>
      <p:sp>
        <p:nvSpPr>
          <p:cNvPr id="15" name="TextBox 14"/>
          <p:cNvSpPr txBox="1"/>
          <p:nvPr/>
        </p:nvSpPr>
        <p:spPr>
          <a:xfrm>
            <a:off x="6583680" y="3749039"/>
            <a:ext cx="4846320" cy="731520"/>
          </a:xfrm>
          <a:prstGeom prst="rect">
            <a:avLst/>
          </a:prstGeom>
          <a:noFill/>
        </p:spPr>
        <p:txBody>
          <a:bodyPr wrap="square" lIns="0" rIns="0" tIns="0" bIns="0" anchor="t">
            <a:spAutoFit/>
          </a:bodyPr>
          <a:lstStyle/>
          <a:p>
            <a:pPr algn="l"/>
            <a:r>
              <a:rPr sz="2000" b="1">
                <a:solidFill>
                  <a:srgbClr val="FFFFFF"/>
                </a:solidFill>
                <a:latin typeface="Calibri"/>
              </a:rPr>
              <a:t>How hard you stopped</a:t>
            </a:r>
          </a:p>
        </p:txBody>
      </p:sp>
      <p:sp>
        <p:nvSpPr>
          <p:cNvPr id="16" name="TextBox 15"/>
          <p:cNvSpPr txBox="1"/>
          <p:nvPr/>
        </p:nvSpPr>
        <p:spPr>
          <a:xfrm>
            <a:off x="6583680" y="4160520"/>
            <a:ext cx="4846320" cy="457200"/>
          </a:xfrm>
          <a:prstGeom prst="rect">
            <a:avLst/>
          </a:prstGeom>
          <a:noFill/>
        </p:spPr>
        <p:txBody>
          <a:bodyPr wrap="square" lIns="0" rIns="0" tIns="0" bIns="0" anchor="t">
            <a:spAutoFit/>
          </a:bodyPr>
          <a:lstStyle/>
          <a:p>
            <a:pPr algn="l"/>
            <a:r>
              <a:rPr sz="1400" b="0">
                <a:solidFill>
                  <a:srgbClr val="29B7E6"/>
                </a:solidFill>
                <a:latin typeface="Calibri"/>
              </a:rPr>
              <a:t>→ injury-predictive</a:t>
            </a:r>
          </a:p>
        </p:txBody>
      </p:sp>
      <p:sp>
        <p:nvSpPr>
          <p:cNvPr id="17" name="TextBox 16"/>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8" name="TextBox 17"/>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06 /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01 · MECHANICAL LOAD INDEX</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How MicroPulse uses it</a:t>
            </a:r>
          </a:p>
        </p:txBody>
      </p:sp>
      <p:sp>
        <p:nvSpPr>
          <p:cNvPr id="6" name="Rounded Rectangle 5"/>
          <p:cNvSpPr/>
          <p:nvPr/>
        </p:nvSpPr>
        <p:spPr>
          <a:xfrm>
            <a:off x="640080" y="1828800"/>
            <a:ext cx="6858000" cy="39319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6400800" cy="365760"/>
          </a:xfrm>
          <a:prstGeom prst="rect">
            <a:avLst/>
          </a:prstGeom>
          <a:noFill/>
        </p:spPr>
        <p:txBody>
          <a:bodyPr wrap="square" lIns="0" rIns="0" tIns="0" bIns="0" anchor="t">
            <a:spAutoFit/>
          </a:bodyPr>
          <a:lstStyle/>
          <a:p>
            <a:pPr algn="l"/>
            <a:r>
              <a:rPr sz="1000" b="1">
                <a:solidFill>
                  <a:srgbClr val="64748B"/>
                </a:solidFill>
                <a:latin typeface="Calibri"/>
              </a:rPr>
              <a:t>BREIÐABLIK · MIDFIELDER · APR 22</a:t>
            </a:r>
          </a:p>
        </p:txBody>
      </p:sp>
      <p:sp>
        <p:nvSpPr>
          <p:cNvPr id="8" name="TextBox 7"/>
          <p:cNvSpPr txBox="1"/>
          <p:nvPr/>
        </p:nvSpPr>
        <p:spPr>
          <a:xfrm>
            <a:off x="914400" y="2331720"/>
            <a:ext cx="6400800" cy="640080"/>
          </a:xfrm>
          <a:prstGeom prst="rect">
            <a:avLst/>
          </a:prstGeom>
          <a:noFill/>
        </p:spPr>
        <p:txBody>
          <a:bodyPr wrap="square" lIns="0" rIns="0" tIns="0" bIns="0" anchor="t">
            <a:spAutoFit/>
          </a:bodyPr>
          <a:lstStyle/>
          <a:p>
            <a:pPr algn="l"/>
            <a:r>
              <a:rPr sz="2800" b="1">
                <a:solidFill>
                  <a:srgbClr val="1E293B"/>
                </a:solidFill>
                <a:latin typeface="Calibri"/>
              </a:rPr>
              <a:t>Andri Yeoman</a:t>
            </a:r>
          </a:p>
        </p:txBody>
      </p:sp>
      <p:sp>
        <p:nvSpPr>
          <p:cNvPr id="9" name="Rounded Rectangle 8"/>
          <p:cNvSpPr/>
          <p:nvPr/>
        </p:nvSpPr>
        <p:spPr>
          <a:xfrm>
            <a:off x="914400" y="3200400"/>
            <a:ext cx="2560320" cy="457200"/>
          </a:xfrm>
          <a:prstGeom prst="roundRect">
            <a:avLst>
              <a:gd name="adj" fmla="val 1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46120"/>
            <a:ext cx="2560320" cy="365760"/>
          </a:xfrm>
          <a:prstGeom prst="rect">
            <a:avLst/>
          </a:prstGeom>
          <a:noFill/>
        </p:spPr>
        <p:txBody>
          <a:bodyPr wrap="square" lIns="0" rIns="0" tIns="0" bIns="0" anchor="t">
            <a:spAutoFit/>
          </a:bodyPr>
          <a:lstStyle/>
          <a:p>
            <a:pPr algn="ctr"/>
            <a:r>
              <a:rPr sz="1200" b="1">
                <a:solidFill>
                  <a:srgbClr val="FFFFFF"/>
                </a:solidFill>
                <a:latin typeface="Calibri"/>
              </a:rPr>
              <a:t>YELLOW · reduce volume</a:t>
            </a:r>
          </a:p>
        </p:txBody>
      </p:sp>
      <p:sp>
        <p:nvSpPr>
          <p:cNvPr id="11" name="TextBox 10"/>
          <p:cNvSpPr txBox="1"/>
          <p:nvPr/>
        </p:nvSpPr>
        <p:spPr>
          <a:xfrm>
            <a:off x="914400" y="4023360"/>
            <a:ext cx="6400800" cy="365760"/>
          </a:xfrm>
          <a:prstGeom prst="rect">
            <a:avLst/>
          </a:prstGeom>
          <a:noFill/>
        </p:spPr>
        <p:txBody>
          <a:bodyPr wrap="square" lIns="0" rIns="0" tIns="0" bIns="0" anchor="t">
            <a:spAutoFit/>
          </a:bodyPr>
          <a:lstStyle/>
          <a:p>
            <a:pPr algn="l"/>
            <a:r>
              <a:rPr sz="1000" b="1">
                <a:solidFill>
                  <a:srgbClr val="64748B"/>
                </a:solidFill>
                <a:latin typeface="Calibri"/>
              </a:rPr>
              <a:t>MECHANICAL LOAD</a:t>
            </a:r>
          </a:p>
        </p:txBody>
      </p:sp>
      <p:sp>
        <p:nvSpPr>
          <p:cNvPr id="12" name="TextBox 11"/>
          <p:cNvSpPr txBox="1"/>
          <p:nvPr/>
        </p:nvSpPr>
        <p:spPr>
          <a:xfrm>
            <a:off x="914400" y="4297680"/>
            <a:ext cx="6400800" cy="640080"/>
          </a:xfrm>
          <a:prstGeom prst="rect">
            <a:avLst/>
          </a:prstGeom>
          <a:noFill/>
        </p:spPr>
        <p:txBody>
          <a:bodyPr wrap="square" lIns="0" rIns="0" tIns="0" bIns="0" anchor="t">
            <a:spAutoFit/>
          </a:bodyPr>
          <a:lstStyle/>
          <a:p>
            <a:pPr algn="l"/>
            <a:r>
              <a:rPr sz="2200" b="1">
                <a:solidFill>
                  <a:srgbClr val="F59E0B"/>
                </a:solidFill>
                <a:latin typeface="Calibri"/>
              </a:rPr>
              <a:t>1,420   ·   1.4 SD above his baseline</a:t>
            </a:r>
          </a:p>
        </p:txBody>
      </p:sp>
      <p:sp>
        <p:nvSpPr>
          <p:cNvPr id="13" name="TextBox 12"/>
          <p:cNvSpPr txBox="1"/>
          <p:nvPr/>
        </p:nvSpPr>
        <p:spPr>
          <a:xfrm>
            <a:off x="914400" y="5120640"/>
            <a:ext cx="6400800" cy="457200"/>
          </a:xfrm>
          <a:prstGeom prst="rect">
            <a:avLst/>
          </a:prstGeom>
          <a:noFill/>
        </p:spPr>
        <p:txBody>
          <a:bodyPr wrap="square" lIns="0" rIns="0" tIns="0" bIns="0" anchor="t">
            <a:spAutoFit/>
          </a:bodyPr>
          <a:lstStyle/>
          <a:p>
            <a:pPr algn="l"/>
            <a:r>
              <a:rPr sz="1300" b="0">
                <a:solidFill>
                  <a:srgbClr val="1E293B"/>
                </a:solidFill>
                <a:latin typeface="Calibri"/>
              </a:rPr>
              <a:t>Recommended action: skip pressing drills · technical session only</a:t>
            </a:r>
          </a:p>
        </p:txBody>
      </p:sp>
      <p:sp>
        <p:nvSpPr>
          <p:cNvPr id="14" name="TextBox 13"/>
          <p:cNvSpPr txBox="1"/>
          <p:nvPr/>
        </p:nvSpPr>
        <p:spPr>
          <a:xfrm>
            <a:off x="7863840" y="1828800"/>
            <a:ext cx="3749039" cy="3931920"/>
          </a:xfrm>
          <a:prstGeom prst="rect">
            <a:avLst/>
          </a:prstGeom>
          <a:noFill/>
        </p:spPr>
        <p:txBody>
          <a:bodyPr wrap="square" lIns="0" rIns="0" tIns="0" bIns="0">
            <a:spAutoFit/>
          </a:bodyPr>
          <a:lstStyle/>
          <a:p>
            <a:pPr algn="l">
              <a:lnSpc>
                <a:spcPct val="130000"/>
              </a:lnSpc>
            </a:pPr>
            <a:r>
              <a:rPr sz="1300" b="0">
                <a:solidFill>
                  <a:srgbClr val="1E293B"/>
                </a:solidFill>
                <a:latin typeface="Calibri"/>
              </a:rPr>
              <a:t>Personal baseline</a:t>
            </a:r>
          </a:p>
          <a:p>
            <a:pPr algn="l">
              <a:lnSpc>
                <a:spcPct val="130000"/>
              </a:lnSpc>
            </a:pPr>
            <a:r>
              <a:rPr sz="1300" b="0">
                <a:solidFill>
                  <a:srgbClr val="1E293B"/>
                </a:solidFill>
                <a:latin typeface="Calibri"/>
              </a:rPr>
              <a:t>Built from the last 28 days of this player's own data — not a league average.</a:t>
            </a:r>
          </a:p>
          <a:p>
            <a:pPr algn="l">
              <a:lnSpc>
                <a:spcPct val="130000"/>
              </a:lnSpc>
            </a:pPr>
            <a:r>
              <a:rPr sz="1300" b="0">
                <a:solidFill>
                  <a:srgbClr val="1E293B"/>
                </a:solidFill>
                <a:latin typeface="Calibri"/>
              </a:rPr>
              <a:t/>
            </a:r>
          </a:p>
          <a:p>
            <a:pPr algn="l">
              <a:lnSpc>
                <a:spcPct val="130000"/>
              </a:lnSpc>
            </a:pPr>
            <a:r>
              <a:rPr sz="1300" b="0">
                <a:solidFill>
                  <a:srgbClr val="1E293B"/>
                </a:solidFill>
                <a:latin typeface="Calibri"/>
              </a:rPr>
              <a:t>Per-athlete bands</a:t>
            </a:r>
          </a:p>
          <a:p>
            <a:pPr algn="l">
              <a:lnSpc>
                <a:spcPct val="130000"/>
              </a:lnSpc>
            </a:pPr>
            <a:r>
              <a:rPr sz="1300" b="0">
                <a:solidFill>
                  <a:srgbClr val="1E293B"/>
                </a:solidFill>
                <a:latin typeface="Calibri"/>
              </a:rPr>
              <a:t>±1 SD = yellow,  ±2 SD = red</a:t>
            </a:r>
          </a:p>
          <a:p>
            <a:pPr algn="l">
              <a:lnSpc>
                <a:spcPct val="130000"/>
              </a:lnSpc>
            </a:pPr>
            <a:r>
              <a:rPr sz="1300" b="0">
                <a:solidFill>
                  <a:srgbClr val="1E293B"/>
                </a:solidFill>
                <a:latin typeface="Calibri"/>
              </a:rPr>
              <a:t/>
            </a:r>
          </a:p>
          <a:p>
            <a:pPr algn="l">
              <a:lnSpc>
                <a:spcPct val="130000"/>
              </a:lnSpc>
            </a:pPr>
            <a:r>
              <a:rPr sz="1300" b="0">
                <a:solidFill>
                  <a:srgbClr val="1E293B"/>
                </a:solidFill>
                <a:latin typeface="Calibri"/>
              </a:rPr>
              <a:t>Action surfaced</a:t>
            </a:r>
          </a:p>
          <a:p>
            <a:pPr algn="l">
              <a:lnSpc>
                <a:spcPct val="130000"/>
              </a:lnSpc>
            </a:pPr>
            <a:r>
              <a:rPr sz="1300" b="0">
                <a:solidFill>
                  <a:srgbClr val="1E293B"/>
                </a:solidFill>
                <a:latin typeface="Calibri"/>
              </a:rPr>
              <a:t>Coach sees the recommendation before planning the next session.</a:t>
            </a:r>
          </a:p>
        </p:txBody>
      </p:sp>
      <p:sp>
        <p:nvSpPr>
          <p:cNvPr id="15" name="TextBox 14"/>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6" name="TextBox 15"/>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07 /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457200"/>
            <a:ext cx="1828800" cy="365760"/>
          </a:xfrm>
          <a:prstGeom prst="rect">
            <a:avLst/>
          </a:prstGeom>
          <a:noFill/>
        </p:spPr>
        <p:txBody>
          <a:bodyPr wrap="square" lIns="0" rIns="0" tIns="0" bIns="0" anchor="t">
            <a:spAutoFit/>
          </a:bodyPr>
          <a:lstStyle/>
          <a:p>
            <a:pPr algn="r"/>
            <a:r>
              <a:rPr sz="1100" b="1">
                <a:solidFill>
                  <a:srgbClr val="29B7E6"/>
                </a:solidFill>
                <a:latin typeface="Calibri"/>
              </a:rPr>
              <a:t>SECTION 2 / 5</a:t>
            </a:r>
          </a:p>
        </p:txBody>
      </p:sp>
      <p:sp>
        <p:nvSpPr>
          <p:cNvPr id="4" name="TextBox 3"/>
          <p:cNvSpPr txBox="1"/>
          <p:nvPr/>
        </p:nvSpPr>
        <p:spPr>
          <a:xfrm>
            <a:off x="457200" y="2011680"/>
            <a:ext cx="3108960" cy="2286000"/>
          </a:xfrm>
          <a:prstGeom prst="rect">
            <a:avLst/>
          </a:prstGeom>
          <a:noFill/>
        </p:spPr>
        <p:txBody>
          <a:bodyPr wrap="square" lIns="0" rIns="0" tIns="0" bIns="0" anchor="t">
            <a:spAutoFit/>
          </a:bodyPr>
          <a:lstStyle/>
          <a:p>
            <a:pPr algn="ctr"/>
            <a:r>
              <a:rPr sz="14000" b="1">
                <a:solidFill>
                  <a:srgbClr val="005A2B"/>
                </a:solidFill>
                <a:latin typeface="Arial Black"/>
              </a:rPr>
              <a:t>02</a:t>
            </a:r>
          </a:p>
        </p:txBody>
      </p:sp>
      <p:sp>
        <p:nvSpPr>
          <p:cNvPr id="5" name="TextBox 4"/>
          <p:cNvSpPr txBox="1"/>
          <p:nvPr/>
        </p:nvSpPr>
        <p:spPr>
          <a:xfrm>
            <a:off x="3657600" y="2286000"/>
            <a:ext cx="8229600" cy="1371600"/>
          </a:xfrm>
          <a:prstGeom prst="rect">
            <a:avLst/>
          </a:prstGeom>
          <a:noFill/>
        </p:spPr>
        <p:txBody>
          <a:bodyPr wrap="square" lIns="0" rIns="0" tIns="0" bIns="0" anchor="t">
            <a:spAutoFit/>
          </a:bodyPr>
          <a:lstStyle/>
          <a:p>
            <a:pPr algn="l"/>
            <a:r>
              <a:rPr sz="4800" b="1">
                <a:solidFill>
                  <a:srgbClr val="FFFFFF"/>
                </a:solidFill>
                <a:latin typeface="Arial Black"/>
              </a:rPr>
              <a:t>Metabolic Load Score</a:t>
            </a:r>
          </a:p>
        </p:txBody>
      </p:sp>
      <p:sp>
        <p:nvSpPr>
          <p:cNvPr id="6" name="TextBox 5"/>
          <p:cNvSpPr txBox="1"/>
          <p:nvPr/>
        </p:nvSpPr>
        <p:spPr>
          <a:xfrm>
            <a:off x="3657600" y="3931920"/>
            <a:ext cx="8229600" cy="914400"/>
          </a:xfrm>
          <a:prstGeom prst="rect">
            <a:avLst/>
          </a:prstGeom>
          <a:noFill/>
        </p:spPr>
        <p:txBody>
          <a:bodyPr wrap="square" lIns="0" rIns="0" tIns="0" bIns="0" anchor="t">
            <a:spAutoFit/>
          </a:bodyPr>
          <a:lstStyle/>
          <a:p>
            <a:pPr algn="l"/>
            <a:r>
              <a:rPr sz="2200" b="0">
                <a:solidFill>
                  <a:srgbClr val="29B7E6"/>
                </a:solidFill>
                <a:latin typeface="Calibri"/>
              </a:rPr>
              <a:t>What an athlete actually spent</a:t>
            </a:r>
          </a:p>
        </p:txBody>
      </p:sp>
      <p:sp>
        <p:nvSpPr>
          <p:cNvPr id="7" name="Oval 6"/>
          <p:cNvSpPr/>
          <p:nvPr/>
        </p:nvSpPr>
        <p:spPr>
          <a:xfrm>
            <a:off x="9593886"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21901"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49917"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77934"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05949" y="585399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33966"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61982"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57994"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54004" y="5149901"/>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50017"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6028"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42041"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38052"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66069" y="5982004"/>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94085" y="595000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322100"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FFFFFF"/>
                </a:solidFill>
                <a:latin typeface="Calibri"/>
              </a:rPr>
              <a:t>MICROPULSE  ·  performance intelligence</a:t>
            </a:r>
          </a:p>
        </p:txBody>
      </p:sp>
      <p:sp>
        <p:nvSpPr>
          <p:cNvPr id="24" name="TextBox 23"/>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FFFFFF"/>
                </a:solidFill>
                <a:latin typeface="Calibri"/>
              </a:rPr>
              <a:t>08 /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02 · METABOLIC LOAD SCORE</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Same speed average — very different cost</a:t>
            </a:r>
          </a:p>
        </p:txBody>
      </p:sp>
      <p:sp>
        <p:nvSpPr>
          <p:cNvPr id="6" name="Rounded Rectangle 5"/>
          <p:cNvSpPr/>
          <p:nvPr/>
        </p:nvSpPr>
        <p:spPr>
          <a:xfrm>
            <a:off x="640080" y="1828800"/>
            <a:ext cx="10972800" cy="16459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10058400" cy="365760"/>
          </a:xfrm>
          <a:prstGeom prst="rect">
            <a:avLst/>
          </a:prstGeom>
          <a:noFill/>
        </p:spPr>
        <p:txBody>
          <a:bodyPr wrap="square" lIns="0" rIns="0" tIns="0" bIns="0" anchor="t">
            <a:spAutoFit/>
          </a:bodyPr>
          <a:lstStyle/>
          <a:p>
            <a:pPr algn="l"/>
            <a:r>
              <a:rPr sz="1200" b="1">
                <a:solidFill>
                  <a:srgbClr val="64748B"/>
                </a:solidFill>
                <a:latin typeface="Calibri"/>
              </a:rPr>
              <a:t>STEADY JOG</a:t>
            </a:r>
          </a:p>
        </p:txBody>
      </p:sp>
      <p:sp>
        <p:nvSpPr>
          <p:cNvPr id="8" name="TextBox 7"/>
          <p:cNvSpPr txBox="1"/>
          <p:nvPr/>
        </p:nvSpPr>
        <p:spPr>
          <a:xfrm>
            <a:off x="914400" y="2331720"/>
            <a:ext cx="10058400" cy="548640"/>
          </a:xfrm>
          <a:prstGeom prst="rect">
            <a:avLst/>
          </a:prstGeom>
          <a:noFill/>
        </p:spPr>
        <p:txBody>
          <a:bodyPr wrap="square" lIns="0" rIns="0" tIns="0" bIns="0" anchor="t">
            <a:spAutoFit/>
          </a:bodyPr>
          <a:lstStyle/>
          <a:p>
            <a:pPr algn="l"/>
            <a:r>
              <a:rPr sz="2000" b="0">
                <a:solidFill>
                  <a:srgbClr val="1E293B"/>
                </a:solidFill>
                <a:latin typeface="Calibri"/>
              </a:rPr>
              <a:t>30 min · constant 12 km/h</a:t>
            </a:r>
          </a:p>
        </p:txBody>
      </p:sp>
      <p:sp>
        <p:nvSpPr>
          <p:cNvPr id="9" name="TextBox 8"/>
          <p:cNvSpPr txBox="1"/>
          <p:nvPr/>
        </p:nvSpPr>
        <p:spPr>
          <a:xfrm>
            <a:off x="7315200" y="2331720"/>
            <a:ext cx="4114800" cy="548640"/>
          </a:xfrm>
          <a:prstGeom prst="rect">
            <a:avLst/>
          </a:prstGeom>
          <a:noFill/>
        </p:spPr>
        <p:txBody>
          <a:bodyPr wrap="square" lIns="0" rIns="0" tIns="0" bIns="0" anchor="t">
            <a:spAutoFit/>
          </a:bodyPr>
          <a:lstStyle/>
          <a:p>
            <a:pPr algn="r"/>
            <a:r>
              <a:rPr sz="1800" b="1">
                <a:solidFill>
                  <a:srgbClr val="16A34A"/>
                </a:solidFill>
                <a:latin typeface="Calibri"/>
              </a:rPr>
              <a:t>Metabolic Power: 8.5 W/kg</a:t>
            </a:r>
          </a:p>
        </p:txBody>
      </p:sp>
      <p:sp>
        <p:nvSpPr>
          <p:cNvPr id="10" name="Rounded Rectangle 9"/>
          <p:cNvSpPr/>
          <p:nvPr/>
        </p:nvSpPr>
        <p:spPr>
          <a:xfrm>
            <a:off x="640080" y="3657600"/>
            <a:ext cx="10972800" cy="164592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94760"/>
            <a:ext cx="10058400" cy="365760"/>
          </a:xfrm>
          <a:prstGeom prst="rect">
            <a:avLst/>
          </a:prstGeom>
          <a:noFill/>
        </p:spPr>
        <p:txBody>
          <a:bodyPr wrap="square" lIns="0" rIns="0" tIns="0" bIns="0" anchor="t">
            <a:spAutoFit/>
          </a:bodyPr>
          <a:lstStyle/>
          <a:p>
            <a:pPr algn="l"/>
            <a:r>
              <a:rPr sz="1200" b="1">
                <a:solidFill>
                  <a:srgbClr val="29B7E6"/>
                </a:solidFill>
                <a:latin typeface="Calibri"/>
              </a:rPr>
              <a:t>VARIABLE-PACE GAME</a:t>
            </a:r>
          </a:p>
        </p:txBody>
      </p:sp>
      <p:sp>
        <p:nvSpPr>
          <p:cNvPr id="12" name="TextBox 11"/>
          <p:cNvSpPr txBox="1"/>
          <p:nvPr/>
        </p:nvSpPr>
        <p:spPr>
          <a:xfrm>
            <a:off x="914400" y="4160520"/>
            <a:ext cx="10058400" cy="548640"/>
          </a:xfrm>
          <a:prstGeom prst="rect">
            <a:avLst/>
          </a:prstGeom>
          <a:noFill/>
        </p:spPr>
        <p:txBody>
          <a:bodyPr wrap="square" lIns="0" rIns="0" tIns="0" bIns="0" anchor="t">
            <a:spAutoFit/>
          </a:bodyPr>
          <a:lstStyle/>
          <a:p>
            <a:pPr algn="l"/>
            <a:r>
              <a:rPr sz="2000" b="0">
                <a:solidFill>
                  <a:srgbClr val="FFFFFF"/>
                </a:solidFill>
                <a:latin typeface="Calibri"/>
              </a:rPr>
              <a:t>30 min · same average — but with bursts</a:t>
            </a:r>
          </a:p>
        </p:txBody>
      </p:sp>
      <p:sp>
        <p:nvSpPr>
          <p:cNvPr id="13" name="TextBox 12"/>
          <p:cNvSpPr txBox="1"/>
          <p:nvPr/>
        </p:nvSpPr>
        <p:spPr>
          <a:xfrm>
            <a:off x="7315200" y="4160520"/>
            <a:ext cx="4114800" cy="548640"/>
          </a:xfrm>
          <a:prstGeom prst="rect">
            <a:avLst/>
          </a:prstGeom>
          <a:noFill/>
        </p:spPr>
        <p:txBody>
          <a:bodyPr wrap="square" lIns="0" rIns="0" tIns="0" bIns="0" anchor="t">
            <a:spAutoFit/>
          </a:bodyPr>
          <a:lstStyle/>
          <a:p>
            <a:pPr algn="r"/>
            <a:r>
              <a:rPr sz="1800" b="1">
                <a:solidFill>
                  <a:srgbClr val="29B7E6"/>
                </a:solidFill>
                <a:latin typeface="Calibri"/>
              </a:rPr>
              <a:t>Metabolic Power: 14.2 W/kg</a:t>
            </a:r>
          </a:p>
        </p:txBody>
      </p:sp>
      <p:sp>
        <p:nvSpPr>
          <p:cNvPr id="14" name="TextBox 13"/>
          <p:cNvSpPr txBox="1"/>
          <p:nvPr/>
        </p:nvSpPr>
        <p:spPr>
          <a:xfrm>
            <a:off x="640080" y="5669280"/>
            <a:ext cx="10972800" cy="548640"/>
          </a:xfrm>
          <a:prstGeom prst="rect">
            <a:avLst/>
          </a:prstGeom>
          <a:noFill/>
        </p:spPr>
        <p:txBody>
          <a:bodyPr wrap="square" lIns="0" rIns="0" tIns="0" bIns="0" anchor="t">
            <a:spAutoFit/>
          </a:bodyPr>
          <a:lstStyle/>
          <a:p>
            <a:pPr algn="ctr"/>
            <a:r>
              <a:rPr sz="2000" b="1">
                <a:solidFill>
                  <a:srgbClr val="1E293B"/>
                </a:solidFill>
                <a:latin typeface="Calibri"/>
              </a:rPr>
              <a:t>Same average speed. ~70% more energy spent.</a:t>
            </a:r>
          </a:p>
        </p:txBody>
      </p:sp>
      <p:sp>
        <p:nvSpPr>
          <p:cNvPr id="15" name="TextBox 14"/>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6" name="TextBox 15"/>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09 / 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02 · METABOLIC LOAD SCORE</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What it measures</a:t>
            </a:r>
          </a:p>
        </p:txBody>
      </p:sp>
      <p:sp>
        <p:nvSpPr>
          <p:cNvPr id="6" name="Rounded Rectangle 5"/>
          <p:cNvSpPr/>
          <p:nvPr/>
        </p:nvSpPr>
        <p:spPr>
          <a:xfrm>
            <a:off x="640080" y="1828800"/>
            <a:ext cx="10972800" cy="137160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10972800" cy="640080"/>
          </a:xfrm>
          <a:prstGeom prst="rect">
            <a:avLst/>
          </a:prstGeom>
          <a:noFill/>
        </p:spPr>
        <p:txBody>
          <a:bodyPr wrap="square" lIns="0" rIns="0" tIns="0" bIns="0" anchor="t">
            <a:spAutoFit/>
          </a:bodyPr>
          <a:lstStyle/>
          <a:p>
            <a:pPr algn="ctr"/>
            <a:r>
              <a:rPr sz="2000" b="1">
                <a:solidFill>
                  <a:srgbClr val="FFFFFF"/>
                </a:solidFill>
                <a:latin typeface="Consolas"/>
              </a:rPr>
              <a:t>Energy expenditure derived from velocity changes  ·  W/kg</a:t>
            </a:r>
          </a:p>
        </p:txBody>
      </p:sp>
      <p:sp>
        <p:nvSpPr>
          <p:cNvPr id="8" name="TextBox 7"/>
          <p:cNvSpPr txBox="1"/>
          <p:nvPr/>
        </p:nvSpPr>
        <p:spPr>
          <a:xfrm>
            <a:off x="640080" y="3657600"/>
            <a:ext cx="10972800" cy="2560320"/>
          </a:xfrm>
          <a:prstGeom prst="rect">
            <a:avLst/>
          </a:prstGeom>
          <a:noFill/>
        </p:spPr>
        <p:txBody>
          <a:bodyPr wrap="square" lIns="0" rIns="0" tIns="0" bIns="0">
            <a:spAutoFit/>
          </a:bodyPr>
          <a:lstStyle/>
          <a:p>
            <a:pPr algn="l">
              <a:lnSpc>
                <a:spcPct val="145000"/>
              </a:lnSpc>
            </a:pPr>
            <a:r>
              <a:rPr sz="1700" b="0">
                <a:solidFill>
                  <a:srgbClr val="1E293B"/>
                </a:solidFill>
                <a:latin typeface="Calibri"/>
              </a:rPr>
              <a:t>Originally formulated by di Prampero (Italian sports scientist).</a:t>
            </a:r>
          </a:p>
          <a:p>
            <a:pPr algn="l">
              <a:lnSpc>
                <a:spcPct val="145000"/>
              </a:lnSpc>
            </a:pPr>
            <a:r>
              <a:rPr sz="1700" b="0">
                <a:solidFill>
                  <a:srgbClr val="1E293B"/>
                </a:solidFill>
                <a:latin typeface="Calibri"/>
              </a:rPr>
              <a:t>Treats running with acceleration as equivalent to running uphill.</a:t>
            </a:r>
          </a:p>
          <a:p>
            <a:pPr algn="l">
              <a:lnSpc>
                <a:spcPct val="145000"/>
              </a:lnSpc>
            </a:pPr>
            <a:r>
              <a:rPr sz="1700" b="0">
                <a:solidFill>
                  <a:srgbClr val="1E293B"/>
                </a:solidFill>
                <a:latin typeface="Calibri"/>
              </a:rPr>
              <a:t>Same unit as cycling: watts per kilogram of body weight.</a:t>
            </a:r>
          </a:p>
          <a:p>
            <a:pPr algn="l">
              <a:lnSpc>
                <a:spcPct val="145000"/>
              </a:lnSpc>
            </a:pPr>
            <a:r>
              <a:rPr sz="1700" b="0">
                <a:solidFill>
                  <a:srgbClr val="1E293B"/>
                </a:solidFill>
                <a:latin typeface="Calibri"/>
              </a:rPr>
              <a:t>Typical training: 8–12 W/kg.   High-intensity match: 25+ W/kg.</a:t>
            </a:r>
          </a:p>
        </p:txBody>
      </p:sp>
      <p:sp>
        <p:nvSpPr>
          <p:cNvPr id="9" name="TextBox 8"/>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0" name="TextBox 9"/>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10 / 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02 · METABOLIC LOAD SCORE</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Why distance and HR fall short</a:t>
            </a:r>
          </a:p>
        </p:txBody>
      </p:sp>
      <p:sp>
        <p:nvSpPr>
          <p:cNvPr id="6" name="TextBox 5"/>
          <p:cNvSpPr txBox="1"/>
          <p:nvPr/>
        </p:nvSpPr>
        <p:spPr>
          <a:xfrm>
            <a:off x="640080" y="1920240"/>
            <a:ext cx="10972800" cy="640080"/>
          </a:xfrm>
          <a:prstGeom prst="rect">
            <a:avLst/>
          </a:prstGeom>
          <a:noFill/>
        </p:spPr>
        <p:txBody>
          <a:bodyPr wrap="square" lIns="0" rIns="0" tIns="0" bIns="0" anchor="t">
            <a:spAutoFit/>
          </a:bodyPr>
          <a:lstStyle/>
          <a:p>
            <a:pPr algn="l"/>
            <a:r>
              <a:rPr sz="2400" b="1">
                <a:solidFill>
                  <a:srgbClr val="1E293B"/>
                </a:solidFill>
                <a:latin typeface="Calibri"/>
              </a:rPr>
              <a:t>Heart rate lags. Distance ignores intensity.</a:t>
            </a:r>
          </a:p>
        </p:txBody>
      </p:sp>
      <p:sp>
        <p:nvSpPr>
          <p:cNvPr id="7" name="TextBox 6"/>
          <p:cNvSpPr txBox="1"/>
          <p:nvPr/>
        </p:nvSpPr>
        <p:spPr>
          <a:xfrm>
            <a:off x="640080" y="2606040"/>
            <a:ext cx="10972800" cy="548640"/>
          </a:xfrm>
          <a:prstGeom prst="rect">
            <a:avLst/>
          </a:prstGeom>
          <a:noFill/>
        </p:spPr>
        <p:txBody>
          <a:bodyPr wrap="square" lIns="0" rIns="0" tIns="0" bIns="0" anchor="t">
            <a:spAutoFit/>
          </a:bodyPr>
          <a:lstStyle/>
          <a:p>
            <a:pPr algn="l"/>
            <a:r>
              <a:rPr sz="1500" b="0">
                <a:solidFill>
                  <a:srgbClr val="64748B"/>
                </a:solidFill>
                <a:latin typeface="Calibri"/>
              </a:rPr>
              <a:t>Metabolic Load Score captures every spike, every variable-pace nuance.</a:t>
            </a:r>
          </a:p>
        </p:txBody>
      </p:sp>
      <p:sp>
        <p:nvSpPr>
          <p:cNvPr id="8" name="Rounded Rectangle 7"/>
          <p:cNvSpPr/>
          <p:nvPr/>
        </p:nvSpPr>
        <p:spPr>
          <a:xfrm>
            <a:off x="640080" y="3840480"/>
            <a:ext cx="3611880" cy="21945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840480"/>
            <a:ext cx="3611880" cy="1645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06240"/>
            <a:ext cx="3246120" cy="365760"/>
          </a:xfrm>
          <a:prstGeom prst="rect">
            <a:avLst/>
          </a:prstGeom>
          <a:noFill/>
        </p:spPr>
        <p:txBody>
          <a:bodyPr wrap="square" lIns="0" rIns="0" tIns="0" bIns="0" anchor="t">
            <a:spAutoFit/>
          </a:bodyPr>
          <a:lstStyle/>
          <a:p>
            <a:pPr algn="l"/>
            <a:r>
              <a:rPr sz="1100" b="1">
                <a:solidFill>
                  <a:srgbClr val="64748B"/>
                </a:solidFill>
                <a:latin typeface="Calibri"/>
              </a:rPr>
              <a:t>DISTANCE</a:t>
            </a:r>
          </a:p>
        </p:txBody>
      </p:sp>
      <p:sp>
        <p:nvSpPr>
          <p:cNvPr id="11" name="TextBox 10"/>
          <p:cNvSpPr txBox="1"/>
          <p:nvPr/>
        </p:nvSpPr>
        <p:spPr>
          <a:xfrm>
            <a:off x="822960" y="4617720"/>
            <a:ext cx="3246120" cy="1280160"/>
          </a:xfrm>
          <a:prstGeom prst="rect">
            <a:avLst/>
          </a:prstGeom>
          <a:noFill/>
        </p:spPr>
        <p:txBody>
          <a:bodyPr wrap="square" lIns="0" rIns="0" tIns="0" bIns="0">
            <a:spAutoFit/>
          </a:bodyPr>
          <a:lstStyle/>
          <a:p>
            <a:pPr algn="l">
              <a:lnSpc>
                <a:spcPct val="130000"/>
              </a:lnSpc>
            </a:pPr>
            <a:r>
              <a:rPr sz="1400" b="0">
                <a:solidFill>
                  <a:srgbClr val="1E293B"/>
                </a:solidFill>
                <a:latin typeface="Calibri"/>
              </a:rPr>
              <a:t>Counts metres only.</a:t>
            </a:r>
          </a:p>
          <a:p>
            <a:pPr algn="l">
              <a:lnSpc>
                <a:spcPct val="130000"/>
              </a:lnSpc>
            </a:pPr>
            <a:r>
              <a:rPr sz="1400" b="0">
                <a:solidFill>
                  <a:srgbClr val="1E293B"/>
                </a:solidFill>
                <a:latin typeface="Calibri"/>
              </a:rPr>
              <a:t>No intensity weighting.</a:t>
            </a:r>
          </a:p>
        </p:txBody>
      </p:sp>
      <p:sp>
        <p:nvSpPr>
          <p:cNvPr id="12" name="Rounded Rectangle 11"/>
          <p:cNvSpPr/>
          <p:nvPr/>
        </p:nvSpPr>
        <p:spPr>
          <a:xfrm>
            <a:off x="4416552" y="3840480"/>
            <a:ext cx="3611880" cy="21945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3840480"/>
            <a:ext cx="361188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4206240"/>
            <a:ext cx="3246120" cy="365760"/>
          </a:xfrm>
          <a:prstGeom prst="rect">
            <a:avLst/>
          </a:prstGeom>
          <a:noFill/>
        </p:spPr>
        <p:txBody>
          <a:bodyPr wrap="square" lIns="0" rIns="0" tIns="0" bIns="0" anchor="t">
            <a:spAutoFit/>
          </a:bodyPr>
          <a:lstStyle/>
          <a:p>
            <a:pPr algn="l"/>
            <a:r>
              <a:rPr sz="1100" b="1">
                <a:solidFill>
                  <a:srgbClr val="64748B"/>
                </a:solidFill>
                <a:latin typeface="Calibri"/>
              </a:rPr>
              <a:t>AVG HEART RATE</a:t>
            </a:r>
          </a:p>
        </p:txBody>
      </p:sp>
      <p:sp>
        <p:nvSpPr>
          <p:cNvPr id="15" name="TextBox 14"/>
          <p:cNvSpPr txBox="1"/>
          <p:nvPr/>
        </p:nvSpPr>
        <p:spPr>
          <a:xfrm>
            <a:off x="4599432" y="4617720"/>
            <a:ext cx="3246120" cy="1280160"/>
          </a:xfrm>
          <a:prstGeom prst="rect">
            <a:avLst/>
          </a:prstGeom>
          <a:noFill/>
        </p:spPr>
        <p:txBody>
          <a:bodyPr wrap="square" lIns="0" rIns="0" tIns="0" bIns="0">
            <a:spAutoFit/>
          </a:bodyPr>
          <a:lstStyle/>
          <a:p>
            <a:pPr algn="l">
              <a:lnSpc>
                <a:spcPct val="130000"/>
              </a:lnSpc>
            </a:pPr>
            <a:r>
              <a:rPr sz="1400" b="0">
                <a:solidFill>
                  <a:srgbClr val="1E293B"/>
                </a:solidFill>
                <a:latin typeface="Calibri"/>
              </a:rPr>
              <a:t>Lags ~30s behind effort.</a:t>
            </a:r>
          </a:p>
          <a:p>
            <a:pPr algn="l">
              <a:lnSpc>
                <a:spcPct val="130000"/>
              </a:lnSpc>
            </a:pPr>
            <a:r>
              <a:rPr sz="1400" b="0">
                <a:solidFill>
                  <a:srgbClr val="1E293B"/>
                </a:solidFill>
                <a:latin typeface="Calibri"/>
              </a:rPr>
              <a:t>Misses sharp spikes.</a:t>
            </a:r>
          </a:p>
        </p:txBody>
      </p:sp>
      <p:sp>
        <p:nvSpPr>
          <p:cNvPr id="16" name="Rounded Rectangle 15"/>
          <p:cNvSpPr/>
          <p:nvPr/>
        </p:nvSpPr>
        <p:spPr>
          <a:xfrm>
            <a:off x="8193024" y="3840480"/>
            <a:ext cx="3611880" cy="21945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93024" y="3840480"/>
            <a:ext cx="3611880" cy="16459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4" y="4206240"/>
            <a:ext cx="3246120" cy="365760"/>
          </a:xfrm>
          <a:prstGeom prst="rect">
            <a:avLst/>
          </a:prstGeom>
          <a:noFill/>
        </p:spPr>
        <p:txBody>
          <a:bodyPr wrap="square" lIns="0" rIns="0" tIns="0" bIns="0" anchor="t">
            <a:spAutoFit/>
          </a:bodyPr>
          <a:lstStyle/>
          <a:p>
            <a:pPr algn="l"/>
            <a:r>
              <a:rPr sz="1100" b="1">
                <a:solidFill>
                  <a:srgbClr val="64748B"/>
                </a:solidFill>
                <a:latin typeface="Calibri"/>
              </a:rPr>
              <a:t>METABOLIC LOAD</a:t>
            </a:r>
          </a:p>
        </p:txBody>
      </p:sp>
      <p:sp>
        <p:nvSpPr>
          <p:cNvPr id="19" name="TextBox 18"/>
          <p:cNvSpPr txBox="1"/>
          <p:nvPr/>
        </p:nvSpPr>
        <p:spPr>
          <a:xfrm>
            <a:off x="8375904" y="4617720"/>
            <a:ext cx="3246120" cy="1280160"/>
          </a:xfrm>
          <a:prstGeom prst="rect">
            <a:avLst/>
          </a:prstGeom>
          <a:noFill/>
        </p:spPr>
        <p:txBody>
          <a:bodyPr wrap="square" lIns="0" rIns="0" tIns="0" bIns="0">
            <a:spAutoFit/>
          </a:bodyPr>
          <a:lstStyle/>
          <a:p>
            <a:pPr algn="l">
              <a:lnSpc>
                <a:spcPct val="130000"/>
              </a:lnSpc>
            </a:pPr>
            <a:r>
              <a:rPr sz="1400" b="0">
                <a:solidFill>
                  <a:srgbClr val="1E293B"/>
                </a:solidFill>
                <a:latin typeface="Calibri"/>
              </a:rPr>
              <a:t>Captures variable pace.</a:t>
            </a:r>
          </a:p>
          <a:p>
            <a:pPr algn="l">
              <a:lnSpc>
                <a:spcPct val="130000"/>
              </a:lnSpc>
            </a:pPr>
            <a:r>
              <a:rPr sz="1400" b="0">
                <a:solidFill>
                  <a:srgbClr val="1E293B"/>
                </a:solidFill>
                <a:latin typeface="Calibri"/>
              </a:rPr>
              <a:t>No lag. No bias.</a:t>
            </a:r>
          </a:p>
        </p:txBody>
      </p:sp>
      <p:sp>
        <p:nvSpPr>
          <p:cNvPr id="20" name="TextBox 19"/>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21" name="TextBox 20"/>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11 /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02 · METABOLIC LOAD SCORE</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How MicroPulse uses it</a:t>
            </a:r>
          </a:p>
        </p:txBody>
      </p:sp>
      <p:sp>
        <p:nvSpPr>
          <p:cNvPr id="6" name="Rounded Rectangle 5"/>
          <p:cNvSpPr/>
          <p:nvPr/>
        </p:nvSpPr>
        <p:spPr>
          <a:xfrm>
            <a:off x="640080" y="1828800"/>
            <a:ext cx="6858000" cy="39319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6400800" cy="365760"/>
          </a:xfrm>
          <a:prstGeom prst="rect">
            <a:avLst/>
          </a:prstGeom>
          <a:noFill/>
        </p:spPr>
        <p:txBody>
          <a:bodyPr wrap="square" lIns="0" rIns="0" tIns="0" bIns="0" anchor="t">
            <a:spAutoFit/>
          </a:bodyPr>
          <a:lstStyle/>
          <a:p>
            <a:pPr algn="l"/>
            <a:r>
              <a:rPr sz="1000" b="1">
                <a:solidFill>
                  <a:srgbClr val="64748B"/>
                </a:solidFill>
                <a:latin typeface="Calibri"/>
              </a:rPr>
              <a:t>BREIÐABLIK · STRIKER · APR 22</a:t>
            </a:r>
          </a:p>
        </p:txBody>
      </p:sp>
      <p:sp>
        <p:nvSpPr>
          <p:cNvPr id="8" name="TextBox 7"/>
          <p:cNvSpPr txBox="1"/>
          <p:nvPr/>
        </p:nvSpPr>
        <p:spPr>
          <a:xfrm>
            <a:off x="914400" y="2331720"/>
            <a:ext cx="6400800" cy="640080"/>
          </a:xfrm>
          <a:prstGeom prst="rect">
            <a:avLst/>
          </a:prstGeom>
          <a:noFill/>
        </p:spPr>
        <p:txBody>
          <a:bodyPr wrap="square" lIns="0" rIns="0" tIns="0" bIns="0" anchor="t">
            <a:spAutoFit/>
          </a:bodyPr>
          <a:lstStyle/>
          <a:p>
            <a:pPr algn="l"/>
            <a:r>
              <a:rPr sz="2800" b="1">
                <a:solidFill>
                  <a:srgbClr val="1E293B"/>
                </a:solidFill>
                <a:latin typeface="Calibri"/>
              </a:rPr>
              <a:t>Magnús Olsen</a:t>
            </a:r>
          </a:p>
        </p:txBody>
      </p:sp>
      <p:sp>
        <p:nvSpPr>
          <p:cNvPr id="9" name="Rounded Rectangle 8"/>
          <p:cNvSpPr/>
          <p:nvPr/>
        </p:nvSpPr>
        <p:spPr>
          <a:xfrm>
            <a:off x="914400" y="3200400"/>
            <a:ext cx="2560320" cy="457200"/>
          </a:xfrm>
          <a:prstGeom prst="roundRect">
            <a:avLst>
              <a:gd name="adj" fmla="val 1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46120"/>
            <a:ext cx="2560320" cy="365760"/>
          </a:xfrm>
          <a:prstGeom prst="rect">
            <a:avLst/>
          </a:prstGeom>
          <a:noFill/>
        </p:spPr>
        <p:txBody>
          <a:bodyPr wrap="square" lIns="0" rIns="0" tIns="0" bIns="0" anchor="t">
            <a:spAutoFit/>
          </a:bodyPr>
          <a:lstStyle/>
          <a:p>
            <a:pPr algn="ctr"/>
            <a:r>
              <a:rPr sz="1200" b="1">
                <a:solidFill>
                  <a:srgbClr val="FFFFFF"/>
                </a:solidFill>
                <a:latin typeface="Calibri"/>
              </a:rPr>
              <a:t>YELLOW</a:t>
            </a:r>
          </a:p>
        </p:txBody>
      </p:sp>
      <p:sp>
        <p:nvSpPr>
          <p:cNvPr id="11" name="TextBox 10"/>
          <p:cNvSpPr txBox="1"/>
          <p:nvPr/>
        </p:nvSpPr>
        <p:spPr>
          <a:xfrm>
            <a:off x="914400" y="4023360"/>
            <a:ext cx="6400800" cy="365760"/>
          </a:xfrm>
          <a:prstGeom prst="rect">
            <a:avLst/>
          </a:prstGeom>
          <a:noFill/>
        </p:spPr>
        <p:txBody>
          <a:bodyPr wrap="square" lIns="0" rIns="0" tIns="0" bIns="0" anchor="t">
            <a:spAutoFit/>
          </a:bodyPr>
          <a:lstStyle/>
          <a:p>
            <a:pPr algn="l"/>
            <a:r>
              <a:rPr sz="1000" b="1">
                <a:solidFill>
                  <a:srgbClr val="64748B"/>
                </a:solidFill>
                <a:latin typeface="Calibri"/>
              </a:rPr>
              <a:t>METABOLIC POWER (avg)</a:t>
            </a:r>
          </a:p>
        </p:txBody>
      </p:sp>
      <p:sp>
        <p:nvSpPr>
          <p:cNvPr id="12" name="TextBox 11"/>
          <p:cNvSpPr txBox="1"/>
          <p:nvPr/>
        </p:nvSpPr>
        <p:spPr>
          <a:xfrm>
            <a:off x="914400" y="4297680"/>
            <a:ext cx="6400800" cy="640080"/>
          </a:xfrm>
          <a:prstGeom prst="rect">
            <a:avLst/>
          </a:prstGeom>
          <a:noFill/>
        </p:spPr>
        <p:txBody>
          <a:bodyPr wrap="square" lIns="0" rIns="0" tIns="0" bIns="0" anchor="t">
            <a:spAutoFit/>
          </a:bodyPr>
          <a:lstStyle/>
          <a:p>
            <a:pPr algn="l"/>
            <a:r>
              <a:rPr sz="2200" b="1">
                <a:solidFill>
                  <a:srgbClr val="F59E0B"/>
                </a:solidFill>
                <a:latin typeface="Calibri"/>
              </a:rPr>
              <a:t>14.2 W/kg   ·   1.1 SD above baseline</a:t>
            </a:r>
          </a:p>
        </p:txBody>
      </p:sp>
      <p:sp>
        <p:nvSpPr>
          <p:cNvPr id="13" name="TextBox 12"/>
          <p:cNvSpPr txBox="1"/>
          <p:nvPr/>
        </p:nvSpPr>
        <p:spPr>
          <a:xfrm>
            <a:off x="914400" y="5120640"/>
            <a:ext cx="6400800" cy="457200"/>
          </a:xfrm>
          <a:prstGeom prst="rect">
            <a:avLst/>
          </a:prstGeom>
          <a:noFill/>
        </p:spPr>
        <p:txBody>
          <a:bodyPr wrap="square" lIns="0" rIns="0" tIns="0" bIns="0" anchor="t">
            <a:spAutoFit/>
          </a:bodyPr>
          <a:lstStyle/>
          <a:p>
            <a:pPr algn="l"/>
            <a:r>
              <a:rPr sz="1300" b="0">
                <a:solidFill>
                  <a:srgbClr val="1E293B"/>
                </a:solidFill>
                <a:latin typeface="Calibri"/>
              </a:rPr>
              <a:t>Same drill volume — but ran it hotter than usual.</a:t>
            </a:r>
          </a:p>
        </p:txBody>
      </p:sp>
      <p:sp>
        <p:nvSpPr>
          <p:cNvPr id="14" name="TextBox 13"/>
          <p:cNvSpPr txBox="1"/>
          <p:nvPr/>
        </p:nvSpPr>
        <p:spPr>
          <a:xfrm>
            <a:off x="7863840" y="1828800"/>
            <a:ext cx="3749039" cy="3931920"/>
          </a:xfrm>
          <a:prstGeom prst="rect">
            <a:avLst/>
          </a:prstGeom>
          <a:noFill/>
        </p:spPr>
        <p:txBody>
          <a:bodyPr wrap="square" lIns="0" rIns="0" tIns="0" bIns="0">
            <a:spAutoFit/>
          </a:bodyPr>
          <a:lstStyle/>
          <a:p>
            <a:pPr algn="l">
              <a:lnSpc>
                <a:spcPct val="130000"/>
              </a:lnSpc>
            </a:pPr>
            <a:r>
              <a:rPr sz="1300" b="0">
                <a:solidFill>
                  <a:srgbClr val="1E293B"/>
                </a:solidFill>
                <a:latin typeface="Calibri"/>
              </a:rPr>
              <a:t>Personal baseline</a:t>
            </a:r>
          </a:p>
          <a:p>
            <a:pPr algn="l">
              <a:lnSpc>
                <a:spcPct val="130000"/>
              </a:lnSpc>
            </a:pPr>
            <a:r>
              <a:rPr sz="1300" b="0">
                <a:solidFill>
                  <a:srgbClr val="1E293B"/>
                </a:solidFill>
                <a:latin typeface="Calibri"/>
              </a:rPr>
              <a:t>28-day rolling per-athlete history. Striker vs defender vs keeper — different normals.</a:t>
            </a:r>
          </a:p>
          <a:p>
            <a:pPr algn="l">
              <a:lnSpc>
                <a:spcPct val="130000"/>
              </a:lnSpc>
            </a:pPr>
            <a:r>
              <a:rPr sz="1300" b="0">
                <a:solidFill>
                  <a:srgbClr val="1E293B"/>
                </a:solidFill>
                <a:latin typeface="Calibri"/>
              </a:rPr>
              <a:t/>
            </a:r>
          </a:p>
          <a:p>
            <a:pPr algn="l">
              <a:lnSpc>
                <a:spcPct val="130000"/>
              </a:lnSpc>
            </a:pPr>
            <a:r>
              <a:rPr sz="1300" b="0">
                <a:solidFill>
                  <a:srgbClr val="1E293B"/>
                </a:solidFill>
                <a:latin typeface="Calibri"/>
              </a:rPr>
              <a:t>Above the band → flag</a:t>
            </a:r>
          </a:p>
          <a:p>
            <a:pPr algn="l">
              <a:lnSpc>
                <a:spcPct val="130000"/>
              </a:lnSpc>
            </a:pPr>
            <a:r>
              <a:rPr sz="1300" b="0">
                <a:solidFill>
                  <a:srgbClr val="1E293B"/>
                </a:solidFill>
                <a:latin typeface="Calibri"/>
              </a:rPr>
              <a:t>Drift above ±1 SD surfaces immediately on the coach view.</a:t>
            </a:r>
          </a:p>
          <a:p>
            <a:pPr algn="l">
              <a:lnSpc>
                <a:spcPct val="130000"/>
              </a:lnSpc>
            </a:pPr>
            <a:r>
              <a:rPr sz="1300" b="0">
                <a:solidFill>
                  <a:srgbClr val="1E293B"/>
                </a:solidFill>
                <a:latin typeface="Calibri"/>
              </a:rPr>
              <a:t/>
            </a:r>
          </a:p>
          <a:p>
            <a:pPr algn="l">
              <a:lnSpc>
                <a:spcPct val="130000"/>
              </a:lnSpc>
            </a:pPr>
            <a:r>
              <a:rPr sz="1300" b="0">
                <a:solidFill>
                  <a:srgbClr val="1E293B"/>
                </a:solidFill>
                <a:latin typeface="Calibri"/>
              </a:rPr>
              <a:t>Inputs the decoupling check</a:t>
            </a:r>
          </a:p>
          <a:p>
            <a:pPr algn="l">
              <a:lnSpc>
                <a:spcPct val="130000"/>
              </a:lnSpc>
            </a:pPr>
            <a:r>
              <a:rPr sz="1300" b="0">
                <a:solidFill>
                  <a:srgbClr val="1E293B"/>
                </a:solidFill>
                <a:latin typeface="Calibri"/>
              </a:rPr>
              <a:t>MetaPower / external load → fatigue early-warning.</a:t>
            </a:r>
          </a:p>
        </p:txBody>
      </p:sp>
      <p:sp>
        <p:nvSpPr>
          <p:cNvPr id="15" name="TextBox 14"/>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6" name="TextBox 15"/>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12 / 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457200"/>
            <a:ext cx="1828800" cy="365760"/>
          </a:xfrm>
          <a:prstGeom prst="rect">
            <a:avLst/>
          </a:prstGeom>
          <a:noFill/>
        </p:spPr>
        <p:txBody>
          <a:bodyPr wrap="square" lIns="0" rIns="0" tIns="0" bIns="0" anchor="t">
            <a:spAutoFit/>
          </a:bodyPr>
          <a:lstStyle/>
          <a:p>
            <a:pPr algn="r"/>
            <a:r>
              <a:rPr sz="1100" b="1">
                <a:solidFill>
                  <a:srgbClr val="29B7E6"/>
                </a:solidFill>
                <a:latin typeface="Calibri"/>
              </a:rPr>
              <a:t>SECTION 3 / 5</a:t>
            </a:r>
          </a:p>
        </p:txBody>
      </p:sp>
      <p:sp>
        <p:nvSpPr>
          <p:cNvPr id="4" name="TextBox 3"/>
          <p:cNvSpPr txBox="1"/>
          <p:nvPr/>
        </p:nvSpPr>
        <p:spPr>
          <a:xfrm>
            <a:off x="457200" y="2011680"/>
            <a:ext cx="3108960" cy="2286000"/>
          </a:xfrm>
          <a:prstGeom prst="rect">
            <a:avLst/>
          </a:prstGeom>
          <a:noFill/>
        </p:spPr>
        <p:txBody>
          <a:bodyPr wrap="square" lIns="0" rIns="0" tIns="0" bIns="0" anchor="t">
            <a:spAutoFit/>
          </a:bodyPr>
          <a:lstStyle/>
          <a:p>
            <a:pPr algn="ctr"/>
            <a:r>
              <a:rPr sz="14000" b="1">
                <a:solidFill>
                  <a:srgbClr val="005A2B"/>
                </a:solidFill>
                <a:latin typeface="Arial Black"/>
              </a:rPr>
              <a:t>03</a:t>
            </a:r>
          </a:p>
        </p:txBody>
      </p:sp>
      <p:sp>
        <p:nvSpPr>
          <p:cNvPr id="5" name="TextBox 4"/>
          <p:cNvSpPr txBox="1"/>
          <p:nvPr/>
        </p:nvSpPr>
        <p:spPr>
          <a:xfrm>
            <a:off x="3657600" y="2286000"/>
            <a:ext cx="8229600" cy="1371600"/>
          </a:xfrm>
          <a:prstGeom prst="rect">
            <a:avLst/>
          </a:prstGeom>
          <a:noFill/>
        </p:spPr>
        <p:txBody>
          <a:bodyPr wrap="square" lIns="0" rIns="0" tIns="0" bIns="0" anchor="t">
            <a:spAutoFit/>
          </a:bodyPr>
          <a:lstStyle/>
          <a:p>
            <a:pPr algn="l"/>
            <a:r>
              <a:rPr sz="4800" b="1">
                <a:solidFill>
                  <a:srgbClr val="FFFFFF"/>
                </a:solidFill>
                <a:latin typeface="Arial Black"/>
              </a:rPr>
              <a:t>Neuromuscular Burden</a:t>
            </a:r>
          </a:p>
        </p:txBody>
      </p:sp>
      <p:sp>
        <p:nvSpPr>
          <p:cNvPr id="6" name="TextBox 5"/>
          <p:cNvSpPr txBox="1"/>
          <p:nvPr/>
        </p:nvSpPr>
        <p:spPr>
          <a:xfrm>
            <a:off x="3657600" y="3931920"/>
            <a:ext cx="8229600" cy="914400"/>
          </a:xfrm>
          <a:prstGeom prst="rect">
            <a:avLst/>
          </a:prstGeom>
          <a:noFill/>
        </p:spPr>
        <p:txBody>
          <a:bodyPr wrap="square" lIns="0" rIns="0" tIns="0" bIns="0" anchor="t">
            <a:spAutoFit/>
          </a:bodyPr>
          <a:lstStyle/>
          <a:p>
            <a:pPr algn="l"/>
            <a:r>
              <a:rPr sz="2200" b="0">
                <a:solidFill>
                  <a:srgbClr val="29B7E6"/>
                </a:solidFill>
                <a:latin typeface="Calibri"/>
              </a:rPr>
              <a:t>The fatigue that doesn't recover overnight</a:t>
            </a:r>
          </a:p>
        </p:txBody>
      </p:sp>
      <p:sp>
        <p:nvSpPr>
          <p:cNvPr id="7" name="Oval 6"/>
          <p:cNvSpPr/>
          <p:nvPr/>
        </p:nvSpPr>
        <p:spPr>
          <a:xfrm>
            <a:off x="9593886"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21901"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49917"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77934"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05949" y="585399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33966"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61982"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57994"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54004" y="5149901"/>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50017"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6028"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42041"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38052"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66069" y="5982004"/>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94085" y="595000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322100"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FFFFFF"/>
                </a:solidFill>
                <a:latin typeface="Calibri"/>
              </a:rPr>
              <a:t>MICROPULSE  ·  performance intelligence</a:t>
            </a:r>
          </a:p>
        </p:txBody>
      </p:sp>
      <p:sp>
        <p:nvSpPr>
          <p:cNvPr id="24" name="TextBox 23"/>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FFFFFF"/>
                </a:solidFill>
                <a:latin typeface="Calibri"/>
              </a:rPr>
              <a:t>13 / 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03 · NEUROMUSCULAR BURDEN</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Same body. Different system.</a:t>
            </a:r>
          </a:p>
        </p:txBody>
      </p:sp>
      <p:sp>
        <p:nvSpPr>
          <p:cNvPr id="6" name="TextBox 5"/>
          <p:cNvSpPr txBox="1"/>
          <p:nvPr/>
        </p:nvSpPr>
        <p:spPr>
          <a:xfrm>
            <a:off x="640080" y="2011680"/>
            <a:ext cx="10972800" cy="914400"/>
          </a:xfrm>
          <a:prstGeom prst="rect">
            <a:avLst/>
          </a:prstGeom>
          <a:noFill/>
        </p:spPr>
        <p:txBody>
          <a:bodyPr wrap="square" lIns="0" rIns="0" tIns="0" bIns="0" anchor="t">
            <a:spAutoFit/>
          </a:bodyPr>
          <a:lstStyle/>
          <a:p>
            <a:pPr algn="l"/>
            <a:r>
              <a:rPr sz="2800" b="1">
                <a:solidFill>
                  <a:srgbClr val="1E293B"/>
                </a:solidFill>
                <a:latin typeface="Calibri"/>
              </a:rPr>
              <a:t>You can recover your aerobic system overnight.</a:t>
            </a:r>
          </a:p>
        </p:txBody>
      </p:sp>
      <p:sp>
        <p:nvSpPr>
          <p:cNvPr id="7" name="TextBox 6"/>
          <p:cNvSpPr txBox="1"/>
          <p:nvPr/>
        </p:nvSpPr>
        <p:spPr>
          <a:xfrm>
            <a:off x="640080" y="2926080"/>
            <a:ext cx="10972800" cy="914400"/>
          </a:xfrm>
          <a:prstGeom prst="rect">
            <a:avLst/>
          </a:prstGeom>
          <a:noFill/>
        </p:spPr>
        <p:txBody>
          <a:bodyPr wrap="square" lIns="0" rIns="0" tIns="0" bIns="0" anchor="t">
            <a:spAutoFit/>
          </a:bodyPr>
          <a:lstStyle/>
          <a:p>
            <a:pPr algn="l"/>
            <a:r>
              <a:rPr sz="2800" b="1">
                <a:solidFill>
                  <a:srgbClr val="005A2B"/>
                </a:solidFill>
                <a:latin typeface="Calibri"/>
              </a:rPr>
              <a:t>Your neuromuscular system needs longer.</a:t>
            </a:r>
          </a:p>
        </p:txBody>
      </p:sp>
      <p:sp>
        <p:nvSpPr>
          <p:cNvPr id="8" name="TextBox 7"/>
          <p:cNvSpPr txBox="1"/>
          <p:nvPr/>
        </p:nvSpPr>
        <p:spPr>
          <a:xfrm>
            <a:off x="640080" y="3840480"/>
            <a:ext cx="10972800" cy="1371600"/>
          </a:xfrm>
          <a:prstGeom prst="rect">
            <a:avLst/>
          </a:prstGeom>
          <a:noFill/>
        </p:spPr>
        <p:txBody>
          <a:bodyPr wrap="square" lIns="0" rIns="0" tIns="0" bIns="0" anchor="t">
            <a:spAutoFit/>
          </a:bodyPr>
          <a:lstStyle/>
          <a:p>
            <a:pPr algn="l"/>
            <a:r>
              <a:rPr sz="4400" b="1">
                <a:solidFill>
                  <a:srgbClr val="29B7E6"/>
                </a:solidFill>
                <a:latin typeface="Arial Black"/>
              </a:rPr>
              <a:t>Much longer.</a:t>
            </a:r>
          </a:p>
        </p:txBody>
      </p:sp>
      <p:sp>
        <p:nvSpPr>
          <p:cNvPr id="9" name="TextBox 8"/>
          <p:cNvSpPr txBox="1"/>
          <p:nvPr/>
        </p:nvSpPr>
        <p:spPr>
          <a:xfrm>
            <a:off x="640080" y="5029200"/>
            <a:ext cx="10972800" cy="548640"/>
          </a:xfrm>
          <a:prstGeom prst="rect">
            <a:avLst/>
          </a:prstGeom>
          <a:noFill/>
        </p:spPr>
        <p:txBody>
          <a:bodyPr wrap="square" lIns="0" rIns="0" tIns="0" bIns="0" anchor="t">
            <a:spAutoFit/>
          </a:bodyPr>
          <a:lstStyle/>
          <a:p>
            <a:pPr algn="l"/>
            <a:r>
              <a:rPr sz="1500" b="0">
                <a:solidFill>
                  <a:srgbClr val="64748B"/>
                </a:solidFill>
                <a:latin typeface="Calibri"/>
              </a:rPr>
              <a:t>Neuromuscular Burden Score tracks the load that doesn't fade by morning.</a:t>
            </a:r>
          </a:p>
        </p:txBody>
      </p:sp>
      <p:sp>
        <p:nvSpPr>
          <p:cNvPr id="10" name="TextBox 9"/>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1" name="TextBox 10"/>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14 / 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03 · NEUROMUSCULAR BURDEN</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What it measures</a:t>
            </a:r>
          </a:p>
        </p:txBody>
      </p:sp>
      <p:sp>
        <p:nvSpPr>
          <p:cNvPr id="6" name="Rounded Rectangle 5"/>
          <p:cNvSpPr/>
          <p:nvPr/>
        </p:nvSpPr>
        <p:spPr>
          <a:xfrm>
            <a:off x="640080" y="1828800"/>
            <a:ext cx="10972800" cy="137160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10972800" cy="640080"/>
          </a:xfrm>
          <a:prstGeom prst="rect">
            <a:avLst/>
          </a:prstGeom>
          <a:noFill/>
        </p:spPr>
        <p:txBody>
          <a:bodyPr wrap="square" lIns="0" rIns="0" tIns="0" bIns="0" anchor="t">
            <a:spAutoFit/>
          </a:bodyPr>
          <a:lstStyle/>
          <a:p>
            <a:pPr algn="ctr"/>
            <a:r>
              <a:rPr sz="1800" b="1">
                <a:solidFill>
                  <a:srgbClr val="FFFFFF"/>
                </a:solidFill>
                <a:latin typeface="Consolas"/>
              </a:rPr>
              <a:t>Sprints + peak accelerations + peak decelerations  ·  per-athlete normalised</a:t>
            </a:r>
          </a:p>
        </p:txBody>
      </p:sp>
      <p:sp>
        <p:nvSpPr>
          <p:cNvPr id="8" name="TextBox 7"/>
          <p:cNvSpPr txBox="1"/>
          <p:nvPr/>
        </p:nvSpPr>
        <p:spPr>
          <a:xfrm>
            <a:off x="640080" y="3657600"/>
            <a:ext cx="10972800" cy="2743200"/>
          </a:xfrm>
          <a:prstGeom prst="rect">
            <a:avLst/>
          </a:prstGeom>
          <a:noFill/>
        </p:spPr>
        <p:txBody>
          <a:bodyPr wrap="square" lIns="0" rIns="0" tIns="0" bIns="0">
            <a:spAutoFit/>
          </a:bodyPr>
          <a:lstStyle/>
          <a:p>
            <a:pPr algn="l">
              <a:lnSpc>
                <a:spcPct val="150000"/>
              </a:lnSpc>
            </a:pPr>
            <a:r>
              <a:rPr sz="1700" b="0">
                <a:solidFill>
                  <a:srgbClr val="1E293B"/>
                </a:solidFill>
                <a:latin typeface="Calibri"/>
              </a:rPr>
              <a:t>Isolates high-velocity, high-force actions.</a:t>
            </a:r>
          </a:p>
          <a:p>
            <a:pPr algn="l">
              <a:lnSpc>
                <a:spcPct val="150000"/>
              </a:lnSpc>
            </a:pPr>
            <a:r>
              <a:rPr sz="1700" b="0">
                <a:solidFill>
                  <a:srgbClr val="1E293B"/>
                </a:solidFill>
                <a:latin typeface="Calibri"/>
              </a:rPr>
              <a:t>Captures load on the nervous system — not just muscle fibres.</a:t>
            </a:r>
          </a:p>
          <a:p>
            <a:pPr algn="l">
              <a:lnSpc>
                <a:spcPct val="150000"/>
              </a:lnSpc>
            </a:pPr>
            <a:r>
              <a:rPr sz="1700" b="0">
                <a:solidFill>
                  <a:srgbClr val="1E293B"/>
                </a:solidFill>
                <a:latin typeface="Calibri"/>
              </a:rPr>
              <a:t>Score = 1.0 means a typical day for this athlete. 3.0 = three times more demanding.</a:t>
            </a:r>
          </a:p>
        </p:txBody>
      </p:sp>
      <p:sp>
        <p:nvSpPr>
          <p:cNvPr id="9" name="TextBox 8"/>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0" name="TextBox 9"/>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15 / 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03 · NEUROMUSCULAR BURDEN</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Recovery doesn't equal recovered</a:t>
            </a:r>
          </a:p>
        </p:txBody>
      </p:sp>
      <p:sp>
        <p:nvSpPr>
          <p:cNvPr id="6" name="Rounded Rectangle 5"/>
          <p:cNvSpPr/>
          <p:nvPr/>
        </p:nvSpPr>
        <p:spPr>
          <a:xfrm>
            <a:off x="640080" y="2011680"/>
            <a:ext cx="10972800" cy="12801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11680"/>
            <a:ext cx="164592" cy="12801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48840"/>
            <a:ext cx="1828800" cy="365760"/>
          </a:xfrm>
          <a:prstGeom prst="rect">
            <a:avLst/>
          </a:prstGeom>
          <a:noFill/>
        </p:spPr>
        <p:txBody>
          <a:bodyPr wrap="square" lIns="0" rIns="0" tIns="0" bIns="0" anchor="t">
            <a:spAutoFit/>
          </a:bodyPr>
          <a:lstStyle/>
          <a:p>
            <a:pPr algn="l"/>
            <a:r>
              <a:rPr sz="1100" b="1">
                <a:solidFill>
                  <a:srgbClr val="64748B"/>
                </a:solidFill>
                <a:latin typeface="Calibri"/>
              </a:rPr>
              <a:t>Day 1</a:t>
            </a:r>
          </a:p>
        </p:txBody>
      </p:sp>
      <p:sp>
        <p:nvSpPr>
          <p:cNvPr id="9" name="TextBox 8"/>
          <p:cNvSpPr txBox="1"/>
          <p:nvPr/>
        </p:nvSpPr>
        <p:spPr>
          <a:xfrm>
            <a:off x="914400" y="2423160"/>
            <a:ext cx="4572000" cy="548640"/>
          </a:xfrm>
          <a:prstGeom prst="rect">
            <a:avLst/>
          </a:prstGeom>
          <a:noFill/>
        </p:spPr>
        <p:txBody>
          <a:bodyPr wrap="square" lIns="0" rIns="0" tIns="0" bIns="0" anchor="t">
            <a:spAutoFit/>
          </a:bodyPr>
          <a:lstStyle/>
          <a:p>
            <a:pPr algn="l"/>
            <a:r>
              <a:rPr sz="2000" b="1">
                <a:solidFill>
                  <a:srgbClr val="1E293B"/>
                </a:solidFill>
                <a:latin typeface="Calibri"/>
              </a:rPr>
              <a:t>Hard match</a:t>
            </a:r>
          </a:p>
        </p:txBody>
      </p:sp>
      <p:sp>
        <p:nvSpPr>
          <p:cNvPr id="10" name="TextBox 9"/>
          <p:cNvSpPr txBox="1"/>
          <p:nvPr/>
        </p:nvSpPr>
        <p:spPr>
          <a:xfrm>
            <a:off x="5486400" y="2514600"/>
            <a:ext cx="5943600" cy="548640"/>
          </a:xfrm>
          <a:prstGeom prst="rect">
            <a:avLst/>
          </a:prstGeom>
          <a:noFill/>
        </p:spPr>
        <p:txBody>
          <a:bodyPr wrap="square" lIns="0" rIns="0" tIns="0" bIns="0" anchor="t">
            <a:spAutoFit/>
          </a:bodyPr>
          <a:lstStyle/>
          <a:p>
            <a:pPr algn="l"/>
            <a:r>
              <a:rPr sz="1400" b="0">
                <a:solidFill>
                  <a:srgbClr val="1E293B"/>
                </a:solidFill>
                <a:latin typeface="Calibri"/>
              </a:rPr>
              <a:t>Aerobic + NM systems both fatigued</a:t>
            </a:r>
          </a:p>
        </p:txBody>
      </p:sp>
      <p:sp>
        <p:nvSpPr>
          <p:cNvPr id="11" name="Rounded Rectangle 10"/>
          <p:cNvSpPr/>
          <p:nvPr/>
        </p:nvSpPr>
        <p:spPr>
          <a:xfrm>
            <a:off x="640080" y="3474720"/>
            <a:ext cx="10972800" cy="12801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474720"/>
            <a:ext cx="164592" cy="1280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11880"/>
            <a:ext cx="1828800" cy="365760"/>
          </a:xfrm>
          <a:prstGeom prst="rect">
            <a:avLst/>
          </a:prstGeom>
          <a:noFill/>
        </p:spPr>
        <p:txBody>
          <a:bodyPr wrap="square" lIns="0" rIns="0" tIns="0" bIns="0" anchor="t">
            <a:spAutoFit/>
          </a:bodyPr>
          <a:lstStyle/>
          <a:p>
            <a:pPr algn="l"/>
            <a:r>
              <a:rPr sz="1100" b="1">
                <a:solidFill>
                  <a:srgbClr val="64748B"/>
                </a:solidFill>
                <a:latin typeface="Calibri"/>
              </a:rPr>
              <a:t>Day 2</a:t>
            </a:r>
          </a:p>
        </p:txBody>
      </p:sp>
      <p:sp>
        <p:nvSpPr>
          <p:cNvPr id="14" name="TextBox 13"/>
          <p:cNvSpPr txBox="1"/>
          <p:nvPr/>
        </p:nvSpPr>
        <p:spPr>
          <a:xfrm>
            <a:off x="914400" y="3886200"/>
            <a:ext cx="4572000" cy="548640"/>
          </a:xfrm>
          <a:prstGeom prst="rect">
            <a:avLst/>
          </a:prstGeom>
          <a:noFill/>
        </p:spPr>
        <p:txBody>
          <a:bodyPr wrap="square" lIns="0" rIns="0" tIns="0" bIns="0" anchor="t">
            <a:spAutoFit/>
          </a:bodyPr>
          <a:lstStyle/>
          <a:p>
            <a:pPr algn="l"/>
            <a:r>
              <a:rPr sz="2000" b="1">
                <a:solidFill>
                  <a:srgbClr val="1E293B"/>
                </a:solidFill>
                <a:latin typeface="Calibri"/>
              </a:rPr>
              <a:t>Athlete feels fine</a:t>
            </a:r>
          </a:p>
        </p:txBody>
      </p:sp>
      <p:sp>
        <p:nvSpPr>
          <p:cNvPr id="15" name="TextBox 14"/>
          <p:cNvSpPr txBox="1"/>
          <p:nvPr/>
        </p:nvSpPr>
        <p:spPr>
          <a:xfrm>
            <a:off x="5486400" y="3977640"/>
            <a:ext cx="5943600" cy="548640"/>
          </a:xfrm>
          <a:prstGeom prst="rect">
            <a:avLst/>
          </a:prstGeom>
          <a:noFill/>
        </p:spPr>
        <p:txBody>
          <a:bodyPr wrap="square" lIns="0" rIns="0" tIns="0" bIns="0" anchor="t">
            <a:spAutoFit/>
          </a:bodyPr>
          <a:lstStyle/>
          <a:p>
            <a:pPr algn="l"/>
            <a:r>
              <a:rPr sz="1400" b="0">
                <a:solidFill>
                  <a:srgbClr val="1E293B"/>
                </a:solidFill>
                <a:latin typeface="Calibri"/>
              </a:rPr>
              <a:t>Aerobic recovered · NM still elevated</a:t>
            </a:r>
          </a:p>
        </p:txBody>
      </p:sp>
      <p:sp>
        <p:nvSpPr>
          <p:cNvPr id="16" name="Rounded Rectangle 15"/>
          <p:cNvSpPr/>
          <p:nvPr/>
        </p:nvSpPr>
        <p:spPr>
          <a:xfrm>
            <a:off x="640080" y="4937760"/>
            <a:ext cx="10972800" cy="12801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937760"/>
            <a:ext cx="164592" cy="12801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074920"/>
            <a:ext cx="1828800" cy="365760"/>
          </a:xfrm>
          <a:prstGeom prst="rect">
            <a:avLst/>
          </a:prstGeom>
          <a:noFill/>
        </p:spPr>
        <p:txBody>
          <a:bodyPr wrap="square" lIns="0" rIns="0" tIns="0" bIns="0" anchor="t">
            <a:spAutoFit/>
          </a:bodyPr>
          <a:lstStyle/>
          <a:p>
            <a:pPr algn="l"/>
            <a:r>
              <a:rPr sz="1100" b="1">
                <a:solidFill>
                  <a:srgbClr val="64748B"/>
                </a:solidFill>
                <a:latin typeface="Calibri"/>
              </a:rPr>
              <a:t>Day 3</a:t>
            </a:r>
          </a:p>
        </p:txBody>
      </p:sp>
      <p:sp>
        <p:nvSpPr>
          <p:cNvPr id="19" name="TextBox 18"/>
          <p:cNvSpPr txBox="1"/>
          <p:nvPr/>
        </p:nvSpPr>
        <p:spPr>
          <a:xfrm>
            <a:off x="914400" y="5349240"/>
            <a:ext cx="4572000" cy="548640"/>
          </a:xfrm>
          <a:prstGeom prst="rect">
            <a:avLst/>
          </a:prstGeom>
          <a:noFill/>
        </p:spPr>
        <p:txBody>
          <a:bodyPr wrap="square" lIns="0" rIns="0" tIns="0" bIns="0" anchor="t">
            <a:spAutoFit/>
          </a:bodyPr>
          <a:lstStyle/>
          <a:p>
            <a:pPr algn="l"/>
            <a:r>
              <a:rPr sz="2000" b="1">
                <a:solidFill>
                  <a:srgbClr val="1E293B"/>
                </a:solidFill>
                <a:latin typeface="Calibri"/>
              </a:rPr>
              <a:t>High-intensity session</a:t>
            </a:r>
          </a:p>
        </p:txBody>
      </p:sp>
      <p:sp>
        <p:nvSpPr>
          <p:cNvPr id="20" name="TextBox 19"/>
          <p:cNvSpPr txBox="1"/>
          <p:nvPr/>
        </p:nvSpPr>
        <p:spPr>
          <a:xfrm>
            <a:off x="5486400" y="5440680"/>
            <a:ext cx="5943600" cy="548640"/>
          </a:xfrm>
          <a:prstGeom prst="rect">
            <a:avLst/>
          </a:prstGeom>
          <a:noFill/>
        </p:spPr>
        <p:txBody>
          <a:bodyPr wrap="square" lIns="0" rIns="0" tIns="0" bIns="0" anchor="t">
            <a:spAutoFit/>
          </a:bodyPr>
          <a:lstStyle/>
          <a:p>
            <a:pPr algn="l"/>
            <a:r>
              <a:rPr sz="1400" b="0">
                <a:solidFill>
                  <a:srgbClr val="1E293B"/>
                </a:solidFill>
                <a:latin typeface="Calibri"/>
              </a:rPr>
              <a:t>NM still 60% recovered → injury risk window</a:t>
            </a:r>
          </a:p>
        </p:txBody>
      </p:sp>
      <p:sp>
        <p:nvSpPr>
          <p:cNvPr id="21" name="TextBox 20"/>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22" name="TextBox 21"/>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16 / 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03 · NEUROMUSCULAR BURDEN</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How MicroPulse uses it</a:t>
            </a:r>
          </a:p>
        </p:txBody>
      </p:sp>
      <p:sp>
        <p:nvSpPr>
          <p:cNvPr id="6" name="Rounded Rectangle 5"/>
          <p:cNvSpPr/>
          <p:nvPr/>
        </p:nvSpPr>
        <p:spPr>
          <a:xfrm>
            <a:off x="640080" y="1828800"/>
            <a:ext cx="6858000" cy="39319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6400800" cy="365760"/>
          </a:xfrm>
          <a:prstGeom prst="rect">
            <a:avLst/>
          </a:prstGeom>
          <a:noFill/>
        </p:spPr>
        <p:txBody>
          <a:bodyPr wrap="square" lIns="0" rIns="0" tIns="0" bIns="0" anchor="t">
            <a:spAutoFit/>
          </a:bodyPr>
          <a:lstStyle/>
          <a:p>
            <a:pPr algn="l"/>
            <a:r>
              <a:rPr sz="1000" b="1">
                <a:solidFill>
                  <a:srgbClr val="64748B"/>
                </a:solidFill>
                <a:latin typeface="Calibri"/>
              </a:rPr>
              <a:t>AFTURELDING · WINGER · 7-DAY VIEW</a:t>
            </a:r>
          </a:p>
        </p:txBody>
      </p:sp>
      <p:sp>
        <p:nvSpPr>
          <p:cNvPr id="8" name="TextBox 7"/>
          <p:cNvSpPr txBox="1"/>
          <p:nvPr/>
        </p:nvSpPr>
        <p:spPr>
          <a:xfrm>
            <a:off x="914400" y="2331720"/>
            <a:ext cx="6400800" cy="640080"/>
          </a:xfrm>
          <a:prstGeom prst="rect">
            <a:avLst/>
          </a:prstGeom>
          <a:noFill/>
        </p:spPr>
        <p:txBody>
          <a:bodyPr wrap="square" lIns="0" rIns="0" tIns="0" bIns="0" anchor="t">
            <a:spAutoFit/>
          </a:bodyPr>
          <a:lstStyle/>
          <a:p>
            <a:pPr algn="l"/>
            <a:r>
              <a:rPr sz="2400" b="1">
                <a:solidFill>
                  <a:srgbClr val="1E293B"/>
                </a:solidFill>
                <a:latin typeface="Calibri"/>
              </a:rPr>
              <a:t>Neuromuscular Burden</a:t>
            </a:r>
          </a:p>
        </p:txBody>
      </p:sp>
      <p:sp>
        <p:nvSpPr>
          <p:cNvPr id="9" name="Rectangle 8"/>
          <p:cNvSpPr/>
          <p:nvPr/>
        </p:nvSpPr>
        <p:spPr>
          <a:xfrm>
            <a:off x="914400" y="4608576"/>
            <a:ext cx="731520" cy="32918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83480"/>
            <a:ext cx="731520" cy="274320"/>
          </a:xfrm>
          <a:prstGeom prst="rect">
            <a:avLst/>
          </a:prstGeom>
          <a:noFill/>
        </p:spPr>
        <p:txBody>
          <a:bodyPr wrap="square" lIns="0" rIns="0" tIns="0" bIns="0" anchor="t">
            <a:spAutoFit/>
          </a:bodyPr>
          <a:lstStyle/>
          <a:p>
            <a:pPr algn="ctr"/>
            <a:r>
              <a:rPr sz="1000" b="0">
                <a:solidFill>
                  <a:srgbClr val="64748B"/>
                </a:solidFill>
                <a:latin typeface="Calibri"/>
              </a:rPr>
              <a:t>Sun</a:t>
            </a:r>
          </a:p>
        </p:txBody>
      </p:sp>
      <p:sp>
        <p:nvSpPr>
          <p:cNvPr id="11" name="TextBox 10"/>
          <p:cNvSpPr txBox="1"/>
          <p:nvPr/>
        </p:nvSpPr>
        <p:spPr>
          <a:xfrm>
            <a:off x="914400" y="3017520"/>
            <a:ext cx="731520" cy="228600"/>
          </a:xfrm>
          <a:prstGeom prst="rect">
            <a:avLst/>
          </a:prstGeom>
          <a:noFill/>
        </p:spPr>
        <p:txBody>
          <a:bodyPr wrap="square" lIns="0" rIns="0" tIns="0" bIns="0" anchor="t">
            <a:spAutoFit/>
          </a:bodyPr>
          <a:lstStyle/>
          <a:p>
            <a:pPr algn="ctr"/>
            <a:r>
              <a:rPr sz="1000" b="1">
                <a:solidFill>
                  <a:srgbClr val="1E293B"/>
                </a:solidFill>
                <a:latin typeface="Calibri"/>
              </a:rPr>
              <a:t>0.6</a:t>
            </a:r>
          </a:p>
        </p:txBody>
      </p:sp>
      <p:sp>
        <p:nvSpPr>
          <p:cNvPr id="12" name="Rectangle 11"/>
          <p:cNvSpPr/>
          <p:nvPr/>
        </p:nvSpPr>
        <p:spPr>
          <a:xfrm>
            <a:off x="1783080" y="3401568"/>
            <a:ext cx="731520" cy="153619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83080" y="4983480"/>
            <a:ext cx="731520" cy="274320"/>
          </a:xfrm>
          <a:prstGeom prst="rect">
            <a:avLst/>
          </a:prstGeom>
          <a:noFill/>
        </p:spPr>
        <p:txBody>
          <a:bodyPr wrap="square" lIns="0" rIns="0" tIns="0" bIns="0" anchor="t">
            <a:spAutoFit/>
          </a:bodyPr>
          <a:lstStyle/>
          <a:p>
            <a:pPr algn="ctr"/>
            <a:r>
              <a:rPr sz="1000" b="0">
                <a:solidFill>
                  <a:srgbClr val="64748B"/>
                </a:solidFill>
                <a:latin typeface="Calibri"/>
              </a:rPr>
              <a:t>Mon</a:t>
            </a:r>
          </a:p>
        </p:txBody>
      </p:sp>
      <p:sp>
        <p:nvSpPr>
          <p:cNvPr id="14" name="TextBox 13"/>
          <p:cNvSpPr txBox="1"/>
          <p:nvPr/>
        </p:nvSpPr>
        <p:spPr>
          <a:xfrm>
            <a:off x="1783080" y="3017520"/>
            <a:ext cx="731520" cy="228600"/>
          </a:xfrm>
          <a:prstGeom prst="rect">
            <a:avLst/>
          </a:prstGeom>
          <a:noFill/>
        </p:spPr>
        <p:txBody>
          <a:bodyPr wrap="square" lIns="0" rIns="0" tIns="0" bIns="0" anchor="t">
            <a:spAutoFit/>
          </a:bodyPr>
          <a:lstStyle/>
          <a:p>
            <a:pPr algn="ctr"/>
            <a:r>
              <a:rPr sz="1000" b="1">
                <a:solidFill>
                  <a:srgbClr val="1E293B"/>
                </a:solidFill>
                <a:latin typeface="Calibri"/>
              </a:rPr>
              <a:t>2.8</a:t>
            </a:r>
          </a:p>
        </p:txBody>
      </p:sp>
      <p:sp>
        <p:nvSpPr>
          <p:cNvPr id="15" name="Rectangle 14"/>
          <p:cNvSpPr/>
          <p:nvPr/>
        </p:nvSpPr>
        <p:spPr>
          <a:xfrm>
            <a:off x="2651760" y="3730752"/>
            <a:ext cx="731520" cy="12070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4983480"/>
            <a:ext cx="731520" cy="274320"/>
          </a:xfrm>
          <a:prstGeom prst="rect">
            <a:avLst/>
          </a:prstGeom>
          <a:noFill/>
        </p:spPr>
        <p:txBody>
          <a:bodyPr wrap="square" lIns="0" rIns="0" tIns="0" bIns="0" anchor="t">
            <a:spAutoFit/>
          </a:bodyPr>
          <a:lstStyle/>
          <a:p>
            <a:pPr algn="ctr"/>
            <a:r>
              <a:rPr sz="1000" b="0">
                <a:solidFill>
                  <a:srgbClr val="64748B"/>
                </a:solidFill>
                <a:latin typeface="Calibri"/>
              </a:rPr>
              <a:t>Tue</a:t>
            </a:r>
          </a:p>
        </p:txBody>
      </p:sp>
      <p:sp>
        <p:nvSpPr>
          <p:cNvPr id="17" name="TextBox 16"/>
          <p:cNvSpPr txBox="1"/>
          <p:nvPr/>
        </p:nvSpPr>
        <p:spPr>
          <a:xfrm>
            <a:off x="2651760" y="3017520"/>
            <a:ext cx="731520" cy="228600"/>
          </a:xfrm>
          <a:prstGeom prst="rect">
            <a:avLst/>
          </a:prstGeom>
          <a:noFill/>
        </p:spPr>
        <p:txBody>
          <a:bodyPr wrap="square" lIns="0" rIns="0" tIns="0" bIns="0" anchor="t">
            <a:spAutoFit/>
          </a:bodyPr>
          <a:lstStyle/>
          <a:p>
            <a:pPr algn="ctr"/>
            <a:r>
              <a:rPr sz="1000" b="1">
                <a:solidFill>
                  <a:srgbClr val="1E293B"/>
                </a:solidFill>
                <a:latin typeface="Calibri"/>
              </a:rPr>
              <a:t>2.2</a:t>
            </a:r>
          </a:p>
        </p:txBody>
      </p:sp>
      <p:sp>
        <p:nvSpPr>
          <p:cNvPr id="18" name="Rectangle 17"/>
          <p:cNvSpPr/>
          <p:nvPr/>
        </p:nvSpPr>
        <p:spPr>
          <a:xfrm>
            <a:off x="3520440" y="4059936"/>
            <a:ext cx="731520" cy="87782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4983480"/>
            <a:ext cx="731520" cy="274320"/>
          </a:xfrm>
          <a:prstGeom prst="rect">
            <a:avLst/>
          </a:prstGeom>
          <a:noFill/>
        </p:spPr>
        <p:txBody>
          <a:bodyPr wrap="square" lIns="0" rIns="0" tIns="0" bIns="0" anchor="t">
            <a:spAutoFit/>
          </a:bodyPr>
          <a:lstStyle/>
          <a:p>
            <a:pPr algn="ctr"/>
            <a:r>
              <a:rPr sz="1000" b="0">
                <a:solidFill>
                  <a:srgbClr val="64748B"/>
                </a:solidFill>
                <a:latin typeface="Calibri"/>
              </a:rPr>
              <a:t>Wed</a:t>
            </a:r>
          </a:p>
        </p:txBody>
      </p:sp>
      <p:sp>
        <p:nvSpPr>
          <p:cNvPr id="20" name="TextBox 19"/>
          <p:cNvSpPr txBox="1"/>
          <p:nvPr/>
        </p:nvSpPr>
        <p:spPr>
          <a:xfrm>
            <a:off x="3520440" y="3017520"/>
            <a:ext cx="731520" cy="228600"/>
          </a:xfrm>
          <a:prstGeom prst="rect">
            <a:avLst/>
          </a:prstGeom>
          <a:noFill/>
        </p:spPr>
        <p:txBody>
          <a:bodyPr wrap="square" lIns="0" rIns="0" tIns="0" bIns="0" anchor="t">
            <a:spAutoFit/>
          </a:bodyPr>
          <a:lstStyle/>
          <a:p>
            <a:pPr algn="ctr"/>
            <a:r>
              <a:rPr sz="1000" b="1">
                <a:solidFill>
                  <a:srgbClr val="1E293B"/>
                </a:solidFill>
                <a:latin typeface="Calibri"/>
              </a:rPr>
              <a:t>1.6</a:t>
            </a:r>
          </a:p>
        </p:txBody>
      </p:sp>
      <p:sp>
        <p:nvSpPr>
          <p:cNvPr id="21" name="Rectangle 20"/>
          <p:cNvSpPr/>
          <p:nvPr/>
        </p:nvSpPr>
        <p:spPr>
          <a:xfrm>
            <a:off x="4389120" y="4389120"/>
            <a:ext cx="731520"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4983480"/>
            <a:ext cx="731520" cy="274320"/>
          </a:xfrm>
          <a:prstGeom prst="rect">
            <a:avLst/>
          </a:prstGeom>
          <a:noFill/>
        </p:spPr>
        <p:txBody>
          <a:bodyPr wrap="square" lIns="0" rIns="0" tIns="0" bIns="0" anchor="t">
            <a:spAutoFit/>
          </a:bodyPr>
          <a:lstStyle/>
          <a:p>
            <a:pPr algn="ctr"/>
            <a:r>
              <a:rPr sz="1000" b="0">
                <a:solidFill>
                  <a:srgbClr val="64748B"/>
                </a:solidFill>
                <a:latin typeface="Calibri"/>
              </a:rPr>
              <a:t>Thu</a:t>
            </a:r>
          </a:p>
        </p:txBody>
      </p:sp>
      <p:sp>
        <p:nvSpPr>
          <p:cNvPr id="23" name="TextBox 22"/>
          <p:cNvSpPr txBox="1"/>
          <p:nvPr/>
        </p:nvSpPr>
        <p:spPr>
          <a:xfrm>
            <a:off x="4389120" y="3017520"/>
            <a:ext cx="731520" cy="228600"/>
          </a:xfrm>
          <a:prstGeom prst="rect">
            <a:avLst/>
          </a:prstGeom>
          <a:noFill/>
        </p:spPr>
        <p:txBody>
          <a:bodyPr wrap="square" lIns="0" rIns="0" tIns="0" bIns="0" anchor="t">
            <a:spAutoFit/>
          </a:bodyPr>
          <a:lstStyle/>
          <a:p>
            <a:pPr algn="ctr"/>
            <a:r>
              <a:rPr sz="1000" b="1">
                <a:solidFill>
                  <a:srgbClr val="1E293B"/>
                </a:solidFill>
                <a:latin typeface="Calibri"/>
              </a:rPr>
              <a:t>1.0</a:t>
            </a:r>
          </a:p>
        </p:txBody>
      </p:sp>
      <p:sp>
        <p:nvSpPr>
          <p:cNvPr id="24" name="Rectangle 23"/>
          <p:cNvSpPr/>
          <p:nvPr/>
        </p:nvSpPr>
        <p:spPr>
          <a:xfrm>
            <a:off x="5257800" y="4553712"/>
            <a:ext cx="731520" cy="384047"/>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7800" y="4983480"/>
            <a:ext cx="731520" cy="274320"/>
          </a:xfrm>
          <a:prstGeom prst="rect">
            <a:avLst/>
          </a:prstGeom>
          <a:noFill/>
        </p:spPr>
        <p:txBody>
          <a:bodyPr wrap="square" lIns="0" rIns="0" tIns="0" bIns="0" anchor="t">
            <a:spAutoFit/>
          </a:bodyPr>
          <a:lstStyle/>
          <a:p>
            <a:pPr algn="ctr"/>
            <a:r>
              <a:rPr sz="1000" b="0">
                <a:solidFill>
                  <a:srgbClr val="64748B"/>
                </a:solidFill>
                <a:latin typeface="Calibri"/>
              </a:rPr>
              <a:t>Fri</a:t>
            </a:r>
          </a:p>
        </p:txBody>
      </p:sp>
      <p:sp>
        <p:nvSpPr>
          <p:cNvPr id="26" name="TextBox 25"/>
          <p:cNvSpPr txBox="1"/>
          <p:nvPr/>
        </p:nvSpPr>
        <p:spPr>
          <a:xfrm>
            <a:off x="5257800" y="3017520"/>
            <a:ext cx="731520" cy="228600"/>
          </a:xfrm>
          <a:prstGeom prst="rect">
            <a:avLst/>
          </a:prstGeom>
          <a:noFill/>
        </p:spPr>
        <p:txBody>
          <a:bodyPr wrap="square" lIns="0" rIns="0" tIns="0" bIns="0" anchor="t">
            <a:spAutoFit/>
          </a:bodyPr>
          <a:lstStyle/>
          <a:p>
            <a:pPr algn="ctr"/>
            <a:r>
              <a:rPr sz="1000" b="1">
                <a:solidFill>
                  <a:srgbClr val="1E293B"/>
                </a:solidFill>
                <a:latin typeface="Calibri"/>
              </a:rPr>
              <a:t>0.7</a:t>
            </a:r>
          </a:p>
        </p:txBody>
      </p:sp>
      <p:sp>
        <p:nvSpPr>
          <p:cNvPr id="27" name="Rectangle 26"/>
          <p:cNvSpPr/>
          <p:nvPr/>
        </p:nvSpPr>
        <p:spPr>
          <a:xfrm>
            <a:off x="6126480" y="4663440"/>
            <a:ext cx="73152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4983480"/>
            <a:ext cx="731520" cy="274320"/>
          </a:xfrm>
          <a:prstGeom prst="rect">
            <a:avLst/>
          </a:prstGeom>
          <a:noFill/>
        </p:spPr>
        <p:txBody>
          <a:bodyPr wrap="square" lIns="0" rIns="0" tIns="0" bIns="0" anchor="t">
            <a:spAutoFit/>
          </a:bodyPr>
          <a:lstStyle/>
          <a:p>
            <a:pPr algn="ctr"/>
            <a:r>
              <a:rPr sz="1000" b="0">
                <a:solidFill>
                  <a:srgbClr val="64748B"/>
                </a:solidFill>
                <a:latin typeface="Calibri"/>
              </a:rPr>
              <a:t>Sat</a:t>
            </a:r>
          </a:p>
        </p:txBody>
      </p:sp>
      <p:sp>
        <p:nvSpPr>
          <p:cNvPr id="29" name="TextBox 28"/>
          <p:cNvSpPr txBox="1"/>
          <p:nvPr/>
        </p:nvSpPr>
        <p:spPr>
          <a:xfrm>
            <a:off x="6126480" y="3017520"/>
            <a:ext cx="731520" cy="228600"/>
          </a:xfrm>
          <a:prstGeom prst="rect">
            <a:avLst/>
          </a:prstGeom>
          <a:noFill/>
        </p:spPr>
        <p:txBody>
          <a:bodyPr wrap="square" lIns="0" rIns="0" tIns="0" bIns="0" anchor="t">
            <a:spAutoFit/>
          </a:bodyPr>
          <a:lstStyle/>
          <a:p>
            <a:pPr algn="ctr"/>
            <a:r>
              <a:rPr sz="1000" b="1">
                <a:solidFill>
                  <a:srgbClr val="1E293B"/>
                </a:solidFill>
                <a:latin typeface="Calibri"/>
              </a:rPr>
              <a:t>0.5</a:t>
            </a:r>
          </a:p>
        </p:txBody>
      </p:sp>
      <p:sp>
        <p:nvSpPr>
          <p:cNvPr id="30" name="TextBox 29"/>
          <p:cNvSpPr txBox="1"/>
          <p:nvPr/>
        </p:nvSpPr>
        <p:spPr>
          <a:xfrm>
            <a:off x="914400" y="5394960"/>
            <a:ext cx="6400800" cy="365760"/>
          </a:xfrm>
          <a:prstGeom prst="rect">
            <a:avLst/>
          </a:prstGeom>
          <a:noFill/>
        </p:spPr>
        <p:txBody>
          <a:bodyPr wrap="square" lIns="0" rIns="0" tIns="0" bIns="0" anchor="t">
            <a:spAutoFit/>
          </a:bodyPr>
          <a:lstStyle/>
          <a:p>
            <a:pPr algn="l"/>
            <a:r>
              <a:rPr sz="1200" b="0">
                <a:solidFill>
                  <a:srgbClr val="64748B"/>
                </a:solidFill>
                <a:latin typeface="Calibri"/>
              </a:rPr>
              <a:t>Match-day spike persists 48–72h despite light training</a:t>
            </a:r>
          </a:p>
        </p:txBody>
      </p:sp>
      <p:sp>
        <p:nvSpPr>
          <p:cNvPr id="31" name="TextBox 30"/>
          <p:cNvSpPr txBox="1"/>
          <p:nvPr/>
        </p:nvSpPr>
        <p:spPr>
          <a:xfrm>
            <a:off x="7863840" y="1828800"/>
            <a:ext cx="3749039" cy="3931920"/>
          </a:xfrm>
          <a:prstGeom prst="rect">
            <a:avLst/>
          </a:prstGeom>
          <a:noFill/>
        </p:spPr>
        <p:txBody>
          <a:bodyPr wrap="square" lIns="0" rIns="0" tIns="0" bIns="0">
            <a:spAutoFit/>
          </a:bodyPr>
          <a:lstStyle/>
          <a:p>
            <a:pPr algn="l">
              <a:lnSpc>
                <a:spcPct val="130000"/>
              </a:lnSpc>
            </a:pPr>
            <a:r>
              <a:rPr sz="1300" b="0">
                <a:solidFill>
                  <a:srgbClr val="1E293B"/>
                </a:solidFill>
                <a:latin typeface="Calibri"/>
              </a:rPr>
              <a:t>Rolling 72h window</a:t>
            </a:r>
          </a:p>
          <a:p>
            <a:pPr algn="l">
              <a:lnSpc>
                <a:spcPct val="130000"/>
              </a:lnSpc>
            </a:pPr>
            <a:r>
              <a:rPr sz="1300" b="0">
                <a:solidFill>
                  <a:srgbClr val="1E293B"/>
                </a:solidFill>
                <a:latin typeface="Calibri"/>
              </a:rPr>
              <a:t>Burden carries forward — even if today's session was light.</a:t>
            </a:r>
          </a:p>
          <a:p>
            <a:pPr algn="l">
              <a:lnSpc>
                <a:spcPct val="130000"/>
              </a:lnSpc>
            </a:pPr>
            <a:r>
              <a:rPr sz="1300" b="0">
                <a:solidFill>
                  <a:srgbClr val="1E293B"/>
                </a:solidFill>
                <a:latin typeface="Calibri"/>
              </a:rPr>
              <a:t/>
            </a:r>
          </a:p>
          <a:p>
            <a:pPr algn="l">
              <a:lnSpc>
                <a:spcPct val="130000"/>
              </a:lnSpc>
            </a:pPr>
            <a:r>
              <a:rPr sz="1300" b="0">
                <a:solidFill>
                  <a:srgbClr val="1E293B"/>
                </a:solidFill>
                <a:latin typeface="Calibri"/>
              </a:rPr>
              <a:t>Coach planning hint</a:t>
            </a:r>
          </a:p>
          <a:p>
            <a:pPr algn="l">
              <a:lnSpc>
                <a:spcPct val="130000"/>
              </a:lnSpc>
            </a:pPr>
            <a:r>
              <a:rPr sz="1300" b="0">
                <a:solidFill>
                  <a:srgbClr val="1E293B"/>
                </a:solidFill>
                <a:latin typeface="Calibri"/>
              </a:rPr>
              <a:t>Surfaces a warning when high-intensity work is planned on still-elevated days.</a:t>
            </a:r>
          </a:p>
          <a:p>
            <a:pPr algn="l">
              <a:lnSpc>
                <a:spcPct val="130000"/>
              </a:lnSpc>
            </a:pPr>
            <a:r>
              <a:rPr sz="1300" b="0">
                <a:solidFill>
                  <a:srgbClr val="1E293B"/>
                </a:solidFill>
                <a:latin typeface="Calibri"/>
              </a:rPr>
              <a:t/>
            </a:r>
          </a:p>
          <a:p>
            <a:pPr algn="l">
              <a:lnSpc>
                <a:spcPct val="130000"/>
              </a:lnSpc>
            </a:pPr>
            <a:r>
              <a:rPr sz="1300" b="0">
                <a:solidFill>
                  <a:srgbClr val="1E293B"/>
                </a:solidFill>
                <a:latin typeface="Calibri"/>
              </a:rPr>
              <a:t>Prevents the compound</a:t>
            </a:r>
          </a:p>
          <a:p>
            <a:pPr algn="l">
              <a:lnSpc>
                <a:spcPct val="130000"/>
              </a:lnSpc>
            </a:pPr>
            <a:r>
              <a:rPr sz="1300" b="0">
                <a:solidFill>
                  <a:srgbClr val="1E293B"/>
                </a:solidFill>
                <a:latin typeface="Calibri"/>
              </a:rPr>
              <a:t>error of stacking neural load on neural load.</a:t>
            </a:r>
          </a:p>
        </p:txBody>
      </p:sp>
      <p:sp>
        <p:nvSpPr>
          <p:cNvPr id="32" name="TextBox 31"/>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33" name="TextBox 32"/>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17 / 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457200"/>
            <a:ext cx="1828800" cy="365760"/>
          </a:xfrm>
          <a:prstGeom prst="rect">
            <a:avLst/>
          </a:prstGeom>
          <a:noFill/>
        </p:spPr>
        <p:txBody>
          <a:bodyPr wrap="square" lIns="0" rIns="0" tIns="0" bIns="0" anchor="t">
            <a:spAutoFit/>
          </a:bodyPr>
          <a:lstStyle/>
          <a:p>
            <a:pPr algn="r"/>
            <a:r>
              <a:rPr sz="1100" b="1">
                <a:solidFill>
                  <a:srgbClr val="29B7E6"/>
                </a:solidFill>
                <a:latin typeface="Calibri"/>
              </a:rPr>
              <a:t>SECTION 4 / 5</a:t>
            </a:r>
          </a:p>
        </p:txBody>
      </p:sp>
      <p:sp>
        <p:nvSpPr>
          <p:cNvPr id="4" name="TextBox 3"/>
          <p:cNvSpPr txBox="1"/>
          <p:nvPr/>
        </p:nvSpPr>
        <p:spPr>
          <a:xfrm>
            <a:off x="457200" y="2011680"/>
            <a:ext cx="3108960" cy="2286000"/>
          </a:xfrm>
          <a:prstGeom prst="rect">
            <a:avLst/>
          </a:prstGeom>
          <a:noFill/>
        </p:spPr>
        <p:txBody>
          <a:bodyPr wrap="square" lIns="0" rIns="0" tIns="0" bIns="0" anchor="t">
            <a:spAutoFit/>
          </a:bodyPr>
          <a:lstStyle/>
          <a:p>
            <a:pPr algn="ctr"/>
            <a:r>
              <a:rPr sz="14000" b="1">
                <a:solidFill>
                  <a:srgbClr val="005A2B"/>
                </a:solidFill>
                <a:latin typeface="Arial Black"/>
              </a:rPr>
              <a:t>04</a:t>
            </a:r>
          </a:p>
        </p:txBody>
      </p:sp>
      <p:sp>
        <p:nvSpPr>
          <p:cNvPr id="5" name="TextBox 4"/>
          <p:cNvSpPr txBox="1"/>
          <p:nvPr/>
        </p:nvSpPr>
        <p:spPr>
          <a:xfrm>
            <a:off x="3657600" y="2286000"/>
            <a:ext cx="8229600" cy="1371600"/>
          </a:xfrm>
          <a:prstGeom prst="rect">
            <a:avLst/>
          </a:prstGeom>
          <a:noFill/>
        </p:spPr>
        <p:txBody>
          <a:bodyPr wrap="square" lIns="0" rIns="0" tIns="0" bIns="0" anchor="t">
            <a:spAutoFit/>
          </a:bodyPr>
          <a:lstStyle/>
          <a:p>
            <a:pPr algn="l"/>
            <a:r>
              <a:rPr sz="4800" b="1">
                <a:solidFill>
                  <a:srgbClr val="FFFFFF"/>
                </a:solidFill>
                <a:latin typeface="Arial Black"/>
              </a:rPr>
              <a:t>Composite Load</a:t>
            </a:r>
          </a:p>
        </p:txBody>
      </p:sp>
      <p:sp>
        <p:nvSpPr>
          <p:cNvPr id="6" name="TextBox 5"/>
          <p:cNvSpPr txBox="1"/>
          <p:nvPr/>
        </p:nvSpPr>
        <p:spPr>
          <a:xfrm>
            <a:off x="3657600" y="3931920"/>
            <a:ext cx="8229600" cy="914400"/>
          </a:xfrm>
          <a:prstGeom prst="rect">
            <a:avLst/>
          </a:prstGeom>
          <a:noFill/>
        </p:spPr>
        <p:txBody>
          <a:bodyPr wrap="square" lIns="0" rIns="0" tIns="0" bIns="0" anchor="t">
            <a:spAutoFit/>
          </a:bodyPr>
          <a:lstStyle/>
          <a:p>
            <a:pPr algn="l"/>
            <a:r>
              <a:rPr sz="2200" b="0">
                <a:solidFill>
                  <a:srgbClr val="29B7E6"/>
                </a:solidFill>
                <a:latin typeface="Calibri"/>
              </a:rPr>
              <a:t>One number for the day</a:t>
            </a:r>
          </a:p>
        </p:txBody>
      </p:sp>
      <p:sp>
        <p:nvSpPr>
          <p:cNvPr id="7" name="Oval 6"/>
          <p:cNvSpPr/>
          <p:nvPr/>
        </p:nvSpPr>
        <p:spPr>
          <a:xfrm>
            <a:off x="9593886"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21901"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49917"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77934"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05949" y="585399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33966"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61982"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57994"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54004" y="5149901"/>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50017"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6028"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42041"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38052"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66069" y="5982004"/>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94085" y="595000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322100"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FFFFFF"/>
                </a:solidFill>
                <a:latin typeface="Calibri"/>
              </a:rPr>
              <a:t>MICROPULSE  ·  performance intelligence</a:t>
            </a:r>
          </a:p>
        </p:txBody>
      </p:sp>
      <p:sp>
        <p:nvSpPr>
          <p:cNvPr id="24" name="TextBox 23"/>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FFFFFF"/>
                </a:solidFill>
                <a:latin typeface="Calibri"/>
              </a:rPr>
              <a:t>18 / 29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04 · COMPOSITE LOAD</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Twenty graphs collapse into one</a:t>
            </a:r>
          </a:p>
        </p:txBody>
      </p:sp>
      <p:sp>
        <p:nvSpPr>
          <p:cNvPr id="6" name="TextBox 5"/>
          <p:cNvSpPr txBox="1"/>
          <p:nvPr/>
        </p:nvSpPr>
        <p:spPr>
          <a:xfrm>
            <a:off x="640080" y="2011680"/>
            <a:ext cx="10972800" cy="914400"/>
          </a:xfrm>
          <a:prstGeom prst="rect">
            <a:avLst/>
          </a:prstGeom>
          <a:noFill/>
        </p:spPr>
        <p:txBody>
          <a:bodyPr wrap="square" lIns="0" rIns="0" tIns="0" bIns="0" anchor="t">
            <a:spAutoFit/>
          </a:bodyPr>
          <a:lstStyle/>
          <a:p>
            <a:pPr algn="l"/>
            <a:r>
              <a:rPr sz="2400" b="0">
                <a:solidFill>
                  <a:srgbClr val="1E293B"/>
                </a:solidFill>
                <a:latin typeface="Calibri"/>
              </a:rPr>
              <a:t>Every GPS unit gives you 20 numbers.</a:t>
            </a:r>
          </a:p>
        </p:txBody>
      </p:sp>
      <p:sp>
        <p:nvSpPr>
          <p:cNvPr id="7" name="TextBox 6"/>
          <p:cNvSpPr txBox="1"/>
          <p:nvPr/>
        </p:nvSpPr>
        <p:spPr>
          <a:xfrm>
            <a:off x="640080" y="2743200"/>
            <a:ext cx="10972800" cy="914400"/>
          </a:xfrm>
          <a:prstGeom prst="rect">
            <a:avLst/>
          </a:prstGeom>
          <a:noFill/>
        </p:spPr>
        <p:txBody>
          <a:bodyPr wrap="square" lIns="0" rIns="0" tIns="0" bIns="0" anchor="t">
            <a:spAutoFit/>
          </a:bodyPr>
          <a:lstStyle/>
          <a:p>
            <a:pPr algn="l"/>
            <a:r>
              <a:rPr sz="2400" b="0">
                <a:solidFill>
                  <a:srgbClr val="1E293B"/>
                </a:solidFill>
                <a:latin typeface="Calibri"/>
              </a:rPr>
              <a:t>Every wellness questionnaire gives you 5 more.</a:t>
            </a:r>
          </a:p>
        </p:txBody>
      </p:sp>
      <p:sp>
        <p:nvSpPr>
          <p:cNvPr id="8" name="TextBox 7"/>
          <p:cNvSpPr txBox="1"/>
          <p:nvPr/>
        </p:nvSpPr>
        <p:spPr>
          <a:xfrm>
            <a:off x="640080" y="3474720"/>
            <a:ext cx="10972800" cy="914400"/>
          </a:xfrm>
          <a:prstGeom prst="rect">
            <a:avLst/>
          </a:prstGeom>
          <a:noFill/>
        </p:spPr>
        <p:txBody>
          <a:bodyPr wrap="square" lIns="0" rIns="0" tIns="0" bIns="0" anchor="t">
            <a:spAutoFit/>
          </a:bodyPr>
          <a:lstStyle/>
          <a:p>
            <a:pPr algn="l"/>
            <a:r>
              <a:rPr sz="2400" b="0">
                <a:solidFill>
                  <a:srgbClr val="1E293B"/>
                </a:solidFill>
                <a:latin typeface="Calibri"/>
              </a:rPr>
              <a:t>No coach has time to read them all.</a:t>
            </a:r>
          </a:p>
        </p:txBody>
      </p:sp>
      <p:sp>
        <p:nvSpPr>
          <p:cNvPr id="9" name="TextBox 8"/>
          <p:cNvSpPr txBox="1"/>
          <p:nvPr/>
        </p:nvSpPr>
        <p:spPr>
          <a:xfrm>
            <a:off x="640080" y="4572000"/>
            <a:ext cx="10972800" cy="1097280"/>
          </a:xfrm>
          <a:prstGeom prst="rect">
            <a:avLst/>
          </a:prstGeom>
          <a:noFill/>
        </p:spPr>
        <p:txBody>
          <a:bodyPr wrap="square" lIns="0" rIns="0" tIns="0" bIns="0" anchor="t">
            <a:spAutoFit/>
          </a:bodyPr>
          <a:lstStyle/>
          <a:p>
            <a:pPr algn="l"/>
            <a:r>
              <a:rPr sz="4600" b="1">
                <a:solidFill>
                  <a:srgbClr val="29B7E6"/>
                </a:solidFill>
                <a:latin typeface="Arial Black"/>
              </a:rPr>
              <a:t>Composite Load gives you one.</a:t>
            </a:r>
          </a:p>
        </p:txBody>
      </p:sp>
      <p:sp>
        <p:nvSpPr>
          <p:cNvPr id="10" name="TextBox 9"/>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1" name="TextBox 10"/>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19 / 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04 · COMPOSITE LOAD</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What it combines</a:t>
            </a:r>
          </a:p>
        </p:txBody>
      </p:sp>
      <p:sp>
        <p:nvSpPr>
          <p:cNvPr id="6" name="Rounded Rectangle 5"/>
          <p:cNvSpPr/>
          <p:nvPr/>
        </p:nvSpPr>
        <p:spPr>
          <a:xfrm>
            <a:off x="640080" y="1828800"/>
            <a:ext cx="10972800" cy="128016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48840"/>
            <a:ext cx="10972800" cy="640080"/>
          </a:xfrm>
          <a:prstGeom prst="rect">
            <a:avLst/>
          </a:prstGeom>
          <a:noFill/>
        </p:spPr>
        <p:txBody>
          <a:bodyPr wrap="square" lIns="0" rIns="0" tIns="0" bIns="0" anchor="t">
            <a:spAutoFit/>
          </a:bodyPr>
          <a:lstStyle/>
          <a:p>
            <a:pPr algn="ctr"/>
            <a:r>
              <a:rPr sz="2200" b="1">
                <a:solidFill>
                  <a:srgbClr val="FFFFFF"/>
                </a:solidFill>
                <a:latin typeface="Consolas"/>
              </a:rPr>
              <a:t>Composite Load = MLI × 0.35 + MetaLoad × 0.35 + NM × 0.30</a:t>
            </a:r>
          </a:p>
        </p:txBody>
      </p:sp>
      <p:sp>
        <p:nvSpPr>
          <p:cNvPr id="8" name="Rounded Rectangle 7"/>
          <p:cNvSpPr/>
          <p:nvPr/>
        </p:nvSpPr>
        <p:spPr>
          <a:xfrm>
            <a:off x="640080" y="3657600"/>
            <a:ext cx="3611880" cy="22860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886200"/>
            <a:ext cx="3611880" cy="457200"/>
          </a:xfrm>
          <a:prstGeom prst="rect">
            <a:avLst/>
          </a:prstGeom>
          <a:noFill/>
        </p:spPr>
        <p:txBody>
          <a:bodyPr wrap="square" lIns="0" rIns="0" tIns="0" bIns="0" anchor="t">
            <a:spAutoFit/>
          </a:bodyPr>
          <a:lstStyle/>
          <a:p>
            <a:pPr algn="ctr"/>
            <a:r>
              <a:rPr sz="4200" b="1">
                <a:solidFill>
                  <a:srgbClr val="005A2B"/>
                </a:solidFill>
                <a:latin typeface="Arial Black"/>
              </a:rPr>
              <a:t>35%</a:t>
            </a:r>
          </a:p>
        </p:txBody>
      </p:sp>
      <p:sp>
        <p:nvSpPr>
          <p:cNvPr id="10" name="TextBox 9"/>
          <p:cNvSpPr txBox="1"/>
          <p:nvPr/>
        </p:nvSpPr>
        <p:spPr>
          <a:xfrm>
            <a:off x="640080" y="4709160"/>
            <a:ext cx="3611880" cy="457200"/>
          </a:xfrm>
          <a:prstGeom prst="rect">
            <a:avLst/>
          </a:prstGeom>
          <a:noFill/>
        </p:spPr>
        <p:txBody>
          <a:bodyPr wrap="square" lIns="0" rIns="0" tIns="0" bIns="0" anchor="t">
            <a:spAutoFit/>
          </a:bodyPr>
          <a:lstStyle/>
          <a:p>
            <a:pPr algn="ctr"/>
            <a:r>
              <a:rPr sz="1800" b="1">
                <a:solidFill>
                  <a:srgbClr val="1E293B"/>
                </a:solidFill>
                <a:latin typeface="Calibri"/>
              </a:rPr>
              <a:t>Mechanical</a:t>
            </a:r>
          </a:p>
        </p:txBody>
      </p:sp>
      <p:sp>
        <p:nvSpPr>
          <p:cNvPr id="11" name="TextBox 10"/>
          <p:cNvSpPr txBox="1"/>
          <p:nvPr/>
        </p:nvSpPr>
        <p:spPr>
          <a:xfrm>
            <a:off x="868680" y="5166360"/>
            <a:ext cx="3154680" cy="731520"/>
          </a:xfrm>
          <a:prstGeom prst="rect">
            <a:avLst/>
          </a:prstGeom>
          <a:noFill/>
        </p:spPr>
        <p:txBody>
          <a:bodyPr wrap="square" lIns="0" rIns="0" tIns="0" bIns="0" anchor="t">
            <a:spAutoFit/>
          </a:bodyPr>
          <a:lstStyle/>
          <a:p>
            <a:pPr algn="ctr"/>
            <a:r>
              <a:rPr sz="1200" b="0">
                <a:solidFill>
                  <a:srgbClr val="64748B"/>
                </a:solidFill>
                <a:latin typeface="Calibri"/>
              </a:rPr>
              <a:t>Stop-start, cuts, eccentric work</a:t>
            </a:r>
          </a:p>
        </p:txBody>
      </p:sp>
      <p:sp>
        <p:nvSpPr>
          <p:cNvPr id="12" name="Rounded Rectangle 11"/>
          <p:cNvSpPr/>
          <p:nvPr/>
        </p:nvSpPr>
        <p:spPr>
          <a:xfrm>
            <a:off x="4416552" y="3657600"/>
            <a:ext cx="3611880" cy="22860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3886200"/>
            <a:ext cx="3611880" cy="457200"/>
          </a:xfrm>
          <a:prstGeom prst="rect">
            <a:avLst/>
          </a:prstGeom>
          <a:noFill/>
        </p:spPr>
        <p:txBody>
          <a:bodyPr wrap="square" lIns="0" rIns="0" tIns="0" bIns="0" anchor="t">
            <a:spAutoFit/>
          </a:bodyPr>
          <a:lstStyle/>
          <a:p>
            <a:pPr algn="ctr"/>
            <a:r>
              <a:rPr sz="4200" b="1">
                <a:solidFill>
                  <a:srgbClr val="005A2B"/>
                </a:solidFill>
                <a:latin typeface="Arial Black"/>
              </a:rPr>
              <a:t>35%</a:t>
            </a:r>
          </a:p>
        </p:txBody>
      </p:sp>
      <p:sp>
        <p:nvSpPr>
          <p:cNvPr id="14" name="TextBox 13"/>
          <p:cNvSpPr txBox="1"/>
          <p:nvPr/>
        </p:nvSpPr>
        <p:spPr>
          <a:xfrm>
            <a:off x="4416552" y="4709160"/>
            <a:ext cx="3611880" cy="457200"/>
          </a:xfrm>
          <a:prstGeom prst="rect">
            <a:avLst/>
          </a:prstGeom>
          <a:noFill/>
        </p:spPr>
        <p:txBody>
          <a:bodyPr wrap="square" lIns="0" rIns="0" tIns="0" bIns="0" anchor="t">
            <a:spAutoFit/>
          </a:bodyPr>
          <a:lstStyle/>
          <a:p>
            <a:pPr algn="ctr"/>
            <a:r>
              <a:rPr sz="1800" b="1">
                <a:solidFill>
                  <a:srgbClr val="1E293B"/>
                </a:solidFill>
                <a:latin typeface="Calibri"/>
              </a:rPr>
              <a:t>Metabolic</a:t>
            </a:r>
          </a:p>
        </p:txBody>
      </p:sp>
      <p:sp>
        <p:nvSpPr>
          <p:cNvPr id="15" name="TextBox 14"/>
          <p:cNvSpPr txBox="1"/>
          <p:nvPr/>
        </p:nvSpPr>
        <p:spPr>
          <a:xfrm>
            <a:off x="4645152" y="5166360"/>
            <a:ext cx="3154680" cy="731520"/>
          </a:xfrm>
          <a:prstGeom prst="rect">
            <a:avLst/>
          </a:prstGeom>
          <a:noFill/>
        </p:spPr>
        <p:txBody>
          <a:bodyPr wrap="square" lIns="0" rIns="0" tIns="0" bIns="0" anchor="t">
            <a:spAutoFit/>
          </a:bodyPr>
          <a:lstStyle/>
          <a:p>
            <a:pPr algn="ctr"/>
            <a:r>
              <a:rPr sz="1200" b="0">
                <a:solidFill>
                  <a:srgbClr val="64748B"/>
                </a:solidFill>
                <a:latin typeface="Calibri"/>
              </a:rPr>
              <a:t>Variable-pace energy expenditure</a:t>
            </a:r>
          </a:p>
        </p:txBody>
      </p:sp>
      <p:sp>
        <p:nvSpPr>
          <p:cNvPr id="16" name="Rounded Rectangle 15"/>
          <p:cNvSpPr/>
          <p:nvPr/>
        </p:nvSpPr>
        <p:spPr>
          <a:xfrm>
            <a:off x="8193024" y="3657600"/>
            <a:ext cx="3611880" cy="22860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3886200"/>
            <a:ext cx="3611880" cy="457200"/>
          </a:xfrm>
          <a:prstGeom prst="rect">
            <a:avLst/>
          </a:prstGeom>
          <a:noFill/>
        </p:spPr>
        <p:txBody>
          <a:bodyPr wrap="square" lIns="0" rIns="0" tIns="0" bIns="0" anchor="t">
            <a:spAutoFit/>
          </a:bodyPr>
          <a:lstStyle/>
          <a:p>
            <a:pPr algn="ctr"/>
            <a:r>
              <a:rPr sz="4200" b="1">
                <a:solidFill>
                  <a:srgbClr val="005A2B"/>
                </a:solidFill>
                <a:latin typeface="Arial Black"/>
              </a:rPr>
              <a:t>30%</a:t>
            </a:r>
          </a:p>
        </p:txBody>
      </p:sp>
      <p:sp>
        <p:nvSpPr>
          <p:cNvPr id="18" name="TextBox 17"/>
          <p:cNvSpPr txBox="1"/>
          <p:nvPr/>
        </p:nvSpPr>
        <p:spPr>
          <a:xfrm>
            <a:off x="8193024" y="4709160"/>
            <a:ext cx="3611880" cy="457200"/>
          </a:xfrm>
          <a:prstGeom prst="rect">
            <a:avLst/>
          </a:prstGeom>
          <a:noFill/>
        </p:spPr>
        <p:txBody>
          <a:bodyPr wrap="square" lIns="0" rIns="0" tIns="0" bIns="0" anchor="t">
            <a:spAutoFit/>
          </a:bodyPr>
          <a:lstStyle/>
          <a:p>
            <a:pPr algn="ctr"/>
            <a:r>
              <a:rPr sz="1800" b="1">
                <a:solidFill>
                  <a:srgbClr val="1E293B"/>
                </a:solidFill>
                <a:latin typeface="Calibri"/>
              </a:rPr>
              <a:t>Neuromuscular</a:t>
            </a:r>
          </a:p>
        </p:txBody>
      </p:sp>
      <p:sp>
        <p:nvSpPr>
          <p:cNvPr id="19" name="TextBox 18"/>
          <p:cNvSpPr txBox="1"/>
          <p:nvPr/>
        </p:nvSpPr>
        <p:spPr>
          <a:xfrm>
            <a:off x="8421624" y="5166360"/>
            <a:ext cx="3154680" cy="731520"/>
          </a:xfrm>
          <a:prstGeom prst="rect">
            <a:avLst/>
          </a:prstGeom>
          <a:noFill/>
        </p:spPr>
        <p:txBody>
          <a:bodyPr wrap="square" lIns="0" rIns="0" tIns="0" bIns="0" anchor="t">
            <a:spAutoFit/>
          </a:bodyPr>
          <a:lstStyle/>
          <a:p>
            <a:pPr algn="ctr"/>
            <a:r>
              <a:rPr sz="1200" b="0">
                <a:solidFill>
                  <a:srgbClr val="64748B"/>
                </a:solidFill>
                <a:latin typeface="Calibri"/>
              </a:rPr>
              <a:t>Fast-twitch / explosive demand</a:t>
            </a:r>
          </a:p>
        </p:txBody>
      </p:sp>
      <p:sp>
        <p:nvSpPr>
          <p:cNvPr id="20" name="TextBox 19"/>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21" name="TextBox 20"/>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20 / 29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04 · COMPOSITE LOAD</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Powers the ACWR — the most important ratio in modern monitoring</a:t>
            </a:r>
          </a:p>
        </p:txBody>
      </p:sp>
      <p:sp>
        <p:nvSpPr>
          <p:cNvPr id="6" name="TextBox 5"/>
          <p:cNvSpPr txBox="1"/>
          <p:nvPr/>
        </p:nvSpPr>
        <p:spPr>
          <a:xfrm>
            <a:off x="640080" y="1920240"/>
            <a:ext cx="10972800" cy="457200"/>
          </a:xfrm>
          <a:prstGeom prst="rect">
            <a:avLst/>
          </a:prstGeom>
          <a:noFill/>
        </p:spPr>
        <p:txBody>
          <a:bodyPr wrap="square" lIns="0" rIns="0" tIns="0" bIns="0" anchor="t">
            <a:spAutoFit/>
          </a:bodyPr>
          <a:lstStyle/>
          <a:p>
            <a:pPr algn="ctr"/>
            <a:r>
              <a:rPr sz="1500" b="0">
                <a:solidFill>
                  <a:srgbClr val="64748B"/>
                </a:solidFill>
                <a:latin typeface="Calibri"/>
              </a:rPr>
              <a:t>Acute (7-day average)  vs  Chronic (28-day average)</a:t>
            </a:r>
          </a:p>
        </p:txBody>
      </p:sp>
      <p:sp>
        <p:nvSpPr>
          <p:cNvPr id="7" name="Rounded Rectangle 6"/>
          <p:cNvSpPr/>
          <p:nvPr/>
        </p:nvSpPr>
        <p:spPr>
          <a:xfrm>
            <a:off x="640080" y="2743200"/>
            <a:ext cx="5394960" cy="25603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880360"/>
            <a:ext cx="5029200" cy="365760"/>
          </a:xfrm>
          <a:prstGeom prst="rect">
            <a:avLst/>
          </a:prstGeom>
          <a:noFill/>
        </p:spPr>
        <p:txBody>
          <a:bodyPr wrap="square" lIns="0" rIns="0" tIns="0" bIns="0" anchor="t">
            <a:spAutoFit/>
          </a:bodyPr>
          <a:lstStyle/>
          <a:p>
            <a:pPr algn="l"/>
            <a:r>
              <a:rPr sz="1200" b="1">
                <a:solidFill>
                  <a:srgbClr val="16A34A"/>
                </a:solidFill>
                <a:latin typeface="Calibri"/>
              </a:rPr>
              <a:t>HEALTHY</a:t>
            </a:r>
          </a:p>
        </p:txBody>
      </p:sp>
      <p:sp>
        <p:nvSpPr>
          <p:cNvPr id="9" name="TextBox 8"/>
          <p:cNvSpPr txBox="1"/>
          <p:nvPr/>
        </p:nvSpPr>
        <p:spPr>
          <a:xfrm>
            <a:off x="868680" y="3200400"/>
            <a:ext cx="5029200" cy="914400"/>
          </a:xfrm>
          <a:prstGeom prst="rect">
            <a:avLst/>
          </a:prstGeom>
          <a:noFill/>
        </p:spPr>
        <p:txBody>
          <a:bodyPr wrap="square" lIns="0" rIns="0" tIns="0" bIns="0" anchor="t">
            <a:spAutoFit/>
          </a:bodyPr>
          <a:lstStyle/>
          <a:p>
            <a:pPr algn="l"/>
            <a:r>
              <a:rPr sz="2800" b="1">
                <a:solidFill>
                  <a:srgbClr val="1E293B"/>
                </a:solidFill>
                <a:latin typeface="Calibri"/>
              </a:rPr>
              <a:t>ACWR  =  1.0–1.3</a:t>
            </a:r>
          </a:p>
        </p:txBody>
      </p:sp>
      <p:sp>
        <p:nvSpPr>
          <p:cNvPr id="10" name="TextBox 9"/>
          <p:cNvSpPr txBox="1"/>
          <p:nvPr/>
        </p:nvSpPr>
        <p:spPr>
          <a:xfrm>
            <a:off x="868680" y="4206240"/>
            <a:ext cx="5029200" cy="548640"/>
          </a:xfrm>
          <a:prstGeom prst="rect">
            <a:avLst/>
          </a:prstGeom>
          <a:noFill/>
        </p:spPr>
        <p:txBody>
          <a:bodyPr wrap="square" lIns="0" rIns="0" tIns="0" bIns="0" anchor="t">
            <a:spAutoFit/>
          </a:bodyPr>
          <a:lstStyle/>
          <a:p>
            <a:pPr algn="l"/>
            <a:r>
              <a:rPr sz="1800" b="1">
                <a:solidFill>
                  <a:srgbClr val="16A34A"/>
                </a:solidFill>
                <a:latin typeface="Calibri"/>
              </a:rPr>
              <a:t>Building fitness</a:t>
            </a:r>
          </a:p>
        </p:txBody>
      </p:sp>
      <p:sp>
        <p:nvSpPr>
          <p:cNvPr id="11" name="TextBox 10"/>
          <p:cNvSpPr txBox="1"/>
          <p:nvPr/>
        </p:nvSpPr>
        <p:spPr>
          <a:xfrm>
            <a:off x="868680" y="4754880"/>
            <a:ext cx="5029200" cy="365760"/>
          </a:xfrm>
          <a:prstGeom prst="rect">
            <a:avLst/>
          </a:prstGeom>
          <a:noFill/>
        </p:spPr>
        <p:txBody>
          <a:bodyPr wrap="square" lIns="0" rIns="0" tIns="0" bIns="0" anchor="t">
            <a:spAutoFit/>
          </a:bodyPr>
          <a:lstStyle/>
          <a:p>
            <a:pPr algn="l"/>
            <a:r>
              <a:rPr sz="1200" b="0">
                <a:solidFill>
                  <a:srgbClr val="64748B"/>
                </a:solidFill>
                <a:latin typeface="Calibri"/>
              </a:rPr>
              <a:t>Sweet spot — work matches preparation.</a:t>
            </a:r>
          </a:p>
        </p:txBody>
      </p:sp>
      <p:sp>
        <p:nvSpPr>
          <p:cNvPr id="12" name="Rounded Rectangle 11"/>
          <p:cNvSpPr/>
          <p:nvPr/>
        </p:nvSpPr>
        <p:spPr>
          <a:xfrm>
            <a:off x="6263640" y="2743200"/>
            <a:ext cx="5303520" cy="25603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880360"/>
            <a:ext cx="4937760" cy="365760"/>
          </a:xfrm>
          <a:prstGeom prst="rect">
            <a:avLst/>
          </a:prstGeom>
          <a:noFill/>
        </p:spPr>
        <p:txBody>
          <a:bodyPr wrap="square" lIns="0" rIns="0" tIns="0" bIns="0" anchor="t">
            <a:spAutoFit/>
          </a:bodyPr>
          <a:lstStyle/>
          <a:p>
            <a:pPr algn="l"/>
            <a:r>
              <a:rPr sz="1200" b="1">
                <a:solidFill>
                  <a:srgbClr val="DC2626"/>
                </a:solidFill>
                <a:latin typeface="Calibri"/>
              </a:rPr>
              <a:t>DANGER</a:t>
            </a:r>
          </a:p>
        </p:txBody>
      </p:sp>
      <p:sp>
        <p:nvSpPr>
          <p:cNvPr id="14" name="TextBox 13"/>
          <p:cNvSpPr txBox="1"/>
          <p:nvPr/>
        </p:nvSpPr>
        <p:spPr>
          <a:xfrm>
            <a:off x="6492240" y="3200400"/>
            <a:ext cx="4937760" cy="914400"/>
          </a:xfrm>
          <a:prstGeom prst="rect">
            <a:avLst/>
          </a:prstGeom>
          <a:noFill/>
        </p:spPr>
        <p:txBody>
          <a:bodyPr wrap="square" lIns="0" rIns="0" tIns="0" bIns="0" anchor="t">
            <a:spAutoFit/>
          </a:bodyPr>
          <a:lstStyle/>
          <a:p>
            <a:pPr algn="l"/>
            <a:r>
              <a:rPr sz="2800" b="1">
                <a:solidFill>
                  <a:srgbClr val="1E293B"/>
                </a:solidFill>
                <a:latin typeface="Calibri"/>
              </a:rPr>
              <a:t>ACWR  &gt;  1.5</a:t>
            </a:r>
          </a:p>
        </p:txBody>
      </p:sp>
      <p:sp>
        <p:nvSpPr>
          <p:cNvPr id="15" name="TextBox 14"/>
          <p:cNvSpPr txBox="1"/>
          <p:nvPr/>
        </p:nvSpPr>
        <p:spPr>
          <a:xfrm>
            <a:off x="6492240" y="4206240"/>
            <a:ext cx="4937760" cy="548640"/>
          </a:xfrm>
          <a:prstGeom prst="rect">
            <a:avLst/>
          </a:prstGeom>
          <a:noFill/>
        </p:spPr>
        <p:txBody>
          <a:bodyPr wrap="square" lIns="0" rIns="0" tIns="0" bIns="0" anchor="t">
            <a:spAutoFit/>
          </a:bodyPr>
          <a:lstStyle/>
          <a:p>
            <a:pPr algn="l"/>
            <a:r>
              <a:rPr sz="1800" b="1">
                <a:solidFill>
                  <a:srgbClr val="DC2626"/>
                </a:solidFill>
                <a:latin typeface="Calibri"/>
              </a:rPr>
              <a:t>Injury risk doubles</a:t>
            </a:r>
          </a:p>
        </p:txBody>
      </p:sp>
      <p:sp>
        <p:nvSpPr>
          <p:cNvPr id="16" name="TextBox 15"/>
          <p:cNvSpPr txBox="1"/>
          <p:nvPr/>
        </p:nvSpPr>
        <p:spPr>
          <a:xfrm>
            <a:off x="6492240" y="4754880"/>
            <a:ext cx="4937760" cy="365760"/>
          </a:xfrm>
          <a:prstGeom prst="rect">
            <a:avLst/>
          </a:prstGeom>
          <a:noFill/>
        </p:spPr>
        <p:txBody>
          <a:bodyPr wrap="square" lIns="0" rIns="0" tIns="0" bIns="0" anchor="t">
            <a:spAutoFit/>
          </a:bodyPr>
          <a:lstStyle/>
          <a:p>
            <a:pPr algn="l"/>
            <a:r>
              <a:rPr sz="1200" b="0">
                <a:solidFill>
                  <a:srgbClr val="64748B"/>
                </a:solidFill>
                <a:latin typeface="Calibri"/>
              </a:rPr>
              <a:t>Acute spike outpaces chronic preparation.</a:t>
            </a:r>
          </a:p>
        </p:txBody>
      </p:sp>
      <p:sp>
        <p:nvSpPr>
          <p:cNvPr id="17" name="TextBox 16"/>
          <p:cNvSpPr txBox="1"/>
          <p:nvPr/>
        </p:nvSpPr>
        <p:spPr>
          <a:xfrm>
            <a:off x="640080" y="5943600"/>
            <a:ext cx="10972800" cy="457200"/>
          </a:xfrm>
          <a:prstGeom prst="rect">
            <a:avLst/>
          </a:prstGeom>
          <a:noFill/>
        </p:spPr>
        <p:txBody>
          <a:bodyPr wrap="square" lIns="0" rIns="0" tIns="0" bIns="0" anchor="t">
            <a:spAutoFit/>
          </a:bodyPr>
          <a:lstStyle/>
          <a:p>
            <a:pPr algn="ctr"/>
            <a:r>
              <a:rPr sz="1200" b="0">
                <a:solidFill>
                  <a:srgbClr val="64748B"/>
                </a:solidFill>
                <a:latin typeface="Calibri"/>
              </a:rPr>
              <a:t>Gabbett 2016 — replicated across 50+ studies in team sport</a:t>
            </a:r>
          </a:p>
        </p:txBody>
      </p:sp>
      <p:sp>
        <p:nvSpPr>
          <p:cNvPr id="18" name="TextBox 17"/>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9" name="TextBox 18"/>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21 / 29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04 · COMPOSITE LOAD</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Team dashboard at a glance</a:t>
            </a:r>
          </a:p>
        </p:txBody>
      </p:sp>
      <p:sp>
        <p:nvSpPr>
          <p:cNvPr id="6" name="Rounded Rectangle 5"/>
          <p:cNvSpPr/>
          <p:nvPr/>
        </p:nvSpPr>
        <p:spPr>
          <a:xfrm>
            <a:off x="640080" y="1828800"/>
            <a:ext cx="10972800" cy="429768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743200" cy="274320"/>
          </a:xfrm>
          <a:prstGeom prst="rect">
            <a:avLst/>
          </a:prstGeom>
          <a:noFill/>
        </p:spPr>
        <p:txBody>
          <a:bodyPr wrap="square" lIns="0" rIns="0" tIns="0" bIns="0" anchor="t">
            <a:spAutoFit/>
          </a:bodyPr>
          <a:lstStyle/>
          <a:p>
            <a:pPr algn="l"/>
            <a:r>
              <a:rPr sz="1000" b="1">
                <a:solidFill>
                  <a:srgbClr val="64748B"/>
                </a:solidFill>
                <a:latin typeface="Calibri"/>
              </a:rPr>
              <a:t>PLAYER</a:t>
            </a:r>
          </a:p>
        </p:txBody>
      </p:sp>
      <p:sp>
        <p:nvSpPr>
          <p:cNvPr id="8" name="TextBox 7"/>
          <p:cNvSpPr txBox="1"/>
          <p:nvPr/>
        </p:nvSpPr>
        <p:spPr>
          <a:xfrm>
            <a:off x="4572000" y="1965960"/>
            <a:ext cx="1188720" cy="274320"/>
          </a:xfrm>
          <a:prstGeom prst="rect">
            <a:avLst/>
          </a:prstGeom>
          <a:noFill/>
        </p:spPr>
        <p:txBody>
          <a:bodyPr wrap="square" lIns="0" rIns="0" tIns="0" bIns="0" anchor="t">
            <a:spAutoFit/>
          </a:bodyPr>
          <a:lstStyle/>
          <a:p>
            <a:pPr algn="ctr"/>
            <a:r>
              <a:rPr sz="1000" b="1">
                <a:solidFill>
                  <a:srgbClr val="64748B"/>
                </a:solidFill>
                <a:latin typeface="Calibri"/>
              </a:rPr>
              <a:t>TODAY</a:t>
            </a:r>
          </a:p>
        </p:txBody>
      </p:sp>
      <p:sp>
        <p:nvSpPr>
          <p:cNvPr id="9" name="TextBox 8"/>
          <p:cNvSpPr txBox="1"/>
          <p:nvPr/>
        </p:nvSpPr>
        <p:spPr>
          <a:xfrm>
            <a:off x="5943600" y="1965960"/>
            <a:ext cx="1188720" cy="274320"/>
          </a:xfrm>
          <a:prstGeom prst="rect">
            <a:avLst/>
          </a:prstGeom>
          <a:noFill/>
        </p:spPr>
        <p:txBody>
          <a:bodyPr wrap="square" lIns="0" rIns="0" tIns="0" bIns="0" anchor="t">
            <a:spAutoFit/>
          </a:bodyPr>
          <a:lstStyle/>
          <a:p>
            <a:pPr algn="ctr"/>
            <a:r>
              <a:rPr sz="1000" b="1">
                <a:solidFill>
                  <a:srgbClr val="64748B"/>
                </a:solidFill>
                <a:latin typeface="Calibri"/>
              </a:rPr>
              <a:t>ACWR</a:t>
            </a:r>
          </a:p>
        </p:txBody>
      </p:sp>
      <p:sp>
        <p:nvSpPr>
          <p:cNvPr id="10" name="TextBox 9"/>
          <p:cNvSpPr txBox="1"/>
          <p:nvPr/>
        </p:nvSpPr>
        <p:spPr>
          <a:xfrm>
            <a:off x="7315200" y="1965960"/>
            <a:ext cx="1371600" cy="274320"/>
          </a:xfrm>
          <a:prstGeom prst="rect">
            <a:avLst/>
          </a:prstGeom>
          <a:noFill/>
        </p:spPr>
        <p:txBody>
          <a:bodyPr wrap="square" lIns="0" rIns="0" tIns="0" bIns="0" anchor="t">
            <a:spAutoFit/>
          </a:bodyPr>
          <a:lstStyle/>
          <a:p>
            <a:pPr algn="ctr"/>
            <a:r>
              <a:rPr sz="1000" b="1">
                <a:solidFill>
                  <a:srgbClr val="64748B"/>
                </a:solidFill>
                <a:latin typeface="Calibri"/>
              </a:rPr>
              <a:t>FLAG</a:t>
            </a:r>
          </a:p>
        </p:txBody>
      </p:sp>
      <p:sp>
        <p:nvSpPr>
          <p:cNvPr id="11" name="TextBox 10"/>
          <p:cNvSpPr txBox="1"/>
          <p:nvPr/>
        </p:nvSpPr>
        <p:spPr>
          <a:xfrm>
            <a:off x="8778240" y="1965960"/>
            <a:ext cx="2743200" cy="274320"/>
          </a:xfrm>
          <a:prstGeom prst="rect">
            <a:avLst/>
          </a:prstGeom>
          <a:noFill/>
        </p:spPr>
        <p:txBody>
          <a:bodyPr wrap="square" lIns="0" rIns="0" tIns="0" bIns="0" anchor="t">
            <a:spAutoFit/>
          </a:bodyPr>
          <a:lstStyle/>
          <a:p>
            <a:pPr algn="l"/>
            <a:r>
              <a:rPr sz="1000" b="1">
                <a:solidFill>
                  <a:srgbClr val="64748B"/>
                </a:solidFill>
                <a:latin typeface="Calibri"/>
              </a:rPr>
              <a:t>ACTION</a:t>
            </a:r>
          </a:p>
        </p:txBody>
      </p:sp>
      <p:sp>
        <p:nvSpPr>
          <p:cNvPr id="12" name="TextBox 11"/>
          <p:cNvSpPr txBox="1"/>
          <p:nvPr/>
        </p:nvSpPr>
        <p:spPr>
          <a:xfrm>
            <a:off x="914400" y="2468880"/>
            <a:ext cx="3657600" cy="365760"/>
          </a:xfrm>
          <a:prstGeom prst="rect">
            <a:avLst/>
          </a:prstGeom>
          <a:noFill/>
        </p:spPr>
        <p:txBody>
          <a:bodyPr wrap="square" lIns="0" rIns="0" tIns="0" bIns="0" anchor="t">
            <a:spAutoFit/>
          </a:bodyPr>
          <a:lstStyle/>
          <a:p>
            <a:pPr algn="l"/>
            <a:r>
              <a:rPr sz="1400" b="1">
                <a:solidFill>
                  <a:srgbClr val="1E293B"/>
                </a:solidFill>
                <a:latin typeface="Calibri"/>
              </a:rPr>
              <a:t>Andri Yeoman</a:t>
            </a:r>
          </a:p>
        </p:txBody>
      </p:sp>
      <p:sp>
        <p:nvSpPr>
          <p:cNvPr id="13" name="TextBox 12"/>
          <p:cNvSpPr txBox="1"/>
          <p:nvPr/>
        </p:nvSpPr>
        <p:spPr>
          <a:xfrm>
            <a:off x="4572000" y="2468880"/>
            <a:ext cx="1188720" cy="365760"/>
          </a:xfrm>
          <a:prstGeom prst="rect">
            <a:avLst/>
          </a:prstGeom>
          <a:noFill/>
        </p:spPr>
        <p:txBody>
          <a:bodyPr wrap="square" lIns="0" rIns="0" tIns="0" bIns="0" anchor="t">
            <a:spAutoFit/>
          </a:bodyPr>
          <a:lstStyle/>
          <a:p>
            <a:pPr algn="ctr"/>
            <a:r>
              <a:rPr sz="1400" b="0">
                <a:solidFill>
                  <a:srgbClr val="1E293B"/>
                </a:solidFill>
                <a:latin typeface="Calibri"/>
              </a:rPr>
              <a:t>1.1</a:t>
            </a:r>
          </a:p>
        </p:txBody>
      </p:sp>
      <p:sp>
        <p:nvSpPr>
          <p:cNvPr id="14" name="TextBox 13"/>
          <p:cNvSpPr txBox="1"/>
          <p:nvPr/>
        </p:nvSpPr>
        <p:spPr>
          <a:xfrm>
            <a:off x="5943600" y="2468880"/>
            <a:ext cx="1188720" cy="365760"/>
          </a:xfrm>
          <a:prstGeom prst="rect">
            <a:avLst/>
          </a:prstGeom>
          <a:noFill/>
        </p:spPr>
        <p:txBody>
          <a:bodyPr wrap="square" lIns="0" rIns="0" tIns="0" bIns="0" anchor="t">
            <a:spAutoFit/>
          </a:bodyPr>
          <a:lstStyle/>
          <a:p>
            <a:pPr algn="ctr"/>
            <a:r>
              <a:rPr sz="1400" b="0">
                <a:solidFill>
                  <a:srgbClr val="1E293B"/>
                </a:solidFill>
                <a:latin typeface="Calibri"/>
              </a:rPr>
              <a:t>1.1</a:t>
            </a:r>
          </a:p>
        </p:txBody>
      </p:sp>
      <p:sp>
        <p:nvSpPr>
          <p:cNvPr id="15" name="Rounded Rectangle 14"/>
          <p:cNvSpPr/>
          <p:nvPr/>
        </p:nvSpPr>
        <p:spPr>
          <a:xfrm>
            <a:off x="7315200" y="2423160"/>
            <a:ext cx="1188720" cy="411480"/>
          </a:xfrm>
          <a:prstGeom prst="roundRect">
            <a:avLst>
              <a:gd name="adj" fmla="val 15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2468880"/>
            <a:ext cx="1188720" cy="365760"/>
          </a:xfrm>
          <a:prstGeom prst="rect">
            <a:avLst/>
          </a:prstGeom>
          <a:noFill/>
        </p:spPr>
        <p:txBody>
          <a:bodyPr wrap="square" lIns="0" rIns="0" tIns="0" bIns="0" anchor="t">
            <a:spAutoFit/>
          </a:bodyPr>
          <a:lstStyle/>
          <a:p>
            <a:pPr algn="ctr"/>
            <a:r>
              <a:rPr sz="1100" b="1">
                <a:solidFill>
                  <a:srgbClr val="FFFFFF"/>
                </a:solidFill>
                <a:latin typeface="Calibri"/>
              </a:rPr>
              <a:t>GREEN</a:t>
            </a:r>
          </a:p>
        </p:txBody>
      </p:sp>
      <p:sp>
        <p:nvSpPr>
          <p:cNvPr id="17" name="TextBox 16"/>
          <p:cNvSpPr txBox="1"/>
          <p:nvPr/>
        </p:nvSpPr>
        <p:spPr>
          <a:xfrm>
            <a:off x="8686800" y="2468880"/>
            <a:ext cx="2926080" cy="365760"/>
          </a:xfrm>
          <a:prstGeom prst="rect">
            <a:avLst/>
          </a:prstGeom>
          <a:noFill/>
        </p:spPr>
        <p:txBody>
          <a:bodyPr wrap="square" lIns="0" rIns="0" tIns="0" bIns="0" anchor="t">
            <a:spAutoFit/>
          </a:bodyPr>
          <a:lstStyle/>
          <a:p>
            <a:pPr algn="l"/>
            <a:r>
              <a:rPr sz="1200" b="0">
                <a:solidFill>
                  <a:srgbClr val="64748B"/>
                </a:solidFill>
                <a:latin typeface="Calibri"/>
              </a:rPr>
              <a:t>Full session</a:t>
            </a:r>
          </a:p>
        </p:txBody>
      </p:sp>
      <p:sp>
        <p:nvSpPr>
          <p:cNvPr id="18" name="TextBox 17"/>
          <p:cNvSpPr txBox="1"/>
          <p:nvPr/>
        </p:nvSpPr>
        <p:spPr>
          <a:xfrm>
            <a:off x="914400" y="3154680"/>
            <a:ext cx="3657600" cy="365760"/>
          </a:xfrm>
          <a:prstGeom prst="rect">
            <a:avLst/>
          </a:prstGeom>
          <a:noFill/>
        </p:spPr>
        <p:txBody>
          <a:bodyPr wrap="square" lIns="0" rIns="0" tIns="0" bIns="0" anchor="t">
            <a:spAutoFit/>
          </a:bodyPr>
          <a:lstStyle/>
          <a:p>
            <a:pPr algn="l"/>
            <a:r>
              <a:rPr sz="1400" b="1">
                <a:solidFill>
                  <a:srgbClr val="1E293B"/>
                </a:solidFill>
                <a:latin typeface="Calibri"/>
              </a:rPr>
              <a:t>Magnús Olsen</a:t>
            </a:r>
          </a:p>
        </p:txBody>
      </p:sp>
      <p:sp>
        <p:nvSpPr>
          <p:cNvPr id="19" name="TextBox 18"/>
          <p:cNvSpPr txBox="1"/>
          <p:nvPr/>
        </p:nvSpPr>
        <p:spPr>
          <a:xfrm>
            <a:off x="4572000" y="3154680"/>
            <a:ext cx="1188720" cy="365760"/>
          </a:xfrm>
          <a:prstGeom prst="rect">
            <a:avLst/>
          </a:prstGeom>
          <a:noFill/>
        </p:spPr>
        <p:txBody>
          <a:bodyPr wrap="square" lIns="0" rIns="0" tIns="0" bIns="0" anchor="t">
            <a:spAutoFit/>
          </a:bodyPr>
          <a:lstStyle/>
          <a:p>
            <a:pPr algn="ctr"/>
            <a:r>
              <a:rPr sz="1400" b="0">
                <a:solidFill>
                  <a:srgbClr val="1E293B"/>
                </a:solidFill>
                <a:latin typeface="Calibri"/>
              </a:rPr>
              <a:t>1.4</a:t>
            </a:r>
          </a:p>
        </p:txBody>
      </p:sp>
      <p:sp>
        <p:nvSpPr>
          <p:cNvPr id="20" name="TextBox 19"/>
          <p:cNvSpPr txBox="1"/>
          <p:nvPr/>
        </p:nvSpPr>
        <p:spPr>
          <a:xfrm>
            <a:off x="5943600" y="3154680"/>
            <a:ext cx="1188720" cy="365760"/>
          </a:xfrm>
          <a:prstGeom prst="rect">
            <a:avLst/>
          </a:prstGeom>
          <a:noFill/>
        </p:spPr>
        <p:txBody>
          <a:bodyPr wrap="square" lIns="0" rIns="0" tIns="0" bIns="0" anchor="t">
            <a:spAutoFit/>
          </a:bodyPr>
          <a:lstStyle/>
          <a:p>
            <a:pPr algn="ctr"/>
            <a:r>
              <a:rPr sz="1400" b="0">
                <a:solidFill>
                  <a:srgbClr val="1E293B"/>
                </a:solidFill>
                <a:latin typeface="Calibri"/>
              </a:rPr>
              <a:t>1.3</a:t>
            </a:r>
          </a:p>
        </p:txBody>
      </p:sp>
      <p:sp>
        <p:nvSpPr>
          <p:cNvPr id="21" name="Rounded Rectangle 20"/>
          <p:cNvSpPr/>
          <p:nvPr/>
        </p:nvSpPr>
        <p:spPr>
          <a:xfrm>
            <a:off x="7315200" y="3108960"/>
            <a:ext cx="1188720" cy="411480"/>
          </a:xfrm>
          <a:prstGeom prst="roundRect">
            <a:avLst>
              <a:gd name="adj" fmla="val 1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3154680"/>
            <a:ext cx="1188720" cy="365760"/>
          </a:xfrm>
          <a:prstGeom prst="rect">
            <a:avLst/>
          </a:prstGeom>
          <a:noFill/>
        </p:spPr>
        <p:txBody>
          <a:bodyPr wrap="square" lIns="0" rIns="0" tIns="0" bIns="0" anchor="t">
            <a:spAutoFit/>
          </a:bodyPr>
          <a:lstStyle/>
          <a:p>
            <a:pPr algn="ctr"/>
            <a:r>
              <a:rPr sz="1100" b="1">
                <a:solidFill>
                  <a:srgbClr val="FFFFFF"/>
                </a:solidFill>
                <a:latin typeface="Calibri"/>
              </a:rPr>
              <a:t>YELLOW</a:t>
            </a:r>
          </a:p>
        </p:txBody>
      </p:sp>
      <p:sp>
        <p:nvSpPr>
          <p:cNvPr id="23" name="TextBox 22"/>
          <p:cNvSpPr txBox="1"/>
          <p:nvPr/>
        </p:nvSpPr>
        <p:spPr>
          <a:xfrm>
            <a:off x="8686800" y="3154680"/>
            <a:ext cx="2926080" cy="365760"/>
          </a:xfrm>
          <a:prstGeom prst="rect">
            <a:avLst/>
          </a:prstGeom>
          <a:noFill/>
        </p:spPr>
        <p:txBody>
          <a:bodyPr wrap="square" lIns="0" rIns="0" tIns="0" bIns="0" anchor="t">
            <a:spAutoFit/>
          </a:bodyPr>
          <a:lstStyle/>
          <a:p>
            <a:pPr algn="l"/>
            <a:r>
              <a:rPr sz="1200" b="0">
                <a:solidFill>
                  <a:srgbClr val="64748B"/>
                </a:solidFill>
                <a:latin typeface="Calibri"/>
              </a:rPr>
              <a:t>Slight elevation</a:t>
            </a:r>
          </a:p>
        </p:txBody>
      </p:sp>
      <p:sp>
        <p:nvSpPr>
          <p:cNvPr id="24" name="TextBox 23"/>
          <p:cNvSpPr txBox="1"/>
          <p:nvPr/>
        </p:nvSpPr>
        <p:spPr>
          <a:xfrm>
            <a:off x="914400" y="3840480"/>
            <a:ext cx="3657600" cy="365760"/>
          </a:xfrm>
          <a:prstGeom prst="rect">
            <a:avLst/>
          </a:prstGeom>
          <a:noFill/>
        </p:spPr>
        <p:txBody>
          <a:bodyPr wrap="square" lIns="0" rIns="0" tIns="0" bIns="0" anchor="t">
            <a:spAutoFit/>
          </a:bodyPr>
          <a:lstStyle/>
          <a:p>
            <a:pPr algn="l"/>
            <a:r>
              <a:rPr sz="1400" b="1">
                <a:solidFill>
                  <a:srgbClr val="1E293B"/>
                </a:solidFill>
                <a:latin typeface="Calibri"/>
              </a:rPr>
              <a:t>Viktor Karl</a:t>
            </a:r>
          </a:p>
        </p:txBody>
      </p:sp>
      <p:sp>
        <p:nvSpPr>
          <p:cNvPr id="25" name="TextBox 24"/>
          <p:cNvSpPr txBox="1"/>
          <p:nvPr/>
        </p:nvSpPr>
        <p:spPr>
          <a:xfrm>
            <a:off x="4572000" y="3840480"/>
            <a:ext cx="1188720" cy="365760"/>
          </a:xfrm>
          <a:prstGeom prst="rect">
            <a:avLst/>
          </a:prstGeom>
          <a:noFill/>
        </p:spPr>
        <p:txBody>
          <a:bodyPr wrap="square" lIns="0" rIns="0" tIns="0" bIns="0" anchor="t">
            <a:spAutoFit/>
          </a:bodyPr>
          <a:lstStyle/>
          <a:p>
            <a:pPr algn="ctr"/>
            <a:r>
              <a:rPr sz="1400" b="0">
                <a:solidFill>
                  <a:srgbClr val="1E293B"/>
                </a:solidFill>
                <a:latin typeface="Calibri"/>
              </a:rPr>
              <a:t>1.8</a:t>
            </a:r>
          </a:p>
        </p:txBody>
      </p:sp>
      <p:sp>
        <p:nvSpPr>
          <p:cNvPr id="26" name="TextBox 25"/>
          <p:cNvSpPr txBox="1"/>
          <p:nvPr/>
        </p:nvSpPr>
        <p:spPr>
          <a:xfrm>
            <a:off x="5943600" y="3840480"/>
            <a:ext cx="1188720" cy="365760"/>
          </a:xfrm>
          <a:prstGeom prst="rect">
            <a:avLst/>
          </a:prstGeom>
          <a:noFill/>
        </p:spPr>
        <p:txBody>
          <a:bodyPr wrap="square" lIns="0" rIns="0" tIns="0" bIns="0" anchor="t">
            <a:spAutoFit/>
          </a:bodyPr>
          <a:lstStyle/>
          <a:p>
            <a:pPr algn="ctr"/>
            <a:r>
              <a:rPr sz="1400" b="0">
                <a:solidFill>
                  <a:srgbClr val="1E293B"/>
                </a:solidFill>
                <a:latin typeface="Calibri"/>
              </a:rPr>
              <a:t>1.7</a:t>
            </a:r>
          </a:p>
        </p:txBody>
      </p:sp>
      <p:sp>
        <p:nvSpPr>
          <p:cNvPr id="27" name="Rounded Rectangle 26"/>
          <p:cNvSpPr/>
          <p:nvPr/>
        </p:nvSpPr>
        <p:spPr>
          <a:xfrm>
            <a:off x="7315200" y="3794760"/>
            <a:ext cx="1188720" cy="411480"/>
          </a:xfrm>
          <a:prstGeom prst="roundRect">
            <a:avLst>
              <a:gd name="adj" fmla="val 15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3840480"/>
            <a:ext cx="1188720" cy="365760"/>
          </a:xfrm>
          <a:prstGeom prst="rect">
            <a:avLst/>
          </a:prstGeom>
          <a:noFill/>
        </p:spPr>
        <p:txBody>
          <a:bodyPr wrap="square" lIns="0" rIns="0" tIns="0" bIns="0" anchor="t">
            <a:spAutoFit/>
          </a:bodyPr>
          <a:lstStyle/>
          <a:p>
            <a:pPr algn="ctr"/>
            <a:r>
              <a:rPr sz="1100" b="1">
                <a:solidFill>
                  <a:srgbClr val="FFFFFF"/>
                </a:solidFill>
                <a:latin typeface="Calibri"/>
              </a:rPr>
              <a:t>RED</a:t>
            </a:r>
          </a:p>
        </p:txBody>
      </p:sp>
      <p:sp>
        <p:nvSpPr>
          <p:cNvPr id="29" name="TextBox 28"/>
          <p:cNvSpPr txBox="1"/>
          <p:nvPr/>
        </p:nvSpPr>
        <p:spPr>
          <a:xfrm>
            <a:off x="8686800" y="3840480"/>
            <a:ext cx="2926080" cy="365760"/>
          </a:xfrm>
          <a:prstGeom prst="rect">
            <a:avLst/>
          </a:prstGeom>
          <a:noFill/>
        </p:spPr>
        <p:txBody>
          <a:bodyPr wrap="square" lIns="0" rIns="0" tIns="0" bIns="0" anchor="t">
            <a:spAutoFit/>
          </a:bodyPr>
          <a:lstStyle/>
          <a:p>
            <a:pPr algn="l"/>
            <a:r>
              <a:rPr sz="1200" b="0">
                <a:solidFill>
                  <a:srgbClr val="64748B"/>
                </a:solidFill>
                <a:latin typeface="Calibri"/>
              </a:rPr>
              <a:t>Reduce 30% · move sprint to Thu</a:t>
            </a:r>
          </a:p>
        </p:txBody>
      </p:sp>
      <p:sp>
        <p:nvSpPr>
          <p:cNvPr id="30" name="TextBox 29"/>
          <p:cNvSpPr txBox="1"/>
          <p:nvPr/>
        </p:nvSpPr>
        <p:spPr>
          <a:xfrm>
            <a:off x="914400" y="4526280"/>
            <a:ext cx="3657600" cy="365760"/>
          </a:xfrm>
          <a:prstGeom prst="rect">
            <a:avLst/>
          </a:prstGeom>
          <a:noFill/>
        </p:spPr>
        <p:txBody>
          <a:bodyPr wrap="square" lIns="0" rIns="0" tIns="0" bIns="0" anchor="t">
            <a:spAutoFit/>
          </a:bodyPr>
          <a:lstStyle/>
          <a:p>
            <a:pPr algn="l"/>
            <a:r>
              <a:rPr sz="1400" b="1">
                <a:solidFill>
                  <a:srgbClr val="1E293B"/>
                </a:solidFill>
                <a:latin typeface="Calibri"/>
              </a:rPr>
              <a:t>Arnór Tristan</a:t>
            </a:r>
          </a:p>
        </p:txBody>
      </p:sp>
      <p:sp>
        <p:nvSpPr>
          <p:cNvPr id="31" name="TextBox 30"/>
          <p:cNvSpPr txBox="1"/>
          <p:nvPr/>
        </p:nvSpPr>
        <p:spPr>
          <a:xfrm>
            <a:off x="4572000" y="4526280"/>
            <a:ext cx="1188720" cy="365760"/>
          </a:xfrm>
          <a:prstGeom prst="rect">
            <a:avLst/>
          </a:prstGeom>
          <a:noFill/>
        </p:spPr>
        <p:txBody>
          <a:bodyPr wrap="square" lIns="0" rIns="0" tIns="0" bIns="0" anchor="t">
            <a:spAutoFit/>
          </a:bodyPr>
          <a:lstStyle/>
          <a:p>
            <a:pPr algn="ctr"/>
            <a:r>
              <a:rPr sz="1400" b="0">
                <a:solidFill>
                  <a:srgbClr val="1E293B"/>
                </a:solidFill>
                <a:latin typeface="Calibri"/>
              </a:rPr>
              <a:t>0.9</a:t>
            </a:r>
          </a:p>
        </p:txBody>
      </p:sp>
      <p:sp>
        <p:nvSpPr>
          <p:cNvPr id="32" name="TextBox 31"/>
          <p:cNvSpPr txBox="1"/>
          <p:nvPr/>
        </p:nvSpPr>
        <p:spPr>
          <a:xfrm>
            <a:off x="5943600" y="4526280"/>
            <a:ext cx="1188720" cy="365760"/>
          </a:xfrm>
          <a:prstGeom prst="rect">
            <a:avLst/>
          </a:prstGeom>
          <a:noFill/>
        </p:spPr>
        <p:txBody>
          <a:bodyPr wrap="square" lIns="0" rIns="0" tIns="0" bIns="0" anchor="t">
            <a:spAutoFit/>
          </a:bodyPr>
          <a:lstStyle/>
          <a:p>
            <a:pPr algn="ctr"/>
            <a:r>
              <a:rPr sz="1400" b="0">
                <a:solidFill>
                  <a:srgbClr val="1E293B"/>
                </a:solidFill>
                <a:latin typeface="Calibri"/>
              </a:rPr>
              <a:t>1.0</a:t>
            </a:r>
          </a:p>
        </p:txBody>
      </p:sp>
      <p:sp>
        <p:nvSpPr>
          <p:cNvPr id="33" name="Rounded Rectangle 32"/>
          <p:cNvSpPr/>
          <p:nvPr/>
        </p:nvSpPr>
        <p:spPr>
          <a:xfrm>
            <a:off x="7315200" y="4480560"/>
            <a:ext cx="1188720" cy="411480"/>
          </a:xfrm>
          <a:prstGeom prst="roundRect">
            <a:avLst>
              <a:gd name="adj" fmla="val 15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0" y="4526280"/>
            <a:ext cx="1188720" cy="365760"/>
          </a:xfrm>
          <a:prstGeom prst="rect">
            <a:avLst/>
          </a:prstGeom>
          <a:noFill/>
        </p:spPr>
        <p:txBody>
          <a:bodyPr wrap="square" lIns="0" rIns="0" tIns="0" bIns="0" anchor="t">
            <a:spAutoFit/>
          </a:bodyPr>
          <a:lstStyle/>
          <a:p>
            <a:pPr algn="ctr"/>
            <a:r>
              <a:rPr sz="1100" b="1">
                <a:solidFill>
                  <a:srgbClr val="FFFFFF"/>
                </a:solidFill>
                <a:latin typeface="Calibri"/>
              </a:rPr>
              <a:t>GREEN</a:t>
            </a:r>
          </a:p>
        </p:txBody>
      </p:sp>
      <p:sp>
        <p:nvSpPr>
          <p:cNvPr id="35" name="TextBox 34"/>
          <p:cNvSpPr txBox="1"/>
          <p:nvPr/>
        </p:nvSpPr>
        <p:spPr>
          <a:xfrm>
            <a:off x="8686800" y="4526280"/>
            <a:ext cx="2926080" cy="365760"/>
          </a:xfrm>
          <a:prstGeom prst="rect">
            <a:avLst/>
          </a:prstGeom>
          <a:noFill/>
        </p:spPr>
        <p:txBody>
          <a:bodyPr wrap="square" lIns="0" rIns="0" tIns="0" bIns="0" anchor="t">
            <a:spAutoFit/>
          </a:bodyPr>
          <a:lstStyle/>
          <a:p>
            <a:pPr algn="l"/>
            <a:r>
              <a:rPr sz="1200" b="0">
                <a:solidFill>
                  <a:srgbClr val="64748B"/>
                </a:solidFill>
                <a:latin typeface="Calibri"/>
              </a:rPr>
              <a:t>Full session</a:t>
            </a:r>
          </a:p>
        </p:txBody>
      </p:sp>
      <p:sp>
        <p:nvSpPr>
          <p:cNvPr id="36" name="TextBox 35"/>
          <p:cNvSpPr txBox="1"/>
          <p:nvPr/>
        </p:nvSpPr>
        <p:spPr>
          <a:xfrm>
            <a:off x="914400" y="5212080"/>
            <a:ext cx="3657600" cy="365760"/>
          </a:xfrm>
          <a:prstGeom prst="rect">
            <a:avLst/>
          </a:prstGeom>
          <a:noFill/>
        </p:spPr>
        <p:txBody>
          <a:bodyPr wrap="square" lIns="0" rIns="0" tIns="0" bIns="0" anchor="t">
            <a:spAutoFit/>
          </a:bodyPr>
          <a:lstStyle/>
          <a:p>
            <a:pPr algn="l"/>
            <a:r>
              <a:rPr sz="1400" b="1">
                <a:solidFill>
                  <a:srgbClr val="1E293B"/>
                </a:solidFill>
                <a:latin typeface="Calibri"/>
              </a:rPr>
              <a:t>Valgeir V.</a:t>
            </a:r>
          </a:p>
        </p:txBody>
      </p:sp>
      <p:sp>
        <p:nvSpPr>
          <p:cNvPr id="37" name="TextBox 36"/>
          <p:cNvSpPr txBox="1"/>
          <p:nvPr/>
        </p:nvSpPr>
        <p:spPr>
          <a:xfrm>
            <a:off x="4572000" y="5212080"/>
            <a:ext cx="1188720" cy="365760"/>
          </a:xfrm>
          <a:prstGeom prst="rect">
            <a:avLst/>
          </a:prstGeom>
          <a:noFill/>
        </p:spPr>
        <p:txBody>
          <a:bodyPr wrap="square" lIns="0" rIns="0" tIns="0" bIns="0" anchor="t">
            <a:spAutoFit/>
          </a:bodyPr>
          <a:lstStyle/>
          <a:p>
            <a:pPr algn="ctr"/>
            <a:r>
              <a:rPr sz="1400" b="0">
                <a:solidFill>
                  <a:srgbClr val="1E293B"/>
                </a:solidFill>
                <a:latin typeface="Calibri"/>
              </a:rPr>
              <a:t>1.6</a:t>
            </a:r>
          </a:p>
        </p:txBody>
      </p:sp>
      <p:sp>
        <p:nvSpPr>
          <p:cNvPr id="38" name="TextBox 37"/>
          <p:cNvSpPr txBox="1"/>
          <p:nvPr/>
        </p:nvSpPr>
        <p:spPr>
          <a:xfrm>
            <a:off x="5943600" y="5212080"/>
            <a:ext cx="1188720" cy="365760"/>
          </a:xfrm>
          <a:prstGeom prst="rect">
            <a:avLst/>
          </a:prstGeom>
          <a:noFill/>
        </p:spPr>
        <p:txBody>
          <a:bodyPr wrap="square" lIns="0" rIns="0" tIns="0" bIns="0" anchor="t">
            <a:spAutoFit/>
          </a:bodyPr>
          <a:lstStyle/>
          <a:p>
            <a:pPr algn="ctr"/>
            <a:r>
              <a:rPr sz="1400" b="0">
                <a:solidFill>
                  <a:srgbClr val="1E293B"/>
                </a:solidFill>
                <a:latin typeface="Calibri"/>
              </a:rPr>
              <a:t>1.5</a:t>
            </a:r>
          </a:p>
        </p:txBody>
      </p:sp>
      <p:sp>
        <p:nvSpPr>
          <p:cNvPr id="39" name="Rounded Rectangle 38"/>
          <p:cNvSpPr/>
          <p:nvPr/>
        </p:nvSpPr>
        <p:spPr>
          <a:xfrm>
            <a:off x="7315200" y="5166360"/>
            <a:ext cx="1188720" cy="411480"/>
          </a:xfrm>
          <a:prstGeom prst="roundRect">
            <a:avLst>
              <a:gd name="adj" fmla="val 15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0" y="5212080"/>
            <a:ext cx="1188720" cy="365760"/>
          </a:xfrm>
          <a:prstGeom prst="rect">
            <a:avLst/>
          </a:prstGeom>
          <a:noFill/>
        </p:spPr>
        <p:txBody>
          <a:bodyPr wrap="square" lIns="0" rIns="0" tIns="0" bIns="0" anchor="t">
            <a:spAutoFit/>
          </a:bodyPr>
          <a:lstStyle/>
          <a:p>
            <a:pPr algn="ctr"/>
            <a:r>
              <a:rPr sz="1100" b="1">
                <a:solidFill>
                  <a:srgbClr val="FFFFFF"/>
                </a:solidFill>
                <a:latin typeface="Calibri"/>
              </a:rPr>
              <a:t>RED</a:t>
            </a:r>
          </a:p>
        </p:txBody>
      </p:sp>
      <p:sp>
        <p:nvSpPr>
          <p:cNvPr id="41" name="TextBox 40"/>
          <p:cNvSpPr txBox="1"/>
          <p:nvPr/>
        </p:nvSpPr>
        <p:spPr>
          <a:xfrm>
            <a:off x="8686800" y="5212080"/>
            <a:ext cx="2926080" cy="365760"/>
          </a:xfrm>
          <a:prstGeom prst="rect">
            <a:avLst/>
          </a:prstGeom>
          <a:noFill/>
        </p:spPr>
        <p:txBody>
          <a:bodyPr wrap="square" lIns="0" rIns="0" tIns="0" bIns="0" anchor="t">
            <a:spAutoFit/>
          </a:bodyPr>
          <a:lstStyle/>
          <a:p>
            <a:pPr algn="l"/>
            <a:r>
              <a:rPr sz="1200" b="0">
                <a:solidFill>
                  <a:srgbClr val="64748B"/>
                </a:solidFill>
                <a:latin typeface="Calibri"/>
              </a:rPr>
              <a:t>Recovery day</a:t>
            </a:r>
          </a:p>
        </p:txBody>
      </p:sp>
      <p:sp>
        <p:nvSpPr>
          <p:cNvPr id="42" name="TextBox 41"/>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43" name="TextBox 42"/>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22 / 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457200"/>
            <a:ext cx="1828800" cy="365760"/>
          </a:xfrm>
          <a:prstGeom prst="rect">
            <a:avLst/>
          </a:prstGeom>
          <a:noFill/>
        </p:spPr>
        <p:txBody>
          <a:bodyPr wrap="square" lIns="0" rIns="0" tIns="0" bIns="0" anchor="t">
            <a:spAutoFit/>
          </a:bodyPr>
          <a:lstStyle/>
          <a:p>
            <a:pPr algn="r"/>
            <a:r>
              <a:rPr sz="1100" b="1">
                <a:solidFill>
                  <a:srgbClr val="29B7E6"/>
                </a:solidFill>
                <a:latin typeface="Calibri"/>
              </a:rPr>
              <a:t>SECTION 5 / 5</a:t>
            </a:r>
          </a:p>
        </p:txBody>
      </p:sp>
      <p:sp>
        <p:nvSpPr>
          <p:cNvPr id="4" name="TextBox 3"/>
          <p:cNvSpPr txBox="1"/>
          <p:nvPr/>
        </p:nvSpPr>
        <p:spPr>
          <a:xfrm>
            <a:off x="457200" y="2011680"/>
            <a:ext cx="3108960" cy="2286000"/>
          </a:xfrm>
          <a:prstGeom prst="rect">
            <a:avLst/>
          </a:prstGeom>
          <a:noFill/>
        </p:spPr>
        <p:txBody>
          <a:bodyPr wrap="square" lIns="0" rIns="0" tIns="0" bIns="0" anchor="t">
            <a:spAutoFit/>
          </a:bodyPr>
          <a:lstStyle/>
          <a:p>
            <a:pPr algn="ctr"/>
            <a:r>
              <a:rPr sz="14000" b="1">
                <a:solidFill>
                  <a:srgbClr val="005A2B"/>
                </a:solidFill>
                <a:latin typeface="Arial Black"/>
              </a:rPr>
              <a:t>05</a:t>
            </a:r>
          </a:p>
        </p:txBody>
      </p:sp>
      <p:sp>
        <p:nvSpPr>
          <p:cNvPr id="5" name="TextBox 4"/>
          <p:cNvSpPr txBox="1"/>
          <p:nvPr/>
        </p:nvSpPr>
        <p:spPr>
          <a:xfrm>
            <a:off x="3657600" y="2286000"/>
            <a:ext cx="8229600" cy="1371600"/>
          </a:xfrm>
          <a:prstGeom prst="rect">
            <a:avLst/>
          </a:prstGeom>
          <a:noFill/>
        </p:spPr>
        <p:txBody>
          <a:bodyPr wrap="square" lIns="0" rIns="0" tIns="0" bIns="0" anchor="t">
            <a:spAutoFit/>
          </a:bodyPr>
          <a:lstStyle/>
          <a:p>
            <a:pPr algn="l"/>
            <a:r>
              <a:rPr sz="4800" b="1">
                <a:solidFill>
                  <a:srgbClr val="FFFFFF"/>
                </a:solidFill>
                <a:latin typeface="Arial Black"/>
              </a:rPr>
              <a:t>Load Intelligence</a:t>
            </a:r>
          </a:p>
        </p:txBody>
      </p:sp>
      <p:sp>
        <p:nvSpPr>
          <p:cNvPr id="6" name="TextBox 5"/>
          <p:cNvSpPr txBox="1"/>
          <p:nvPr/>
        </p:nvSpPr>
        <p:spPr>
          <a:xfrm>
            <a:off x="3657600" y="3931920"/>
            <a:ext cx="8229600" cy="914400"/>
          </a:xfrm>
          <a:prstGeom prst="rect">
            <a:avLst/>
          </a:prstGeom>
          <a:noFill/>
        </p:spPr>
        <p:txBody>
          <a:bodyPr wrap="square" lIns="0" rIns="0" tIns="0" bIns="0" anchor="t">
            <a:spAutoFit/>
          </a:bodyPr>
          <a:lstStyle/>
          <a:p>
            <a:pPr algn="l"/>
            <a:r>
              <a:rPr sz="2200" b="0">
                <a:solidFill>
                  <a:srgbClr val="29B7E6"/>
                </a:solidFill>
                <a:latin typeface="Calibri"/>
              </a:rPr>
              <a:t>Decel · Accel:Decel · HID% · Residual Decel — from Catapult</a:t>
            </a:r>
          </a:p>
        </p:txBody>
      </p:sp>
      <p:sp>
        <p:nvSpPr>
          <p:cNvPr id="7" name="Oval 6"/>
          <p:cNvSpPr/>
          <p:nvPr/>
        </p:nvSpPr>
        <p:spPr>
          <a:xfrm>
            <a:off x="9593886"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21901"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49917"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77934"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05949" y="585399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33966"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61982"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57994"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54004" y="5149901"/>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50017" y="5341925"/>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6028" y="5533949"/>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42041" y="5725973"/>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38052"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66069" y="5982004"/>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94085" y="5950000"/>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322100" y="5917997"/>
            <a:ext cx="51206" cy="51206"/>
          </a:xfrm>
          <a:prstGeom prst="ellipse">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FFFFFF"/>
                </a:solidFill>
                <a:latin typeface="Calibri"/>
              </a:rPr>
              <a:t>MICROPULSE  ·  performance intelligence</a:t>
            </a:r>
          </a:p>
        </p:txBody>
      </p:sp>
      <p:sp>
        <p:nvSpPr>
          <p:cNvPr id="24" name="TextBox 23"/>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FFFFFF"/>
                </a:solidFill>
                <a:latin typeface="Calibri"/>
              </a:rPr>
              <a:t>23 / 29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05 · LOAD INTELLIGENCE</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Four signals · one story</a:t>
            </a:r>
          </a:p>
        </p:txBody>
      </p:sp>
      <p:sp>
        <p:nvSpPr>
          <p:cNvPr id="6" name="Rounded Rectangle 5"/>
          <p:cNvSpPr/>
          <p:nvPr/>
        </p:nvSpPr>
        <p:spPr>
          <a:xfrm>
            <a:off x="640080" y="2011680"/>
            <a:ext cx="2697480" cy="40233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11680"/>
            <a:ext cx="2697480" cy="164592"/>
          </a:xfrm>
          <a:prstGeom prst="rect">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2331720" cy="457200"/>
          </a:xfrm>
          <a:prstGeom prst="rect">
            <a:avLst/>
          </a:prstGeom>
          <a:noFill/>
        </p:spPr>
        <p:txBody>
          <a:bodyPr wrap="square" lIns="0" rIns="0" tIns="0" bIns="0" anchor="t">
            <a:spAutoFit/>
          </a:bodyPr>
          <a:lstStyle/>
          <a:p>
            <a:pPr algn="l"/>
            <a:r>
              <a:rPr sz="1200" b="1">
                <a:solidFill>
                  <a:srgbClr val="005A2B"/>
                </a:solidFill>
                <a:latin typeface="Calibri"/>
              </a:rPr>
              <a:t>DECEL BURDEN</a:t>
            </a:r>
          </a:p>
        </p:txBody>
      </p:sp>
      <p:sp>
        <p:nvSpPr>
          <p:cNvPr id="9" name="TextBox 8"/>
          <p:cNvSpPr txBox="1"/>
          <p:nvPr/>
        </p:nvSpPr>
        <p:spPr>
          <a:xfrm>
            <a:off x="822960" y="2926080"/>
            <a:ext cx="2331720" cy="914400"/>
          </a:xfrm>
          <a:prstGeom prst="rect">
            <a:avLst/>
          </a:prstGeom>
          <a:noFill/>
        </p:spPr>
        <p:txBody>
          <a:bodyPr wrap="square" lIns="0" rIns="0" tIns="0" bIns="0" anchor="t">
            <a:spAutoFit/>
          </a:bodyPr>
          <a:lstStyle/>
          <a:p>
            <a:pPr algn="l"/>
            <a:r>
              <a:rPr sz="1800" b="1">
                <a:solidFill>
                  <a:srgbClr val="1E293B"/>
                </a:solidFill>
                <a:latin typeface="Calibri"/>
              </a:rPr>
              <a:t>How much heavy braking</a:t>
            </a:r>
          </a:p>
        </p:txBody>
      </p:sp>
      <p:sp>
        <p:nvSpPr>
          <p:cNvPr id="10" name="TextBox 9"/>
          <p:cNvSpPr txBox="1"/>
          <p:nvPr/>
        </p:nvSpPr>
        <p:spPr>
          <a:xfrm>
            <a:off x="822960" y="4206240"/>
            <a:ext cx="2331720" cy="1554480"/>
          </a:xfrm>
          <a:prstGeom prst="rect">
            <a:avLst/>
          </a:prstGeom>
          <a:noFill/>
        </p:spPr>
        <p:txBody>
          <a:bodyPr wrap="square" lIns="0" rIns="0" tIns="0" bIns="0" anchor="t">
            <a:spAutoFit/>
          </a:bodyPr>
          <a:lstStyle/>
          <a:p>
            <a:pPr algn="l"/>
            <a:r>
              <a:rPr sz="1300" b="0">
                <a:solidFill>
                  <a:srgbClr val="64748B"/>
                </a:solidFill>
                <a:latin typeface="Calibri"/>
              </a:rPr>
              <a:t>Most injury-correlated single metric</a:t>
            </a:r>
          </a:p>
        </p:txBody>
      </p:sp>
      <p:sp>
        <p:nvSpPr>
          <p:cNvPr id="11" name="Rounded Rectangle 10"/>
          <p:cNvSpPr/>
          <p:nvPr/>
        </p:nvSpPr>
        <p:spPr>
          <a:xfrm>
            <a:off x="3502152" y="2011680"/>
            <a:ext cx="2697480" cy="40233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2152" y="2011680"/>
            <a:ext cx="2697480" cy="164592"/>
          </a:xfrm>
          <a:prstGeom prst="rect">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5032" y="2377440"/>
            <a:ext cx="2331720" cy="457200"/>
          </a:xfrm>
          <a:prstGeom prst="rect">
            <a:avLst/>
          </a:prstGeom>
          <a:noFill/>
        </p:spPr>
        <p:txBody>
          <a:bodyPr wrap="square" lIns="0" rIns="0" tIns="0" bIns="0" anchor="t">
            <a:spAutoFit/>
          </a:bodyPr>
          <a:lstStyle/>
          <a:p>
            <a:pPr algn="l"/>
            <a:r>
              <a:rPr sz="1200" b="1">
                <a:solidFill>
                  <a:srgbClr val="005A2B"/>
                </a:solidFill>
                <a:latin typeface="Calibri"/>
              </a:rPr>
              <a:t>ACCEL : DECEL</a:t>
            </a:r>
          </a:p>
        </p:txBody>
      </p:sp>
      <p:sp>
        <p:nvSpPr>
          <p:cNvPr id="14" name="TextBox 13"/>
          <p:cNvSpPr txBox="1"/>
          <p:nvPr/>
        </p:nvSpPr>
        <p:spPr>
          <a:xfrm>
            <a:off x="3685032" y="2926080"/>
            <a:ext cx="2331720" cy="914400"/>
          </a:xfrm>
          <a:prstGeom prst="rect">
            <a:avLst/>
          </a:prstGeom>
          <a:noFill/>
        </p:spPr>
        <p:txBody>
          <a:bodyPr wrap="square" lIns="0" rIns="0" tIns="0" bIns="0" anchor="t">
            <a:spAutoFit/>
          </a:bodyPr>
          <a:lstStyle/>
          <a:p>
            <a:pPr algn="l"/>
            <a:r>
              <a:rPr sz="1800" b="1">
                <a:solidFill>
                  <a:srgbClr val="1E293B"/>
                </a:solidFill>
                <a:latin typeface="Calibri"/>
              </a:rPr>
              <a:t>Balance of bursts vs brakes</a:t>
            </a:r>
          </a:p>
        </p:txBody>
      </p:sp>
      <p:sp>
        <p:nvSpPr>
          <p:cNvPr id="15" name="TextBox 14"/>
          <p:cNvSpPr txBox="1"/>
          <p:nvPr/>
        </p:nvSpPr>
        <p:spPr>
          <a:xfrm>
            <a:off x="3685032" y="4206240"/>
            <a:ext cx="2331720" cy="1554480"/>
          </a:xfrm>
          <a:prstGeom prst="rect">
            <a:avLst/>
          </a:prstGeom>
          <a:noFill/>
        </p:spPr>
        <p:txBody>
          <a:bodyPr wrap="square" lIns="0" rIns="0" tIns="0" bIns="0" anchor="t">
            <a:spAutoFit/>
          </a:bodyPr>
          <a:lstStyle/>
          <a:p>
            <a:pPr algn="l"/>
            <a:r>
              <a:rPr sz="1300" b="0">
                <a:solidFill>
                  <a:srgbClr val="64748B"/>
                </a:solidFill>
                <a:latin typeface="Calibri"/>
              </a:rPr>
              <a:t>Reactive ≠ controlled</a:t>
            </a:r>
          </a:p>
        </p:txBody>
      </p:sp>
      <p:sp>
        <p:nvSpPr>
          <p:cNvPr id="16" name="Rounded Rectangle 15"/>
          <p:cNvSpPr/>
          <p:nvPr/>
        </p:nvSpPr>
        <p:spPr>
          <a:xfrm>
            <a:off x="6364224" y="2011680"/>
            <a:ext cx="2697480" cy="40233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64224" y="2011680"/>
            <a:ext cx="2697480" cy="164592"/>
          </a:xfrm>
          <a:prstGeom prst="rect">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377440"/>
            <a:ext cx="2331720" cy="457200"/>
          </a:xfrm>
          <a:prstGeom prst="rect">
            <a:avLst/>
          </a:prstGeom>
          <a:noFill/>
        </p:spPr>
        <p:txBody>
          <a:bodyPr wrap="square" lIns="0" rIns="0" tIns="0" bIns="0" anchor="t">
            <a:spAutoFit/>
          </a:bodyPr>
          <a:lstStyle/>
          <a:p>
            <a:pPr algn="l"/>
            <a:r>
              <a:rPr sz="1200" b="1">
                <a:solidFill>
                  <a:srgbClr val="005A2B"/>
                </a:solidFill>
                <a:latin typeface="Calibri"/>
              </a:rPr>
              <a:t>HID % TREND</a:t>
            </a:r>
          </a:p>
        </p:txBody>
      </p:sp>
      <p:sp>
        <p:nvSpPr>
          <p:cNvPr id="19" name="TextBox 18"/>
          <p:cNvSpPr txBox="1"/>
          <p:nvPr/>
        </p:nvSpPr>
        <p:spPr>
          <a:xfrm>
            <a:off x="6547104" y="2926080"/>
            <a:ext cx="2331720" cy="914400"/>
          </a:xfrm>
          <a:prstGeom prst="rect">
            <a:avLst/>
          </a:prstGeom>
          <a:noFill/>
        </p:spPr>
        <p:txBody>
          <a:bodyPr wrap="square" lIns="0" rIns="0" tIns="0" bIns="0" anchor="t">
            <a:spAutoFit/>
          </a:bodyPr>
          <a:lstStyle/>
          <a:p>
            <a:pPr algn="l"/>
            <a:r>
              <a:rPr sz="1800" b="1">
                <a:solidFill>
                  <a:srgbClr val="1E293B"/>
                </a:solidFill>
                <a:latin typeface="Calibri"/>
              </a:rPr>
              <a:t>Drift in % time at high intensity</a:t>
            </a:r>
          </a:p>
        </p:txBody>
      </p:sp>
      <p:sp>
        <p:nvSpPr>
          <p:cNvPr id="20" name="TextBox 19"/>
          <p:cNvSpPr txBox="1"/>
          <p:nvPr/>
        </p:nvSpPr>
        <p:spPr>
          <a:xfrm>
            <a:off x="6547104" y="4206240"/>
            <a:ext cx="2331720" cy="1554480"/>
          </a:xfrm>
          <a:prstGeom prst="rect">
            <a:avLst/>
          </a:prstGeom>
          <a:noFill/>
        </p:spPr>
        <p:txBody>
          <a:bodyPr wrap="square" lIns="0" rIns="0" tIns="0" bIns="0" anchor="t">
            <a:spAutoFit/>
          </a:bodyPr>
          <a:lstStyle/>
          <a:p>
            <a:pPr algn="l"/>
            <a:r>
              <a:rPr sz="1300" b="0">
                <a:solidFill>
                  <a:srgbClr val="64748B"/>
                </a:solidFill>
                <a:latin typeface="Calibri"/>
              </a:rPr>
              <a:t>Intensity creep at constant volume</a:t>
            </a:r>
          </a:p>
        </p:txBody>
      </p:sp>
      <p:sp>
        <p:nvSpPr>
          <p:cNvPr id="21" name="Rounded Rectangle 20"/>
          <p:cNvSpPr/>
          <p:nvPr/>
        </p:nvSpPr>
        <p:spPr>
          <a:xfrm>
            <a:off x="9226296" y="2011680"/>
            <a:ext cx="2697480" cy="402336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26296" y="2011680"/>
            <a:ext cx="2697480" cy="164592"/>
          </a:xfrm>
          <a:prstGeom prst="rect">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9176" y="2377440"/>
            <a:ext cx="2331720" cy="457200"/>
          </a:xfrm>
          <a:prstGeom prst="rect">
            <a:avLst/>
          </a:prstGeom>
          <a:noFill/>
        </p:spPr>
        <p:txBody>
          <a:bodyPr wrap="square" lIns="0" rIns="0" tIns="0" bIns="0" anchor="t">
            <a:spAutoFit/>
          </a:bodyPr>
          <a:lstStyle/>
          <a:p>
            <a:pPr algn="l"/>
            <a:r>
              <a:rPr sz="1200" b="1">
                <a:solidFill>
                  <a:srgbClr val="005A2B"/>
                </a:solidFill>
                <a:latin typeface="Calibri"/>
              </a:rPr>
              <a:t>RESIDUAL DECEL</a:t>
            </a:r>
          </a:p>
        </p:txBody>
      </p:sp>
      <p:sp>
        <p:nvSpPr>
          <p:cNvPr id="24" name="TextBox 23"/>
          <p:cNvSpPr txBox="1"/>
          <p:nvPr/>
        </p:nvSpPr>
        <p:spPr>
          <a:xfrm>
            <a:off x="9409176" y="2926080"/>
            <a:ext cx="2331720" cy="914400"/>
          </a:xfrm>
          <a:prstGeom prst="rect">
            <a:avLst/>
          </a:prstGeom>
          <a:noFill/>
        </p:spPr>
        <p:txBody>
          <a:bodyPr wrap="square" lIns="0" rIns="0" tIns="0" bIns="0" anchor="t">
            <a:spAutoFit/>
          </a:bodyPr>
          <a:lstStyle/>
          <a:p>
            <a:pPr algn="l"/>
            <a:r>
              <a:rPr sz="1800" b="1">
                <a:solidFill>
                  <a:srgbClr val="1E293B"/>
                </a:solidFill>
                <a:latin typeface="Calibri"/>
              </a:rPr>
              <a:t>Brakes beyond what running explains</a:t>
            </a:r>
          </a:p>
        </p:txBody>
      </p:sp>
      <p:sp>
        <p:nvSpPr>
          <p:cNvPr id="25" name="TextBox 24"/>
          <p:cNvSpPr txBox="1"/>
          <p:nvPr/>
        </p:nvSpPr>
        <p:spPr>
          <a:xfrm>
            <a:off x="9409176" y="4206240"/>
            <a:ext cx="2331720" cy="1554480"/>
          </a:xfrm>
          <a:prstGeom prst="rect">
            <a:avLst/>
          </a:prstGeom>
          <a:noFill/>
        </p:spPr>
        <p:txBody>
          <a:bodyPr wrap="square" lIns="0" rIns="0" tIns="0" bIns="0" anchor="t">
            <a:spAutoFit/>
          </a:bodyPr>
          <a:lstStyle/>
          <a:p>
            <a:pPr algn="l"/>
            <a:r>
              <a:rPr sz="1300" b="0">
                <a:solidFill>
                  <a:srgbClr val="64748B"/>
                </a:solidFill>
                <a:latin typeface="Calibri"/>
              </a:rPr>
              <a:t>Strongest soft-tissue predictor</a:t>
            </a:r>
          </a:p>
        </p:txBody>
      </p:sp>
      <p:sp>
        <p:nvSpPr>
          <p:cNvPr id="26" name="TextBox 25"/>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27" name="TextBox 26"/>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24 / 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05.1 · DECEL BURDEN</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The brake — not the sprint — is the injury moment</a:t>
            </a:r>
          </a:p>
        </p:txBody>
      </p:sp>
      <p:sp>
        <p:nvSpPr>
          <p:cNvPr id="6" name="Rounded Rectangle 5"/>
          <p:cNvSpPr/>
          <p:nvPr/>
        </p:nvSpPr>
        <p:spPr>
          <a:xfrm>
            <a:off x="640080" y="1828800"/>
            <a:ext cx="10972800" cy="137160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10972800" cy="640080"/>
          </a:xfrm>
          <a:prstGeom prst="rect">
            <a:avLst/>
          </a:prstGeom>
          <a:noFill/>
        </p:spPr>
        <p:txBody>
          <a:bodyPr wrap="square" lIns="0" rIns="0" tIns="0" bIns="0" anchor="t">
            <a:spAutoFit/>
          </a:bodyPr>
          <a:lstStyle/>
          <a:p>
            <a:pPr algn="ctr"/>
            <a:r>
              <a:rPr sz="2200" b="1">
                <a:solidFill>
                  <a:srgbClr val="FFFFFF"/>
                </a:solidFill>
                <a:latin typeface="Consolas"/>
              </a:rPr>
              <a:t>High-intensity decelerations  &gt;  2 m/s²</a:t>
            </a:r>
          </a:p>
        </p:txBody>
      </p:sp>
      <p:sp>
        <p:nvSpPr>
          <p:cNvPr id="8" name="TextBox 7"/>
          <p:cNvSpPr txBox="1"/>
          <p:nvPr/>
        </p:nvSpPr>
        <p:spPr>
          <a:xfrm>
            <a:off x="640080" y="3657600"/>
            <a:ext cx="10972800" cy="2468880"/>
          </a:xfrm>
          <a:prstGeom prst="rect">
            <a:avLst/>
          </a:prstGeom>
          <a:noFill/>
        </p:spPr>
        <p:txBody>
          <a:bodyPr wrap="square" lIns="0" rIns="0" tIns="0" bIns="0">
            <a:spAutoFit/>
          </a:bodyPr>
          <a:lstStyle/>
          <a:p>
            <a:pPr algn="l">
              <a:lnSpc>
                <a:spcPct val="150000"/>
              </a:lnSpc>
            </a:pPr>
            <a:r>
              <a:rPr sz="1500" b="0">
                <a:solidFill>
                  <a:srgbClr val="1E293B"/>
                </a:solidFill>
                <a:latin typeface="Calibri"/>
              </a:rPr>
              <a:t>Eccentric muscle action — muscle lengthens while contracting.</a:t>
            </a:r>
          </a:p>
          <a:p>
            <a:pPr algn="l">
              <a:lnSpc>
                <a:spcPct val="150000"/>
              </a:lnSpc>
            </a:pPr>
            <a:r>
              <a:rPr sz="1500" b="0">
                <a:solidFill>
                  <a:srgbClr val="1E293B"/>
                </a:solidFill>
                <a:latin typeface="Calibri"/>
              </a:rPr>
              <a:t>Most damaging contraction type for soft tissue.</a:t>
            </a:r>
          </a:p>
          <a:p>
            <a:pPr algn="l">
              <a:lnSpc>
                <a:spcPct val="150000"/>
              </a:lnSpc>
            </a:pPr>
            <a:r>
              <a:rPr sz="1500" b="0">
                <a:solidFill>
                  <a:srgbClr val="1E293B"/>
                </a:solidFill>
                <a:latin typeface="Calibri"/>
              </a:rPr>
              <a:t>More predictive of hamstring/calf injury than total distance, sprint count, or total decels.</a:t>
            </a:r>
          </a:p>
          <a:p>
            <a:pPr algn="l">
              <a:lnSpc>
                <a:spcPct val="150000"/>
              </a:lnSpc>
            </a:pPr>
            <a:r>
              <a:rPr sz="1500" b="0">
                <a:solidFill>
                  <a:srgbClr val="1E293B"/>
                </a:solidFill>
                <a:latin typeface="Calibri"/>
              </a:rPr>
              <a:t>Sudden week-on-week spike = single clearest mechanical injury warning.</a:t>
            </a:r>
          </a:p>
        </p:txBody>
      </p:sp>
      <p:sp>
        <p:nvSpPr>
          <p:cNvPr id="9" name="TextBox 8"/>
          <p:cNvSpPr txBox="1"/>
          <p:nvPr/>
        </p:nvSpPr>
        <p:spPr>
          <a:xfrm>
            <a:off x="640080" y="6126480"/>
            <a:ext cx="10972800" cy="365760"/>
          </a:xfrm>
          <a:prstGeom prst="rect">
            <a:avLst/>
          </a:prstGeom>
          <a:noFill/>
        </p:spPr>
        <p:txBody>
          <a:bodyPr wrap="square" lIns="0" rIns="0" tIns="0" bIns="0" anchor="t">
            <a:spAutoFit/>
          </a:bodyPr>
          <a:lstStyle/>
          <a:p>
            <a:pPr algn="ctr"/>
            <a:r>
              <a:rPr sz="1000" b="0">
                <a:solidFill>
                  <a:srgbClr val="64748B"/>
                </a:solidFill>
                <a:latin typeface="Calibri"/>
              </a:rPr>
              <a:t>Vanrenterghem et al., 2017 · Hewit et al., 2011</a:t>
            </a:r>
          </a:p>
        </p:txBody>
      </p:sp>
      <p:sp>
        <p:nvSpPr>
          <p:cNvPr id="10" name="TextBox 9"/>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1" name="TextBox 10"/>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25 /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05.2 · ACCEL : DECEL RATIO</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Healthy ≈ 1.0   ·   Defensive scramble &lt; 0.8</a:t>
            </a:r>
          </a:p>
        </p:txBody>
      </p:sp>
      <p:sp>
        <p:nvSpPr>
          <p:cNvPr id="6" name="TextBox 5"/>
          <p:cNvSpPr txBox="1"/>
          <p:nvPr/>
        </p:nvSpPr>
        <p:spPr>
          <a:xfrm>
            <a:off x="640080" y="3200400"/>
            <a:ext cx="5029200" cy="365760"/>
          </a:xfrm>
          <a:prstGeom prst="rect">
            <a:avLst/>
          </a:prstGeom>
          <a:noFill/>
        </p:spPr>
        <p:txBody>
          <a:bodyPr wrap="square" lIns="0" rIns="0" tIns="0" bIns="0" anchor="t">
            <a:spAutoFit/>
          </a:bodyPr>
          <a:lstStyle/>
          <a:p>
            <a:pPr algn="ctr"/>
            <a:r>
              <a:rPr sz="1400" b="0">
                <a:solidFill>
                  <a:srgbClr val="64748B"/>
                </a:solidFill>
                <a:latin typeface="Calibri"/>
              </a:rPr>
              <a:t>Accelerations</a:t>
            </a:r>
          </a:p>
        </p:txBody>
      </p:sp>
      <p:sp>
        <p:nvSpPr>
          <p:cNvPr id="7" name="Rounded Rectangle 6"/>
          <p:cNvSpPr/>
          <p:nvPr/>
        </p:nvSpPr>
        <p:spPr>
          <a:xfrm>
            <a:off x="640080" y="3566160"/>
            <a:ext cx="5029200" cy="1371600"/>
          </a:xfrm>
          <a:prstGeom prst="roundRect">
            <a:avLst>
              <a:gd name="adj" fmla="val 15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931920"/>
            <a:ext cx="5029200" cy="640080"/>
          </a:xfrm>
          <a:prstGeom prst="rect">
            <a:avLst/>
          </a:prstGeom>
          <a:noFill/>
        </p:spPr>
        <p:txBody>
          <a:bodyPr wrap="square" lIns="0" rIns="0" tIns="0" bIns="0" anchor="t">
            <a:spAutoFit/>
          </a:bodyPr>
          <a:lstStyle/>
          <a:p>
            <a:pPr algn="ctr"/>
            <a:r>
              <a:rPr sz="2200" b="1">
                <a:solidFill>
                  <a:srgbClr val="FFFFFF"/>
                </a:solidFill>
                <a:latin typeface="Calibri"/>
              </a:rPr>
              <a:t>Planned bursts</a:t>
            </a:r>
          </a:p>
        </p:txBody>
      </p:sp>
      <p:sp>
        <p:nvSpPr>
          <p:cNvPr id="9" name="TextBox 8"/>
          <p:cNvSpPr txBox="1"/>
          <p:nvPr/>
        </p:nvSpPr>
        <p:spPr>
          <a:xfrm>
            <a:off x="6492240" y="3200400"/>
            <a:ext cx="5120640" cy="365760"/>
          </a:xfrm>
          <a:prstGeom prst="rect">
            <a:avLst/>
          </a:prstGeom>
          <a:noFill/>
        </p:spPr>
        <p:txBody>
          <a:bodyPr wrap="square" lIns="0" rIns="0" tIns="0" bIns="0" anchor="t">
            <a:spAutoFit/>
          </a:bodyPr>
          <a:lstStyle/>
          <a:p>
            <a:pPr algn="ctr"/>
            <a:r>
              <a:rPr sz="1400" b="0">
                <a:solidFill>
                  <a:srgbClr val="64748B"/>
                </a:solidFill>
                <a:latin typeface="Calibri"/>
              </a:rPr>
              <a:t>Decelerations</a:t>
            </a:r>
          </a:p>
        </p:txBody>
      </p:sp>
      <p:sp>
        <p:nvSpPr>
          <p:cNvPr id="10" name="Rounded Rectangle 9"/>
          <p:cNvSpPr/>
          <p:nvPr/>
        </p:nvSpPr>
        <p:spPr>
          <a:xfrm>
            <a:off x="6492240" y="3566160"/>
            <a:ext cx="5120640" cy="1371600"/>
          </a:xfrm>
          <a:prstGeom prst="roundRect">
            <a:avLst>
              <a:gd name="adj" fmla="val 15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931920"/>
            <a:ext cx="5120640" cy="640080"/>
          </a:xfrm>
          <a:prstGeom prst="rect">
            <a:avLst/>
          </a:prstGeom>
          <a:noFill/>
        </p:spPr>
        <p:txBody>
          <a:bodyPr wrap="square" lIns="0" rIns="0" tIns="0" bIns="0" anchor="t">
            <a:spAutoFit/>
          </a:bodyPr>
          <a:lstStyle/>
          <a:p>
            <a:pPr algn="ctr"/>
            <a:r>
              <a:rPr sz="2200" b="1">
                <a:solidFill>
                  <a:srgbClr val="FFFFFF"/>
                </a:solidFill>
                <a:latin typeface="Calibri"/>
              </a:rPr>
              <a:t>Reactive brakes</a:t>
            </a:r>
          </a:p>
        </p:txBody>
      </p:sp>
      <p:sp>
        <p:nvSpPr>
          <p:cNvPr id="12" name="TextBox 11"/>
          <p:cNvSpPr txBox="1"/>
          <p:nvPr/>
        </p:nvSpPr>
        <p:spPr>
          <a:xfrm>
            <a:off x="640080" y="1828800"/>
            <a:ext cx="10972800" cy="914400"/>
          </a:xfrm>
          <a:prstGeom prst="rect">
            <a:avLst/>
          </a:prstGeom>
          <a:noFill/>
        </p:spPr>
        <p:txBody>
          <a:bodyPr wrap="square" lIns="0" rIns="0" tIns="0" bIns="0" anchor="t">
            <a:spAutoFit/>
          </a:bodyPr>
          <a:lstStyle/>
          <a:p>
            <a:pPr algn="ctr"/>
            <a:r>
              <a:rPr sz="2200" b="1">
                <a:solidFill>
                  <a:srgbClr val="1E293B"/>
                </a:solidFill>
                <a:latin typeface="Calibri"/>
              </a:rPr>
              <a:t>When the ratio drops below 0.8 — the athlete is being chased.</a:t>
            </a:r>
          </a:p>
        </p:txBody>
      </p:sp>
      <p:sp>
        <p:nvSpPr>
          <p:cNvPr id="13" name="TextBox 12"/>
          <p:cNvSpPr txBox="1"/>
          <p:nvPr/>
        </p:nvSpPr>
        <p:spPr>
          <a:xfrm>
            <a:off x="640080" y="5212080"/>
            <a:ext cx="10972800" cy="914400"/>
          </a:xfrm>
          <a:prstGeom prst="rect">
            <a:avLst/>
          </a:prstGeom>
          <a:noFill/>
        </p:spPr>
        <p:txBody>
          <a:bodyPr wrap="square" lIns="0" rIns="0" tIns="0" bIns="0" anchor="t">
            <a:spAutoFit/>
          </a:bodyPr>
          <a:lstStyle/>
          <a:p>
            <a:pPr algn="ctr"/>
            <a:r>
              <a:rPr sz="1500" b="0">
                <a:solidFill>
                  <a:srgbClr val="64748B"/>
                </a:solidFill>
                <a:latin typeface="Calibri"/>
              </a:rPr>
              <a:t>Reactive decelerations are less controlled — and more injury-prone — than planned ones.</a:t>
            </a:r>
          </a:p>
        </p:txBody>
      </p:sp>
      <p:sp>
        <p:nvSpPr>
          <p:cNvPr id="14" name="TextBox 13"/>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5" name="TextBox 14"/>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26 / 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05.3 · HID % TREND</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Same volume, more intensity — a hidden creep</a:t>
            </a:r>
          </a:p>
        </p:txBody>
      </p:sp>
      <p:sp>
        <p:nvSpPr>
          <p:cNvPr id="6" name="TextBox 5"/>
          <p:cNvSpPr txBox="1"/>
          <p:nvPr/>
        </p:nvSpPr>
        <p:spPr>
          <a:xfrm>
            <a:off x="640080" y="2011680"/>
            <a:ext cx="10972800" cy="640080"/>
          </a:xfrm>
          <a:prstGeom prst="rect">
            <a:avLst/>
          </a:prstGeom>
          <a:noFill/>
        </p:spPr>
        <p:txBody>
          <a:bodyPr wrap="square" lIns="0" rIns="0" tIns="0" bIns="0" anchor="t">
            <a:spAutoFit/>
          </a:bodyPr>
          <a:lstStyle/>
          <a:p>
            <a:pPr algn="l"/>
            <a:r>
              <a:rPr sz="1800" b="0">
                <a:solidFill>
                  <a:srgbClr val="1E293B"/>
                </a:solidFill>
                <a:latin typeface="Calibri"/>
              </a:rPr>
              <a:t>% of distance covered above 19.8 km/h, tracked across 4 weeks.</a:t>
            </a:r>
          </a:p>
        </p:txBody>
      </p:sp>
      <p:sp>
        <p:nvSpPr>
          <p:cNvPr id="7" name="Rounded Rectangle 6"/>
          <p:cNvSpPr/>
          <p:nvPr/>
        </p:nvSpPr>
        <p:spPr>
          <a:xfrm>
            <a:off x="640080" y="3108960"/>
            <a:ext cx="10972800" cy="30175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00400"/>
            <a:ext cx="10058400" cy="365760"/>
          </a:xfrm>
          <a:prstGeom prst="rect">
            <a:avLst/>
          </a:prstGeom>
          <a:noFill/>
        </p:spPr>
        <p:txBody>
          <a:bodyPr wrap="square" lIns="0" rIns="0" tIns="0" bIns="0" anchor="t">
            <a:spAutoFit/>
          </a:bodyPr>
          <a:lstStyle/>
          <a:p>
            <a:pPr algn="l"/>
            <a:r>
              <a:rPr sz="1000" b="1">
                <a:solidFill>
                  <a:srgbClr val="64748B"/>
                </a:solidFill>
                <a:latin typeface="Calibri"/>
              </a:rPr>
              <a:t>4-WEEK TREND</a:t>
            </a:r>
          </a:p>
        </p:txBody>
      </p:sp>
      <p:sp>
        <p:nvSpPr>
          <p:cNvPr id="9" name="TextBox 8"/>
          <p:cNvSpPr txBox="1"/>
          <p:nvPr/>
        </p:nvSpPr>
        <p:spPr>
          <a:xfrm>
            <a:off x="868680" y="3840480"/>
            <a:ext cx="2377440" cy="274320"/>
          </a:xfrm>
          <a:prstGeom prst="rect">
            <a:avLst/>
          </a:prstGeom>
          <a:noFill/>
        </p:spPr>
        <p:txBody>
          <a:bodyPr wrap="square" lIns="0" rIns="0" tIns="0" bIns="0" anchor="t">
            <a:spAutoFit/>
          </a:bodyPr>
          <a:lstStyle/>
          <a:p>
            <a:pPr algn="l"/>
            <a:r>
              <a:rPr sz="1000" b="1">
                <a:solidFill>
                  <a:srgbClr val="64748B"/>
                </a:solidFill>
                <a:latin typeface="Calibri"/>
              </a:rPr>
              <a:t>DISTANCE</a:t>
            </a:r>
          </a:p>
        </p:txBody>
      </p:sp>
      <p:sp>
        <p:nvSpPr>
          <p:cNvPr id="10" name="TextBox 9"/>
          <p:cNvSpPr txBox="1"/>
          <p:nvPr/>
        </p:nvSpPr>
        <p:spPr>
          <a:xfrm>
            <a:off x="86868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W1</a:t>
            </a:r>
          </a:p>
        </p:txBody>
      </p:sp>
      <p:sp>
        <p:nvSpPr>
          <p:cNvPr id="11" name="TextBox 10"/>
          <p:cNvSpPr txBox="1"/>
          <p:nvPr/>
        </p:nvSpPr>
        <p:spPr>
          <a:xfrm>
            <a:off x="868680" y="4572000"/>
            <a:ext cx="457200" cy="365760"/>
          </a:xfrm>
          <a:prstGeom prst="rect">
            <a:avLst/>
          </a:prstGeom>
          <a:noFill/>
        </p:spPr>
        <p:txBody>
          <a:bodyPr wrap="square" lIns="0" rIns="0" tIns="0" bIns="0" anchor="t">
            <a:spAutoFit/>
          </a:bodyPr>
          <a:lstStyle/>
          <a:p>
            <a:pPr algn="ctr"/>
            <a:r>
              <a:rPr sz="1100" b="1">
                <a:solidFill>
                  <a:srgbClr val="1E293B"/>
                </a:solidFill>
                <a:latin typeface="Calibri"/>
              </a:rPr>
              <a:t>8200m</a:t>
            </a:r>
          </a:p>
        </p:txBody>
      </p:sp>
      <p:sp>
        <p:nvSpPr>
          <p:cNvPr id="12" name="TextBox 11"/>
          <p:cNvSpPr txBox="1"/>
          <p:nvPr/>
        </p:nvSpPr>
        <p:spPr>
          <a:xfrm>
            <a:off x="141732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W2</a:t>
            </a:r>
          </a:p>
        </p:txBody>
      </p:sp>
      <p:sp>
        <p:nvSpPr>
          <p:cNvPr id="13" name="TextBox 12"/>
          <p:cNvSpPr txBox="1"/>
          <p:nvPr/>
        </p:nvSpPr>
        <p:spPr>
          <a:xfrm>
            <a:off x="1417320" y="4572000"/>
            <a:ext cx="457200" cy="365760"/>
          </a:xfrm>
          <a:prstGeom prst="rect">
            <a:avLst/>
          </a:prstGeom>
          <a:noFill/>
        </p:spPr>
        <p:txBody>
          <a:bodyPr wrap="square" lIns="0" rIns="0" tIns="0" bIns="0" anchor="t">
            <a:spAutoFit/>
          </a:bodyPr>
          <a:lstStyle/>
          <a:p>
            <a:pPr algn="ctr"/>
            <a:r>
              <a:rPr sz="1100" b="1">
                <a:solidFill>
                  <a:srgbClr val="1E293B"/>
                </a:solidFill>
                <a:latin typeface="Calibri"/>
              </a:rPr>
              <a:t>8150m</a:t>
            </a:r>
          </a:p>
        </p:txBody>
      </p:sp>
      <p:sp>
        <p:nvSpPr>
          <p:cNvPr id="14" name="TextBox 13"/>
          <p:cNvSpPr txBox="1"/>
          <p:nvPr/>
        </p:nvSpPr>
        <p:spPr>
          <a:xfrm>
            <a:off x="196596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W3</a:t>
            </a:r>
          </a:p>
        </p:txBody>
      </p:sp>
      <p:sp>
        <p:nvSpPr>
          <p:cNvPr id="15" name="TextBox 14"/>
          <p:cNvSpPr txBox="1"/>
          <p:nvPr/>
        </p:nvSpPr>
        <p:spPr>
          <a:xfrm>
            <a:off x="1965960" y="4572000"/>
            <a:ext cx="457200" cy="365760"/>
          </a:xfrm>
          <a:prstGeom prst="rect">
            <a:avLst/>
          </a:prstGeom>
          <a:noFill/>
        </p:spPr>
        <p:txBody>
          <a:bodyPr wrap="square" lIns="0" rIns="0" tIns="0" bIns="0" anchor="t">
            <a:spAutoFit/>
          </a:bodyPr>
          <a:lstStyle/>
          <a:p>
            <a:pPr algn="ctr"/>
            <a:r>
              <a:rPr sz="1100" b="1">
                <a:solidFill>
                  <a:srgbClr val="1E293B"/>
                </a:solidFill>
                <a:latin typeface="Calibri"/>
              </a:rPr>
              <a:t>8300m</a:t>
            </a:r>
          </a:p>
        </p:txBody>
      </p:sp>
      <p:sp>
        <p:nvSpPr>
          <p:cNvPr id="16" name="TextBox 15"/>
          <p:cNvSpPr txBox="1"/>
          <p:nvPr/>
        </p:nvSpPr>
        <p:spPr>
          <a:xfrm>
            <a:off x="251460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W4</a:t>
            </a:r>
          </a:p>
        </p:txBody>
      </p:sp>
      <p:sp>
        <p:nvSpPr>
          <p:cNvPr id="17" name="TextBox 16"/>
          <p:cNvSpPr txBox="1"/>
          <p:nvPr/>
        </p:nvSpPr>
        <p:spPr>
          <a:xfrm>
            <a:off x="2514600" y="4572000"/>
            <a:ext cx="457200" cy="365760"/>
          </a:xfrm>
          <a:prstGeom prst="rect">
            <a:avLst/>
          </a:prstGeom>
          <a:noFill/>
        </p:spPr>
        <p:txBody>
          <a:bodyPr wrap="square" lIns="0" rIns="0" tIns="0" bIns="0" anchor="t">
            <a:spAutoFit/>
          </a:bodyPr>
          <a:lstStyle/>
          <a:p>
            <a:pPr algn="ctr"/>
            <a:r>
              <a:rPr sz="1100" b="1">
                <a:solidFill>
                  <a:srgbClr val="1E293B"/>
                </a:solidFill>
                <a:latin typeface="Calibri"/>
              </a:rPr>
              <a:t>8200m</a:t>
            </a:r>
          </a:p>
        </p:txBody>
      </p:sp>
      <p:sp>
        <p:nvSpPr>
          <p:cNvPr id="18" name="TextBox 17"/>
          <p:cNvSpPr txBox="1"/>
          <p:nvPr/>
        </p:nvSpPr>
        <p:spPr>
          <a:xfrm>
            <a:off x="1051560" y="5120640"/>
            <a:ext cx="2377440" cy="365760"/>
          </a:xfrm>
          <a:prstGeom prst="rect">
            <a:avLst/>
          </a:prstGeom>
          <a:noFill/>
        </p:spPr>
        <p:txBody>
          <a:bodyPr wrap="square" lIns="0" rIns="0" tIns="0" bIns="0" anchor="t">
            <a:spAutoFit/>
          </a:bodyPr>
          <a:lstStyle/>
          <a:p>
            <a:pPr algn="l"/>
            <a:r>
              <a:rPr sz="1200" b="1">
                <a:solidFill>
                  <a:srgbClr val="16A34A"/>
                </a:solidFill>
                <a:latin typeface="Calibri"/>
              </a:rPr>
              <a:t>→ FLAT</a:t>
            </a:r>
          </a:p>
        </p:txBody>
      </p:sp>
      <p:sp>
        <p:nvSpPr>
          <p:cNvPr id="19" name="TextBox 18"/>
          <p:cNvSpPr txBox="1"/>
          <p:nvPr/>
        </p:nvSpPr>
        <p:spPr>
          <a:xfrm>
            <a:off x="6400800" y="3840480"/>
            <a:ext cx="2377440" cy="274320"/>
          </a:xfrm>
          <a:prstGeom prst="rect">
            <a:avLst/>
          </a:prstGeom>
          <a:noFill/>
        </p:spPr>
        <p:txBody>
          <a:bodyPr wrap="square" lIns="0" rIns="0" tIns="0" bIns="0" anchor="t">
            <a:spAutoFit/>
          </a:bodyPr>
          <a:lstStyle/>
          <a:p>
            <a:pPr algn="l"/>
            <a:r>
              <a:rPr sz="1000" b="1">
                <a:solidFill>
                  <a:srgbClr val="64748B"/>
                </a:solidFill>
                <a:latin typeface="Calibri"/>
              </a:rPr>
              <a:t>HID %</a:t>
            </a:r>
          </a:p>
        </p:txBody>
      </p:sp>
      <p:sp>
        <p:nvSpPr>
          <p:cNvPr id="20" name="TextBox 19"/>
          <p:cNvSpPr txBox="1"/>
          <p:nvPr/>
        </p:nvSpPr>
        <p:spPr>
          <a:xfrm>
            <a:off x="640080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W1</a:t>
            </a:r>
          </a:p>
        </p:txBody>
      </p:sp>
      <p:sp>
        <p:nvSpPr>
          <p:cNvPr id="21" name="TextBox 20"/>
          <p:cNvSpPr txBox="1"/>
          <p:nvPr/>
        </p:nvSpPr>
        <p:spPr>
          <a:xfrm>
            <a:off x="6400800" y="4572000"/>
            <a:ext cx="457200" cy="365760"/>
          </a:xfrm>
          <a:prstGeom prst="rect">
            <a:avLst/>
          </a:prstGeom>
          <a:noFill/>
        </p:spPr>
        <p:txBody>
          <a:bodyPr wrap="square" lIns="0" rIns="0" tIns="0" bIns="0" anchor="t">
            <a:spAutoFit/>
          </a:bodyPr>
          <a:lstStyle/>
          <a:p>
            <a:pPr algn="ctr"/>
            <a:r>
              <a:rPr sz="1100" b="1">
                <a:solidFill>
                  <a:srgbClr val="16A34A"/>
                </a:solidFill>
                <a:latin typeface="Calibri"/>
              </a:rPr>
              <a:t>11.5%</a:t>
            </a:r>
          </a:p>
        </p:txBody>
      </p:sp>
      <p:sp>
        <p:nvSpPr>
          <p:cNvPr id="22" name="TextBox 21"/>
          <p:cNvSpPr txBox="1"/>
          <p:nvPr/>
        </p:nvSpPr>
        <p:spPr>
          <a:xfrm>
            <a:off x="694944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W2</a:t>
            </a:r>
          </a:p>
        </p:txBody>
      </p:sp>
      <p:sp>
        <p:nvSpPr>
          <p:cNvPr id="23" name="TextBox 22"/>
          <p:cNvSpPr txBox="1"/>
          <p:nvPr/>
        </p:nvSpPr>
        <p:spPr>
          <a:xfrm>
            <a:off x="6949440" y="4572000"/>
            <a:ext cx="457200" cy="365760"/>
          </a:xfrm>
          <a:prstGeom prst="rect">
            <a:avLst/>
          </a:prstGeom>
          <a:noFill/>
        </p:spPr>
        <p:txBody>
          <a:bodyPr wrap="square" lIns="0" rIns="0" tIns="0" bIns="0" anchor="t">
            <a:spAutoFit/>
          </a:bodyPr>
          <a:lstStyle/>
          <a:p>
            <a:pPr algn="ctr"/>
            <a:r>
              <a:rPr sz="1100" b="1">
                <a:solidFill>
                  <a:srgbClr val="16A34A"/>
                </a:solidFill>
                <a:latin typeface="Calibri"/>
              </a:rPr>
              <a:t>13.0%</a:t>
            </a:r>
          </a:p>
        </p:txBody>
      </p:sp>
      <p:sp>
        <p:nvSpPr>
          <p:cNvPr id="24" name="TextBox 23"/>
          <p:cNvSpPr txBox="1"/>
          <p:nvPr/>
        </p:nvSpPr>
        <p:spPr>
          <a:xfrm>
            <a:off x="749808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W3</a:t>
            </a:r>
          </a:p>
        </p:txBody>
      </p:sp>
      <p:sp>
        <p:nvSpPr>
          <p:cNvPr id="25" name="TextBox 24"/>
          <p:cNvSpPr txBox="1"/>
          <p:nvPr/>
        </p:nvSpPr>
        <p:spPr>
          <a:xfrm>
            <a:off x="7498080" y="4572000"/>
            <a:ext cx="457200" cy="365760"/>
          </a:xfrm>
          <a:prstGeom prst="rect">
            <a:avLst/>
          </a:prstGeom>
          <a:noFill/>
        </p:spPr>
        <p:txBody>
          <a:bodyPr wrap="square" lIns="0" rIns="0" tIns="0" bIns="0" anchor="t">
            <a:spAutoFit/>
          </a:bodyPr>
          <a:lstStyle/>
          <a:p>
            <a:pPr algn="ctr"/>
            <a:r>
              <a:rPr sz="1100" b="1">
                <a:solidFill>
                  <a:srgbClr val="F59E0B"/>
                </a:solidFill>
                <a:latin typeface="Calibri"/>
              </a:rPr>
              <a:t>14.2%</a:t>
            </a:r>
          </a:p>
        </p:txBody>
      </p:sp>
      <p:sp>
        <p:nvSpPr>
          <p:cNvPr id="26" name="TextBox 25"/>
          <p:cNvSpPr txBox="1"/>
          <p:nvPr/>
        </p:nvSpPr>
        <p:spPr>
          <a:xfrm>
            <a:off x="8046720" y="4206240"/>
            <a:ext cx="457200" cy="365760"/>
          </a:xfrm>
          <a:prstGeom prst="rect">
            <a:avLst/>
          </a:prstGeom>
          <a:noFill/>
        </p:spPr>
        <p:txBody>
          <a:bodyPr wrap="square" lIns="0" rIns="0" tIns="0" bIns="0" anchor="t">
            <a:spAutoFit/>
          </a:bodyPr>
          <a:lstStyle/>
          <a:p>
            <a:pPr algn="ctr"/>
            <a:r>
              <a:rPr sz="1000" b="0">
                <a:solidFill>
                  <a:srgbClr val="64748B"/>
                </a:solidFill>
                <a:latin typeface="Calibri"/>
              </a:rPr>
              <a:t>W4</a:t>
            </a:r>
          </a:p>
        </p:txBody>
      </p:sp>
      <p:sp>
        <p:nvSpPr>
          <p:cNvPr id="27" name="TextBox 26"/>
          <p:cNvSpPr txBox="1"/>
          <p:nvPr/>
        </p:nvSpPr>
        <p:spPr>
          <a:xfrm>
            <a:off x="8046720" y="4572000"/>
            <a:ext cx="457200" cy="365760"/>
          </a:xfrm>
          <a:prstGeom prst="rect">
            <a:avLst/>
          </a:prstGeom>
          <a:noFill/>
        </p:spPr>
        <p:txBody>
          <a:bodyPr wrap="square" lIns="0" rIns="0" tIns="0" bIns="0" anchor="t">
            <a:spAutoFit/>
          </a:bodyPr>
          <a:lstStyle/>
          <a:p>
            <a:pPr algn="ctr"/>
            <a:r>
              <a:rPr sz="1100" b="1">
                <a:solidFill>
                  <a:srgbClr val="DC2626"/>
                </a:solidFill>
                <a:latin typeface="Calibri"/>
              </a:rPr>
              <a:t>16.5%</a:t>
            </a:r>
          </a:p>
        </p:txBody>
      </p:sp>
      <p:sp>
        <p:nvSpPr>
          <p:cNvPr id="28" name="TextBox 27"/>
          <p:cNvSpPr txBox="1"/>
          <p:nvPr/>
        </p:nvSpPr>
        <p:spPr>
          <a:xfrm>
            <a:off x="6583680" y="5120640"/>
            <a:ext cx="2377440" cy="365760"/>
          </a:xfrm>
          <a:prstGeom prst="rect">
            <a:avLst/>
          </a:prstGeom>
          <a:noFill/>
        </p:spPr>
        <p:txBody>
          <a:bodyPr wrap="square" lIns="0" rIns="0" tIns="0" bIns="0" anchor="t">
            <a:spAutoFit/>
          </a:bodyPr>
          <a:lstStyle/>
          <a:p>
            <a:pPr algn="l"/>
            <a:r>
              <a:rPr sz="1200" b="1">
                <a:solidFill>
                  <a:srgbClr val="DC2626"/>
                </a:solidFill>
                <a:latin typeface="Calibri"/>
              </a:rPr>
              <a:t>→ RISING +5pt</a:t>
            </a:r>
          </a:p>
        </p:txBody>
      </p:sp>
      <p:sp>
        <p:nvSpPr>
          <p:cNvPr id="29" name="TextBox 28"/>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30" name="TextBox 29"/>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27 /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05.4 · RESIDUAL DECEL</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The most subtle — and possibly the most powerful</a:t>
            </a:r>
          </a:p>
        </p:txBody>
      </p:sp>
      <p:sp>
        <p:nvSpPr>
          <p:cNvPr id="6" name="Rounded Rectangle 5"/>
          <p:cNvSpPr/>
          <p:nvPr/>
        </p:nvSpPr>
        <p:spPr>
          <a:xfrm>
            <a:off x="640080" y="1828800"/>
            <a:ext cx="10972800" cy="1371600"/>
          </a:xfrm>
          <a:prstGeom prst="roundRect">
            <a:avLst>
              <a:gd name="adj" fmla="val 15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10972800" cy="640080"/>
          </a:xfrm>
          <a:prstGeom prst="rect">
            <a:avLst/>
          </a:prstGeom>
          <a:noFill/>
        </p:spPr>
        <p:txBody>
          <a:bodyPr wrap="square" lIns="0" rIns="0" tIns="0" bIns="0" anchor="t">
            <a:spAutoFit/>
          </a:bodyPr>
          <a:lstStyle/>
          <a:p>
            <a:pPr algn="ctr"/>
            <a:r>
              <a:rPr sz="1800" b="1">
                <a:solidFill>
                  <a:srgbClr val="FFFFFF"/>
                </a:solidFill>
                <a:latin typeface="Consolas"/>
              </a:rPr>
              <a:t>Residual = Actual Decel  −  Predicted Decel (from Accel + Distance)</a:t>
            </a:r>
          </a:p>
        </p:txBody>
      </p:sp>
      <p:sp>
        <p:nvSpPr>
          <p:cNvPr id="8" name="TextBox 7"/>
          <p:cNvSpPr txBox="1"/>
          <p:nvPr/>
        </p:nvSpPr>
        <p:spPr>
          <a:xfrm>
            <a:off x="640080" y="3657600"/>
            <a:ext cx="10972800" cy="2468880"/>
          </a:xfrm>
          <a:prstGeom prst="rect">
            <a:avLst/>
          </a:prstGeom>
          <a:noFill/>
        </p:spPr>
        <p:txBody>
          <a:bodyPr wrap="square" lIns="0" rIns="0" tIns="0" bIns="0">
            <a:spAutoFit/>
          </a:bodyPr>
          <a:lstStyle/>
          <a:p>
            <a:pPr algn="l">
              <a:lnSpc>
                <a:spcPct val="150000"/>
              </a:lnSpc>
            </a:pPr>
            <a:r>
              <a:rPr sz="1500" b="0">
                <a:solidFill>
                  <a:srgbClr val="1E293B"/>
                </a:solidFill>
                <a:latin typeface="Calibri"/>
              </a:rPr>
              <a:t>Gap between observed decelerations and what the model expects.</a:t>
            </a:r>
          </a:p>
          <a:p>
            <a:pPr algn="l">
              <a:lnSpc>
                <a:spcPct val="150000"/>
              </a:lnSpc>
            </a:pPr>
            <a:r>
              <a:rPr sz="1500" b="0">
                <a:solidFill>
                  <a:srgbClr val="1E293B"/>
                </a:solidFill>
                <a:latin typeface="Calibri"/>
              </a:rPr>
              <a:t>Positive residual = extra eccentric work normal running mechanics can't explain.</a:t>
            </a:r>
          </a:p>
          <a:p>
            <a:pPr algn="l">
              <a:lnSpc>
                <a:spcPct val="150000"/>
              </a:lnSpc>
            </a:pPr>
            <a:r>
              <a:rPr sz="1500" b="0">
                <a:solidFill>
                  <a:srgbClr val="1E293B"/>
                </a:solidFill>
                <a:latin typeface="Calibri"/>
              </a:rPr>
              <a:t>Strongest single-session correlate of next-day soft-tissue complaints in our dataset.</a:t>
            </a:r>
          </a:p>
          <a:p>
            <a:pPr algn="l">
              <a:lnSpc>
                <a:spcPct val="150000"/>
              </a:lnSpc>
            </a:pPr>
            <a:r>
              <a:rPr sz="1500" b="0">
                <a:solidFill>
                  <a:srgbClr val="1E293B"/>
                </a:solidFill>
                <a:latin typeface="Calibri"/>
              </a:rPr>
              <a:t>Most likely to surface in players who chase / press / cover space defensively.</a:t>
            </a:r>
          </a:p>
        </p:txBody>
      </p:sp>
      <p:sp>
        <p:nvSpPr>
          <p:cNvPr id="9" name="TextBox 8"/>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10" name="TextBox 9"/>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28 /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72800" cy="320040"/>
          </a:xfrm>
          <a:prstGeom prst="rect">
            <a:avLst/>
          </a:prstGeom>
          <a:noFill/>
        </p:spPr>
        <p:txBody>
          <a:bodyPr wrap="square" lIns="0" rIns="0" tIns="0" bIns="0" anchor="t">
            <a:spAutoFit/>
          </a:bodyPr>
          <a:lstStyle/>
          <a:p>
            <a:pPr algn="l"/>
            <a:r>
              <a:rPr sz="1100" b="1">
                <a:solidFill>
                  <a:srgbClr val="005A2B"/>
                </a:solidFill>
                <a:latin typeface="Calibri"/>
              </a:rPr>
              <a:t>05 · LOAD INTELLIGENCE</a:t>
            </a:r>
          </a:p>
        </p:txBody>
      </p:sp>
      <p:sp>
        <p:nvSpPr>
          <p:cNvPr id="5" name="TextBox 4"/>
          <p:cNvSpPr txBox="1"/>
          <p:nvPr/>
        </p:nvSpPr>
        <p:spPr>
          <a:xfrm>
            <a:off x="640080" y="685800"/>
            <a:ext cx="10972800" cy="640080"/>
          </a:xfrm>
          <a:prstGeom prst="rect">
            <a:avLst/>
          </a:prstGeom>
          <a:noFill/>
        </p:spPr>
        <p:txBody>
          <a:bodyPr wrap="square" lIns="0" rIns="0" tIns="0" bIns="0" anchor="t">
            <a:spAutoFit/>
          </a:bodyPr>
          <a:lstStyle/>
          <a:p>
            <a:pPr algn="l"/>
            <a:r>
              <a:rPr sz="3000" b="1">
                <a:solidFill>
                  <a:srgbClr val="1E293B"/>
                </a:solidFill>
                <a:latin typeface="Calibri"/>
              </a:rPr>
              <a:t>How MicroPulse uses it</a:t>
            </a:r>
          </a:p>
        </p:txBody>
      </p:sp>
      <p:sp>
        <p:nvSpPr>
          <p:cNvPr id="6" name="Rounded Rectangle 5"/>
          <p:cNvSpPr/>
          <p:nvPr/>
        </p:nvSpPr>
        <p:spPr>
          <a:xfrm>
            <a:off x="640080" y="1828800"/>
            <a:ext cx="6858000" cy="429768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6400800" cy="365760"/>
          </a:xfrm>
          <a:prstGeom prst="rect">
            <a:avLst/>
          </a:prstGeom>
          <a:noFill/>
        </p:spPr>
        <p:txBody>
          <a:bodyPr wrap="square" lIns="0" rIns="0" tIns="0" bIns="0" anchor="t">
            <a:spAutoFit/>
          </a:bodyPr>
          <a:lstStyle/>
          <a:p>
            <a:pPr algn="l"/>
            <a:r>
              <a:rPr sz="1000" b="1">
                <a:solidFill>
                  <a:srgbClr val="64748B"/>
                </a:solidFill>
                <a:latin typeface="Calibri"/>
              </a:rPr>
              <a:t>BREIÐABLIK · MIDFIELDER · APR 22</a:t>
            </a:r>
          </a:p>
        </p:txBody>
      </p:sp>
      <p:sp>
        <p:nvSpPr>
          <p:cNvPr id="8" name="TextBox 7"/>
          <p:cNvSpPr txBox="1"/>
          <p:nvPr/>
        </p:nvSpPr>
        <p:spPr>
          <a:xfrm>
            <a:off x="914400" y="2331720"/>
            <a:ext cx="6400800" cy="640080"/>
          </a:xfrm>
          <a:prstGeom prst="rect">
            <a:avLst/>
          </a:prstGeom>
          <a:noFill/>
        </p:spPr>
        <p:txBody>
          <a:bodyPr wrap="square" lIns="0" rIns="0" tIns="0" bIns="0" anchor="t">
            <a:spAutoFit/>
          </a:bodyPr>
          <a:lstStyle/>
          <a:p>
            <a:pPr algn="l"/>
            <a:r>
              <a:rPr sz="2400" b="1">
                <a:solidFill>
                  <a:srgbClr val="1E293B"/>
                </a:solidFill>
                <a:latin typeface="Calibri"/>
              </a:rPr>
              <a:t>Andri Yeoman</a:t>
            </a:r>
          </a:p>
        </p:txBody>
      </p:sp>
      <p:sp>
        <p:nvSpPr>
          <p:cNvPr id="9" name="Rounded Rectangle 8"/>
          <p:cNvSpPr/>
          <p:nvPr/>
        </p:nvSpPr>
        <p:spPr>
          <a:xfrm>
            <a:off x="914400" y="3383280"/>
            <a:ext cx="1508760" cy="868680"/>
          </a:xfrm>
          <a:prstGeom prst="roundRect">
            <a:avLst>
              <a:gd name="adj" fmla="val 15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74720"/>
            <a:ext cx="1508760" cy="320040"/>
          </a:xfrm>
          <a:prstGeom prst="rect">
            <a:avLst/>
          </a:prstGeom>
          <a:noFill/>
        </p:spPr>
        <p:txBody>
          <a:bodyPr wrap="square" lIns="0" rIns="0" tIns="0" bIns="0" anchor="t">
            <a:spAutoFit/>
          </a:bodyPr>
          <a:lstStyle/>
          <a:p>
            <a:pPr algn="ctr"/>
            <a:r>
              <a:rPr sz="1000" b="1">
                <a:solidFill>
                  <a:srgbClr val="FFFFFF"/>
                </a:solidFill>
                <a:latin typeface="Calibri"/>
              </a:rPr>
              <a:t>Decel burden</a:t>
            </a:r>
          </a:p>
        </p:txBody>
      </p:sp>
      <p:sp>
        <p:nvSpPr>
          <p:cNvPr id="11" name="TextBox 10"/>
          <p:cNvSpPr txBox="1"/>
          <p:nvPr/>
        </p:nvSpPr>
        <p:spPr>
          <a:xfrm>
            <a:off x="914400" y="3794760"/>
            <a:ext cx="1508760" cy="411480"/>
          </a:xfrm>
          <a:prstGeom prst="rect">
            <a:avLst/>
          </a:prstGeom>
          <a:noFill/>
        </p:spPr>
        <p:txBody>
          <a:bodyPr wrap="square" lIns="0" rIns="0" tIns="0" bIns="0" anchor="t">
            <a:spAutoFit/>
          </a:bodyPr>
          <a:lstStyle/>
          <a:p>
            <a:pPr algn="ctr"/>
            <a:r>
              <a:rPr sz="1800" b="1">
                <a:solidFill>
                  <a:srgbClr val="FFFFFF"/>
                </a:solidFill>
                <a:latin typeface="Arial Black"/>
              </a:rPr>
              <a:t>+0.4</a:t>
            </a:r>
          </a:p>
        </p:txBody>
      </p:sp>
      <p:sp>
        <p:nvSpPr>
          <p:cNvPr id="12" name="Rounded Rectangle 11"/>
          <p:cNvSpPr/>
          <p:nvPr/>
        </p:nvSpPr>
        <p:spPr>
          <a:xfrm>
            <a:off x="2514600" y="3383280"/>
            <a:ext cx="1508760" cy="868680"/>
          </a:xfrm>
          <a:prstGeom prst="roundRect">
            <a:avLst>
              <a:gd name="adj" fmla="val 1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600" y="3474720"/>
            <a:ext cx="1508760" cy="320040"/>
          </a:xfrm>
          <a:prstGeom prst="rect">
            <a:avLst/>
          </a:prstGeom>
          <a:noFill/>
        </p:spPr>
        <p:txBody>
          <a:bodyPr wrap="square" lIns="0" rIns="0" tIns="0" bIns="0" anchor="t">
            <a:spAutoFit/>
          </a:bodyPr>
          <a:lstStyle/>
          <a:p>
            <a:pPr algn="ctr"/>
            <a:r>
              <a:rPr sz="1000" b="1">
                <a:solidFill>
                  <a:srgbClr val="FFFFFF"/>
                </a:solidFill>
                <a:latin typeface="Calibri"/>
              </a:rPr>
              <a:t>Accel:Decel</a:t>
            </a:r>
          </a:p>
        </p:txBody>
      </p:sp>
      <p:sp>
        <p:nvSpPr>
          <p:cNvPr id="14" name="TextBox 13"/>
          <p:cNvSpPr txBox="1"/>
          <p:nvPr/>
        </p:nvSpPr>
        <p:spPr>
          <a:xfrm>
            <a:off x="2514600" y="3794760"/>
            <a:ext cx="1508760" cy="411480"/>
          </a:xfrm>
          <a:prstGeom prst="rect">
            <a:avLst/>
          </a:prstGeom>
          <a:noFill/>
        </p:spPr>
        <p:txBody>
          <a:bodyPr wrap="square" lIns="0" rIns="0" tIns="0" bIns="0" anchor="t">
            <a:spAutoFit/>
          </a:bodyPr>
          <a:lstStyle/>
          <a:p>
            <a:pPr algn="ctr"/>
            <a:r>
              <a:rPr sz="1800" b="1">
                <a:solidFill>
                  <a:srgbClr val="FFFFFF"/>
                </a:solidFill>
                <a:latin typeface="Arial Black"/>
              </a:rPr>
              <a:t>0.78</a:t>
            </a:r>
          </a:p>
        </p:txBody>
      </p:sp>
      <p:sp>
        <p:nvSpPr>
          <p:cNvPr id="15" name="Rounded Rectangle 14"/>
          <p:cNvSpPr/>
          <p:nvPr/>
        </p:nvSpPr>
        <p:spPr>
          <a:xfrm>
            <a:off x="4114800" y="3383280"/>
            <a:ext cx="1508760" cy="868680"/>
          </a:xfrm>
          <a:prstGeom prst="roundRect">
            <a:avLst>
              <a:gd name="adj" fmla="val 1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3474720"/>
            <a:ext cx="1508760" cy="320040"/>
          </a:xfrm>
          <a:prstGeom prst="rect">
            <a:avLst/>
          </a:prstGeom>
          <a:noFill/>
        </p:spPr>
        <p:txBody>
          <a:bodyPr wrap="square" lIns="0" rIns="0" tIns="0" bIns="0" anchor="t">
            <a:spAutoFit/>
          </a:bodyPr>
          <a:lstStyle/>
          <a:p>
            <a:pPr algn="ctr"/>
            <a:r>
              <a:rPr sz="1000" b="1">
                <a:solidFill>
                  <a:srgbClr val="FFFFFF"/>
                </a:solidFill>
                <a:latin typeface="Calibri"/>
              </a:rPr>
              <a:t>HID% trend</a:t>
            </a:r>
          </a:p>
        </p:txBody>
      </p:sp>
      <p:sp>
        <p:nvSpPr>
          <p:cNvPr id="17" name="TextBox 16"/>
          <p:cNvSpPr txBox="1"/>
          <p:nvPr/>
        </p:nvSpPr>
        <p:spPr>
          <a:xfrm>
            <a:off x="4114800" y="3794760"/>
            <a:ext cx="1508760" cy="411480"/>
          </a:xfrm>
          <a:prstGeom prst="rect">
            <a:avLst/>
          </a:prstGeom>
          <a:noFill/>
        </p:spPr>
        <p:txBody>
          <a:bodyPr wrap="square" lIns="0" rIns="0" tIns="0" bIns="0" anchor="t">
            <a:spAutoFit/>
          </a:bodyPr>
          <a:lstStyle/>
          <a:p>
            <a:pPr algn="ctr"/>
            <a:r>
              <a:rPr sz="1800" b="1">
                <a:solidFill>
                  <a:srgbClr val="FFFFFF"/>
                </a:solidFill>
                <a:latin typeface="Arial Black"/>
              </a:rPr>
              <a:t>+1.1</a:t>
            </a:r>
          </a:p>
        </p:txBody>
      </p:sp>
      <p:sp>
        <p:nvSpPr>
          <p:cNvPr id="18" name="Rounded Rectangle 17"/>
          <p:cNvSpPr/>
          <p:nvPr/>
        </p:nvSpPr>
        <p:spPr>
          <a:xfrm>
            <a:off x="5715000" y="3383280"/>
            <a:ext cx="1508760" cy="868680"/>
          </a:xfrm>
          <a:prstGeom prst="roundRect">
            <a:avLst>
              <a:gd name="adj" fmla="val 15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15000" y="3474720"/>
            <a:ext cx="1508760" cy="320040"/>
          </a:xfrm>
          <a:prstGeom prst="rect">
            <a:avLst/>
          </a:prstGeom>
          <a:noFill/>
        </p:spPr>
        <p:txBody>
          <a:bodyPr wrap="square" lIns="0" rIns="0" tIns="0" bIns="0" anchor="t">
            <a:spAutoFit/>
          </a:bodyPr>
          <a:lstStyle/>
          <a:p>
            <a:pPr algn="ctr"/>
            <a:r>
              <a:rPr sz="1000" b="1">
                <a:solidFill>
                  <a:srgbClr val="FFFFFF"/>
                </a:solidFill>
                <a:latin typeface="Calibri"/>
              </a:rPr>
              <a:t>Residual decel</a:t>
            </a:r>
          </a:p>
        </p:txBody>
      </p:sp>
      <p:sp>
        <p:nvSpPr>
          <p:cNvPr id="20" name="TextBox 19"/>
          <p:cNvSpPr txBox="1"/>
          <p:nvPr/>
        </p:nvSpPr>
        <p:spPr>
          <a:xfrm>
            <a:off x="5715000" y="3794760"/>
            <a:ext cx="1508760" cy="411480"/>
          </a:xfrm>
          <a:prstGeom prst="rect">
            <a:avLst/>
          </a:prstGeom>
          <a:noFill/>
        </p:spPr>
        <p:txBody>
          <a:bodyPr wrap="square" lIns="0" rIns="0" tIns="0" bIns="0" anchor="t">
            <a:spAutoFit/>
          </a:bodyPr>
          <a:lstStyle/>
          <a:p>
            <a:pPr algn="ctr"/>
            <a:r>
              <a:rPr sz="1800" b="1">
                <a:solidFill>
                  <a:srgbClr val="FFFFFF"/>
                </a:solidFill>
                <a:latin typeface="Arial Black"/>
              </a:rPr>
              <a:t>+1.8 SD</a:t>
            </a:r>
          </a:p>
        </p:txBody>
      </p:sp>
      <p:sp>
        <p:nvSpPr>
          <p:cNvPr id="21" name="TextBox 20"/>
          <p:cNvSpPr txBox="1"/>
          <p:nvPr/>
        </p:nvSpPr>
        <p:spPr>
          <a:xfrm>
            <a:off x="914400" y="4572000"/>
            <a:ext cx="6400800" cy="365760"/>
          </a:xfrm>
          <a:prstGeom prst="rect">
            <a:avLst/>
          </a:prstGeom>
          <a:noFill/>
        </p:spPr>
        <p:txBody>
          <a:bodyPr wrap="square" lIns="0" rIns="0" tIns="0" bIns="0" anchor="t">
            <a:spAutoFit/>
          </a:bodyPr>
          <a:lstStyle/>
          <a:p>
            <a:pPr algn="l"/>
            <a:r>
              <a:rPr sz="1000" b="1">
                <a:solidFill>
                  <a:srgbClr val="64748B"/>
                </a:solidFill>
                <a:latin typeface="Calibri"/>
              </a:rPr>
              <a:t>DOMINANT SIGNAL</a:t>
            </a:r>
          </a:p>
        </p:txBody>
      </p:sp>
      <p:sp>
        <p:nvSpPr>
          <p:cNvPr id="22" name="TextBox 21"/>
          <p:cNvSpPr txBox="1"/>
          <p:nvPr/>
        </p:nvSpPr>
        <p:spPr>
          <a:xfrm>
            <a:off x="914400" y="4846320"/>
            <a:ext cx="6400800" cy="548640"/>
          </a:xfrm>
          <a:prstGeom prst="rect">
            <a:avLst/>
          </a:prstGeom>
          <a:noFill/>
        </p:spPr>
        <p:txBody>
          <a:bodyPr wrap="square" lIns="0" rIns="0" tIns="0" bIns="0" anchor="t">
            <a:spAutoFit/>
          </a:bodyPr>
          <a:lstStyle/>
          <a:p>
            <a:pPr algn="l"/>
            <a:r>
              <a:rPr sz="2000" b="1">
                <a:solidFill>
                  <a:srgbClr val="DC2626"/>
                </a:solidFill>
                <a:latin typeface="Calibri"/>
              </a:rPr>
              <a:t>Residual decel +1.8 SD</a:t>
            </a:r>
          </a:p>
        </p:txBody>
      </p:sp>
      <p:sp>
        <p:nvSpPr>
          <p:cNvPr id="23" name="TextBox 22"/>
          <p:cNvSpPr txBox="1"/>
          <p:nvPr/>
        </p:nvSpPr>
        <p:spPr>
          <a:xfrm>
            <a:off x="914400" y="5440680"/>
            <a:ext cx="6400800" cy="548640"/>
          </a:xfrm>
          <a:prstGeom prst="rect">
            <a:avLst/>
          </a:prstGeom>
          <a:noFill/>
        </p:spPr>
        <p:txBody>
          <a:bodyPr wrap="square" lIns="0" rIns="0" tIns="0" bIns="0" anchor="t">
            <a:spAutoFit/>
          </a:bodyPr>
          <a:lstStyle/>
          <a:p>
            <a:pPr algn="l"/>
            <a:r>
              <a:rPr sz="1200" b="0">
                <a:solidFill>
                  <a:srgbClr val="1E293B"/>
                </a:solidFill>
                <a:latin typeface="Calibri"/>
              </a:rPr>
              <a:t>Eccentric overload — consider eccentric strength reduction tomorrow.</a:t>
            </a:r>
          </a:p>
        </p:txBody>
      </p:sp>
      <p:sp>
        <p:nvSpPr>
          <p:cNvPr id="24" name="TextBox 23"/>
          <p:cNvSpPr txBox="1"/>
          <p:nvPr/>
        </p:nvSpPr>
        <p:spPr>
          <a:xfrm>
            <a:off x="7863840" y="1828800"/>
            <a:ext cx="3749039" cy="4297680"/>
          </a:xfrm>
          <a:prstGeom prst="rect">
            <a:avLst/>
          </a:prstGeom>
          <a:noFill/>
        </p:spPr>
        <p:txBody>
          <a:bodyPr wrap="square" lIns="0" rIns="0" tIns="0" bIns="0">
            <a:spAutoFit/>
          </a:bodyPr>
          <a:lstStyle/>
          <a:p>
            <a:pPr algn="l">
              <a:lnSpc>
                <a:spcPct val="130000"/>
              </a:lnSpc>
            </a:pPr>
            <a:r>
              <a:rPr sz="1200" b="0">
                <a:solidFill>
                  <a:srgbClr val="1E293B"/>
                </a:solidFill>
                <a:latin typeface="Calibri"/>
              </a:rPr>
              <a:t>Why Load Intelligence?</a:t>
            </a:r>
          </a:p>
          <a:p>
            <a:pPr algn="l">
              <a:lnSpc>
                <a:spcPct val="130000"/>
              </a:lnSpc>
            </a:pPr>
            <a:r>
              <a:rPr sz="1200" b="0">
                <a:solidFill>
                  <a:srgbClr val="1E293B"/>
                </a:solidFill>
                <a:latin typeface="Calibri"/>
              </a:rPr>
              <a:t>Raw GPS gives 250+ numbers. Load Intel surfaces the 4 that matter for injury risk.</a:t>
            </a:r>
          </a:p>
          <a:p>
            <a:pPr algn="l">
              <a:lnSpc>
                <a:spcPct val="130000"/>
              </a:lnSpc>
            </a:pPr>
            <a:r>
              <a:rPr sz="1200" b="0">
                <a:solidFill>
                  <a:srgbClr val="1E293B"/>
                </a:solidFill>
                <a:latin typeface="Calibri"/>
              </a:rPr>
              <a:t/>
            </a:r>
          </a:p>
          <a:p>
            <a:pPr algn="l">
              <a:lnSpc>
                <a:spcPct val="130000"/>
              </a:lnSpc>
            </a:pPr>
            <a:r>
              <a:rPr sz="1200" b="0">
                <a:solidFill>
                  <a:srgbClr val="1E293B"/>
                </a:solidFill>
                <a:latin typeface="Calibri"/>
              </a:rPr>
              <a:t>Computed nightly</a:t>
            </a:r>
          </a:p>
          <a:p>
            <a:pPr algn="l">
              <a:lnSpc>
                <a:spcPct val="130000"/>
              </a:lnSpc>
            </a:pPr>
            <a:r>
              <a:rPr sz="1200" b="0">
                <a:solidFill>
                  <a:srgbClr val="1E293B"/>
                </a:solidFill>
                <a:latin typeface="Calibri"/>
              </a:rPr>
              <a:t>From Catapult exports — joins the wellness flag in coach dashboard.</a:t>
            </a:r>
          </a:p>
          <a:p>
            <a:pPr algn="l">
              <a:lnSpc>
                <a:spcPct val="130000"/>
              </a:lnSpc>
            </a:pPr>
            <a:r>
              <a:rPr sz="1200" b="0">
                <a:solidFill>
                  <a:srgbClr val="1E293B"/>
                </a:solidFill>
                <a:latin typeface="Calibri"/>
              </a:rPr>
              <a:t/>
            </a:r>
          </a:p>
          <a:p>
            <a:pPr algn="l">
              <a:lnSpc>
                <a:spcPct val="130000"/>
              </a:lnSpc>
            </a:pPr>
            <a:r>
              <a:rPr sz="1200" b="0">
                <a:solidFill>
                  <a:srgbClr val="1E293B"/>
                </a:solidFill>
                <a:latin typeface="Calibri"/>
              </a:rPr>
              <a:t>Plain-language reason</a:t>
            </a:r>
          </a:p>
          <a:p>
            <a:pPr algn="l">
              <a:lnSpc>
                <a:spcPct val="130000"/>
              </a:lnSpc>
            </a:pPr>
            <a:r>
              <a:rPr sz="1200" b="0">
                <a:solidFill>
                  <a:srgbClr val="1E293B"/>
                </a:solidFill>
                <a:latin typeface="Calibri"/>
              </a:rPr>
              <a:t>Coach gets a sentence, not a spreadsheet.</a:t>
            </a:r>
          </a:p>
        </p:txBody>
      </p:sp>
      <p:sp>
        <p:nvSpPr>
          <p:cNvPr id="25" name="TextBox 24"/>
          <p:cNvSpPr txBox="1"/>
          <p:nvPr/>
        </p:nvSpPr>
        <p:spPr>
          <a:xfrm>
            <a:off x="457200" y="6446520"/>
            <a:ext cx="27432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
        <p:nvSpPr>
          <p:cNvPr id="26" name="TextBox 25"/>
          <p:cNvSpPr txBox="1"/>
          <p:nvPr/>
        </p:nvSpPr>
        <p:spPr>
          <a:xfrm>
            <a:off x="11247120" y="6446520"/>
            <a:ext cx="914400" cy="274320"/>
          </a:xfrm>
          <a:prstGeom prst="rect">
            <a:avLst/>
          </a:prstGeom>
          <a:noFill/>
        </p:spPr>
        <p:txBody>
          <a:bodyPr wrap="square" lIns="0" rIns="0" tIns="0" bIns="0" anchor="t">
            <a:spAutoFit/>
          </a:bodyPr>
          <a:lstStyle/>
          <a:p>
            <a:pPr algn="r"/>
            <a:r>
              <a:rPr sz="1000" b="0">
                <a:solidFill>
                  <a:srgbClr val="64748B"/>
                </a:solidFill>
                <a:latin typeface="Calibri"/>
              </a:rPr>
              <a:t>29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