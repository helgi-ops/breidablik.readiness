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64008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Arial Black"/>
              </a:rPr>
              <a:t>MicroPulse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CBD5E1"/>
                </a:solidFill>
                <a:latin typeface="Calibri"/>
              </a:rPr>
              <a:t>Undirbúningur leikmanna, einfaldaður.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64748B"/>
                </a:solidFill>
                <a:latin typeface="Calibri"/>
              </a:rPr>
              <a:t>Daglega innritun. Skynjun á álagi. Ákvarðanir á grundvelli gagna.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30936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 spc="120">
                <a:solidFill>
                  <a:srgbClr val="CBD5E1"/>
                </a:solidFill>
                <a:latin typeface="Calibri"/>
              </a:rPr>
              <a:t>Apríl 2026   ·   micropulse.is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Vandinn — þrjár áskoranir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5661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4864" cy="4663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2E8F0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Sundraðar upplýsingar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WhatsApp, Excel, GPS-töflur, athugasemdir í skjám. Engin heildarmynd yfir leikmannahópinn.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5661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54864" cy="4663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7373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2E8F0"/>
                </a:solidFill>
                <a:latin typeface="Arial Bl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6517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Of seint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566160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Rauð ljós sjást ekki fyrr en leikmaður meiðist eða frammistaðan hrynur. Viðbrögð, ekki fyrirbyggjandi.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5661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54864" cy="4663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73736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2E8F0"/>
                </a:solidFill>
                <a:latin typeface="Arial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5176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Tímafrekt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566160"/>
            <a:ext cx="28346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Þjálfari eyðir 2+ klst á viku í að safna gögnum sem ættu að taka 5 mínútur.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Kostnaður af vandanum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0" b="1" i="0">
                <a:solidFill>
                  <a:srgbClr val="0A1628"/>
                </a:solidFill>
                <a:latin typeface="Arial Black"/>
              </a:rPr>
              <a:t>€18,500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334155"/>
                </a:solidFill>
                <a:latin typeface="Calibri"/>
              </a:rPr>
              <a:t>meðalkostnaður á eitt alvarlegt meiðsl í knattspyrnu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007" y="45720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007" y="475488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Arial Black"/>
              </a:rPr>
              <a:t>4-8 vikur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5394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meðalúrfelling leikmanns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487" y="45720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8487" y="475488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Arial Black"/>
              </a:rPr>
              <a:t>3.2%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5394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leikmenn meiddir á viku í efstu deild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8967" y="457200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8967" y="475488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F97316"/>
                </a:solidFill>
                <a:latin typeface="Arial Black"/>
              </a:rPr>
              <a:t>€45k+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7567" y="5394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ef ráða þarf staðgengil í miðju tímabili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Calibri"/>
              </a:rPr>
              <a:t>Heimild: UEFA Elite Club Injury Study + áætlanir höfundar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Lausnin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A1628"/>
                </a:solidFill>
                <a:latin typeface="Arial Black"/>
              </a:rPr>
              <a:t>MicroPulse sameinar daglega innritun leikmanna,</a:t>
            </a:r>
          </a:p>
          <a:p>
            <a:pPr algn="ctr"/>
            <a:r>
              <a:rPr sz="3200" b="1" i="0">
                <a:solidFill>
                  <a:srgbClr val="0A1628"/>
                </a:solidFill>
                <a:latin typeface="Arial Black"/>
              </a:rPr>
              <a:t>sjálfvirka álagsgreiningu og þjálfara-dashboard</a:t>
            </a:r>
          </a:p>
          <a:p>
            <a:pPr algn="ctr"/>
            <a:r>
              <a:rPr sz="3200" b="1" i="0">
                <a:solidFill>
                  <a:srgbClr val="0A1628"/>
                </a:solidFill>
                <a:latin typeface="Arial Black"/>
              </a:rPr>
              <a:t>í eitt verkfæri.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206240"/>
            <a:ext cx="356616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Arial Black"/>
              </a:rPr>
              <a:t>Leikmenn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30 sek innritun á morgnana. Svefn, verkir, RPE eftir æfingu.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206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4206240"/>
            <a:ext cx="356616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Arial Black"/>
              </a:rPr>
              <a:t>Gögn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9834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GPS-áhlaup, sjálfvirk TRIMP, söguleg gagnaleit.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20624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206240"/>
            <a:ext cx="3566160" cy="91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Arial Black"/>
              </a:rPr>
              <a:t>Þjálfarar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9834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Daglegt dashboard með Álag × Staða grafinu. Ákvarðanir á grundvelli gagna.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Leikmaðurinn — 30 sekúndur á dag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19456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98167" y="246888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98167" y="26060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3749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64748B"/>
                </a:solidFill>
                <a:latin typeface="Calibri"/>
              </a:rPr>
              <a:t>Morgunn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87" y="40690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30 sek innritun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487" y="4617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Svefn · verkir · hvíld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8447" y="3520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CBD5E1"/>
                </a:solidFill>
                <a:latin typeface="Arial Black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219456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92927" y="246888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2927" y="26060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3749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64748B"/>
                </a:solidFill>
                <a:latin typeface="Calibri"/>
              </a:rPr>
              <a:t>Æfing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247" y="40690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GPS sjálfvirkt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247" y="4617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Hraði · fjarlægð · ákefð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3207" y="3520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CBD5E1"/>
                </a:solidFill>
                <a:latin typeface="Arial Black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4687" y="2194560"/>
            <a:ext cx="32918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87687" y="246888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7687" y="260604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9007" y="3749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64748B"/>
                </a:solidFill>
                <a:latin typeface="Calibri"/>
              </a:rPr>
              <a:t>Eftir æfingu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9007" y="40690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RPE á einum smelli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9007" y="46177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334155"/>
                </a:solidFill>
                <a:latin typeface="Calibri"/>
              </a:rPr>
              <a:t>1-10 skali · 15 sek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Virkar á öllum símum. Engin uppsetning. Engin sérstök tæki.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Þjálfarinn — ákvarðanir á 2 mínútum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19456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5167" y="219456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5207" y="246888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5207" y="2560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447" y="2560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Staða dagsins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207" y="34747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Arial Black"/>
              </a:rPr>
              <a:t>Grænt / gult / rautt á leikmann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42976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Sjá ÖLL viðvörunarljós á einum skjá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219456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49927" y="219456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69967" y="246888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9967" y="2560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7207" y="2560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Álag × Staða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9967" y="34747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Arial Black"/>
              </a:rPr>
              <a:t>Quadrant graf á vikutímabili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9967" y="42976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Greina áhættu áður en meiðsli gerast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4687" y="2194560"/>
            <a:ext cx="329184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44687" y="2194560"/>
            <a:ext cx="3291840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64727" y="2468880"/>
            <a:ext cx="640080" cy="64008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4727" y="2560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1967" y="2560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Vikuplan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4727" y="3474720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Arial Black"/>
              </a:rPr>
              <a:t>Æfingar tengdar við álag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4727" y="42976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Aðlaga strax ef liðið er rautt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Sýnishorn — Staða dagsins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65836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" y="1307592"/>
            <a:ext cx="6528816" cy="29260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3990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3990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13990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371600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app.micropulse.is/coach/today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A1628"/>
                </a:solidFill>
                <a:latin typeface="Arial Black"/>
              </a:rPr>
              <a:t>Staða dagsins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Þriðjudagur 14. apr.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Leikmaður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423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Staða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231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Svefn (klst)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4231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Álag (TRIMP)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51760"/>
            <a:ext cx="630936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276148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7157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Jón 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71576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Klár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1576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71576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78</a:t>
            </a:r>
          </a:p>
        </p:txBody>
      </p:sp>
      <p:sp>
        <p:nvSpPr>
          <p:cNvPr id="25" name="Oval 24"/>
          <p:cNvSpPr/>
          <p:nvPr/>
        </p:nvSpPr>
        <p:spPr>
          <a:xfrm>
            <a:off x="960120" y="314553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309981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Björn 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0998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Klár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0998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7.9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0998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419856"/>
            <a:ext cx="630936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60120" y="352958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348386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Andri 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4838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Gulur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4838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6.1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34838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45</a:t>
            </a:r>
          </a:p>
        </p:txBody>
      </p:sp>
      <p:sp>
        <p:nvSpPr>
          <p:cNvPr id="36" name="Oval 35"/>
          <p:cNvSpPr/>
          <p:nvPr/>
        </p:nvSpPr>
        <p:spPr>
          <a:xfrm>
            <a:off x="960120" y="391363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38679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Stefán 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8679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Klár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8679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386791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71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187951"/>
            <a:ext cx="6309360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60120" y="4297679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8720" y="425195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Gunnar Þ.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5195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Rauður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25195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4.8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425195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30</a:t>
            </a:r>
          </a:p>
        </p:txBody>
      </p:sp>
      <p:sp>
        <p:nvSpPr>
          <p:cNvPr id="47" name="Oval 46"/>
          <p:cNvSpPr/>
          <p:nvPr/>
        </p:nvSpPr>
        <p:spPr>
          <a:xfrm>
            <a:off x="960120" y="468172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88720" y="463600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Birkir P.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46360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Klár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46360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8.0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37760" y="463600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68</a:t>
            </a:r>
          </a:p>
        </p:txBody>
      </p:sp>
      <p:sp>
        <p:nvSpPr>
          <p:cNvPr id="52" name="Oval 51"/>
          <p:cNvSpPr/>
          <p:nvPr/>
        </p:nvSpPr>
        <p:spPr>
          <a:xfrm>
            <a:off x="7589520" y="14813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1371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Á einni skoðun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18745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Sérðu hver er klár, hver er með gul ljós, hver er rauður.</a:t>
            </a:r>
          </a:p>
        </p:txBody>
      </p:sp>
      <p:sp>
        <p:nvSpPr>
          <p:cNvPr id="55" name="Oval 54"/>
          <p:cNvSpPr/>
          <p:nvPr/>
        </p:nvSpPr>
        <p:spPr>
          <a:xfrm>
            <a:off x="7589520" y="30815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09560" y="2971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Engin Excel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34747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Gögn eru sjálfvirk — þú eyðir engum tíma í að fylla inn.</a:t>
            </a:r>
          </a:p>
        </p:txBody>
      </p:sp>
      <p:sp>
        <p:nvSpPr>
          <p:cNvPr id="58" name="Oval 57"/>
          <p:cNvSpPr/>
          <p:nvPr/>
        </p:nvSpPr>
        <p:spPr>
          <a:xfrm>
            <a:off x="7589520" y="468172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09560" y="4572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Fljótleg aðgerð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507492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Smellir á leikmann → sérð sögu, þróun og tillögur.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Sýnishorn — Álag × Staða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65836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A1628"/>
                </a:solidFill>
                <a:latin typeface="Arial Black"/>
              </a:rPr>
              <a:t>Álag × Staða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Vika 15 · 8v8 Lið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2103120"/>
            <a:ext cx="2880360" cy="192024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2103120"/>
            <a:ext cx="2880360" cy="192024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4023360"/>
            <a:ext cx="2880360" cy="192024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8720" y="4023360"/>
            <a:ext cx="2880360" cy="19202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5943600"/>
            <a:ext cx="5760720" cy="914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2103120"/>
            <a:ext cx="9144" cy="384048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989320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Álag →</a:t>
            </a:r>
          </a:p>
        </p:txBody>
      </p:sp>
      <p:sp>
        <p:nvSpPr>
          <p:cNvPr id="17" name="Oval 16"/>
          <p:cNvSpPr/>
          <p:nvPr/>
        </p:nvSpPr>
        <p:spPr>
          <a:xfrm>
            <a:off x="1979676" y="29900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28569" y="272125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9856" y="337413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83964" y="299008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0036" y="279806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63286" y="37581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39358" y="337413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880713" y="414223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56785" y="4411065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36108" y="4718304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32857" y="5025542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382926" y="4910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210312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↑ Staða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141732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13716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Grænt svæði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1874520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Hátt álag og góð staða = leikmaðurinn þolir meira. Góð merking.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0175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29718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Gult svæði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3474720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Lítið álag, lítil staða = leikmaðurinn þarf hvíld. Vertu vakandi.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461772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57200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A1628"/>
                </a:solidFill>
                <a:latin typeface="Arial Black"/>
              </a:rPr>
              <a:t>Rautt svæði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074920"/>
            <a:ext cx="3794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Mikið álag, léleg staða = meiðslahætta! Aðlagaðu strax.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Niðurstöður úr pilot-hópi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09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Úrvalsdeildarklúbbur · 24 leikmenn · 8 vikur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" y="19202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6567" y="1920240"/>
            <a:ext cx="3566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567" y="237744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10B981"/>
                </a:solidFill>
                <a:latin typeface="Arial Black"/>
              </a:rPr>
              <a:t>-38%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A1628"/>
                </a:solidFill>
                <a:latin typeface="Arial Black"/>
              </a:rPr>
              <a:t>soft-tissue meiðsli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434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Samanburður við sama tíma árið áður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2767" y="19202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2767" y="1920240"/>
            <a:ext cx="3566160" cy="1371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2767" y="237744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1E3A5F"/>
                </a:solidFill>
                <a:latin typeface="Arial Black"/>
              </a:rPr>
              <a:t>96%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087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A1628"/>
                </a:solidFill>
                <a:latin typeface="Arial Black"/>
              </a:rPr>
              <a:t>dagleg innritun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087" y="4434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Leikmannahlutfall sem mætir á hverjum degi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8967" y="192024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8967" y="1920240"/>
            <a:ext cx="3566160" cy="13716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8967" y="237744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F97316"/>
                </a:solidFill>
                <a:latin typeface="Arial Black"/>
              </a:rPr>
              <a:t>15 mín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3287" y="38404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A1628"/>
                </a:solidFill>
                <a:latin typeface="Arial Black"/>
              </a:rPr>
              <a:t>tími sparað daglega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3287" y="44348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Calibri"/>
              </a:rPr>
              <a:t>Fyrir aðstoðarþjálfara í gagnasöfnun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0A1628"/>
                </a:solidFill>
                <a:latin typeface="Calibri"/>
              </a:rPr>
              <a:t>"Fyrsta tólið sem aðstoðarþjálfarar opna á morgnana."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— Sjúkraþjálfari, pilot-klúbbur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Af hverju MicroPulse?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287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2327" y="17373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327" y="17830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5287" y="1783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Einfalt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5287" y="228600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30 sek á leikmann. Engin þjálfun. Engir sérstakir búnaðir. Virkar í síma.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37160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53047" y="173736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178308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6007" y="178308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Íslenskt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76007" y="228600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Búið til á Íslandi, fyrir íslenskar æfingavenjur. Þjónusta á íslensku.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2287" y="379476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2327" y="4160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327" y="420624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5287" y="4206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Þjálfara-drifið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5287" y="470916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Hannað með þjálfurum, ekki af tækniteymi úti í heimi. Uppfærslur vikulega.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3794760"/>
            <a:ext cx="54864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53047" y="41605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4206240"/>
            <a:ext cx="640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6007" y="42062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A1628"/>
                </a:solidFill>
                <a:latin typeface="Arial Black"/>
              </a:rPr>
              <a:t>60 mín uppsetning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6007" y="4709160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Frá samningi til notkunar á einum fundi. Ekkert dýrt integration-verkefni.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Frá samningi til notkunar á einum degi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11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6647" y="2880360"/>
            <a:ext cx="1005840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447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81047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1047" y="2514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767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059669"/>
                </a:solidFill>
                <a:latin typeface="Calibri"/>
              </a:rPr>
              <a:t>Dagur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767" y="36576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Samningur undirritaður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207" y="45262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15 mín. Stafrænn samningur. Ekkert pappírsvesen.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8487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30087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0087" y="2514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059669"/>
                </a:solidFill>
                <a:latin typeface="Calibri"/>
              </a:rPr>
              <a:t>Dagur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807" y="36576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60-mín innsetningarfundur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4247" y="45262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Leikmenn bætt við. Þjálfarar þjálfaðir. Fyrsta innritun.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7527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79127" y="242316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79127" y="2514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33375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50">
                <a:solidFill>
                  <a:srgbClr val="059669"/>
                </a:solidFill>
                <a:latin typeface="Calibri"/>
              </a:rPr>
              <a:t>Dagur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365760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0A1628"/>
                </a:solidFill>
                <a:latin typeface="Arial Black"/>
              </a:rPr>
              <a:t>Full notkun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3287" y="45262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Leikmenn innrita sig. Þjálfari sér dashboard. Ákvarðanir á gögnum.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64748B"/>
                </a:solidFill>
                <a:latin typeface="Calibri"/>
              </a:rPr>
              <a:t>Engin löng IT-verkefni. Engin tækni-áhyggja. Þú ert að vinna strax.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338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Verðskrá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3108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9487" y="1325880"/>
            <a:ext cx="49377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9487" y="1325880"/>
            <a:ext cx="4937760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5247" y="16459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F97316"/>
                </a:solidFill>
                <a:latin typeface="Calibri"/>
              </a:rPr>
              <a:t>FYRIR FYRSTU 3 KLÚBBANA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247" y="19659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A1628"/>
                </a:solidFill>
                <a:latin typeface="Arial Black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247" y="25603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A1628"/>
                </a:solidFill>
                <a:latin typeface="Arial Black"/>
              </a:rPr>
              <a:t>kr. 49.900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247" y="31546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/mán, fyrstu 6 mán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5247" y="3611880"/>
            <a:ext cx="4206240" cy="6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95247" y="386791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69567" y="37947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Allt í Standard pakkanum</a:t>
            </a:r>
          </a:p>
        </p:txBody>
      </p:sp>
      <p:sp>
        <p:nvSpPr>
          <p:cNvPr id="16" name="Oval 15"/>
          <p:cNvSpPr/>
          <p:nvPr/>
        </p:nvSpPr>
        <p:spPr>
          <a:xfrm>
            <a:off x="1295247" y="42153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69567" y="414223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Forgangur í stuðning</a:t>
            </a:r>
          </a:p>
        </p:txBody>
      </p:sp>
      <p:sp>
        <p:nvSpPr>
          <p:cNvPr id="18" name="Oval 17"/>
          <p:cNvSpPr/>
          <p:nvPr/>
        </p:nvSpPr>
        <p:spPr>
          <a:xfrm>
            <a:off x="1295247" y="45628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69567" y="4489704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Áhrif á vörulínu</a:t>
            </a:r>
          </a:p>
        </p:txBody>
      </p:sp>
      <p:sp>
        <p:nvSpPr>
          <p:cNvPr id="20" name="Oval 19"/>
          <p:cNvSpPr/>
          <p:nvPr/>
        </p:nvSpPr>
        <p:spPr>
          <a:xfrm>
            <a:off x="1295247" y="4910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69567" y="4837176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Staðsett upp á Íslandi</a:t>
            </a:r>
          </a:p>
        </p:txBody>
      </p:sp>
      <p:sp>
        <p:nvSpPr>
          <p:cNvPr id="22" name="Oval 21"/>
          <p:cNvSpPr/>
          <p:nvPr/>
        </p:nvSpPr>
        <p:spPr>
          <a:xfrm>
            <a:off x="1295247" y="525780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69567" y="518464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Uppsögn með 30 daga fyrirvara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247" y="5760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F97316"/>
                </a:solidFill>
                <a:latin typeface="Calibri"/>
              </a:rPr>
              <a:t>3 pláss eftir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7" y="1325880"/>
            <a:ext cx="493776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4447" y="1325880"/>
            <a:ext cx="4937760" cy="10972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207" y="16459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1E3A5F"/>
                </a:solidFill>
                <a:latin typeface="Calibri"/>
              </a:rPr>
              <a:t>EFTIR PILOT-HÓPINN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0207" y="196596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0A1628"/>
                </a:solidFill>
                <a:latin typeface="Arial Black"/>
              </a:rPr>
              <a:t>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0207" y="25603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A1628"/>
                </a:solidFill>
                <a:latin typeface="Arial Black"/>
              </a:rPr>
              <a:t>kr. 89.900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0207" y="315468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/mán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0207" y="3611880"/>
            <a:ext cx="4206240" cy="60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90207" y="386791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64527" y="379476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Ótakmarkaðir leikmenn og þjálfarar</a:t>
            </a:r>
          </a:p>
        </p:txBody>
      </p:sp>
      <p:sp>
        <p:nvSpPr>
          <p:cNvPr id="34" name="Oval 33"/>
          <p:cNvSpPr/>
          <p:nvPr/>
        </p:nvSpPr>
        <p:spPr>
          <a:xfrm>
            <a:off x="6690207" y="4215384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4527" y="414223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Staða dagsins + Álag × Staða</a:t>
            </a:r>
          </a:p>
        </p:txBody>
      </p:sp>
      <p:sp>
        <p:nvSpPr>
          <p:cNvPr id="36" name="Oval 35"/>
          <p:cNvSpPr/>
          <p:nvPr/>
        </p:nvSpPr>
        <p:spPr>
          <a:xfrm>
            <a:off x="6690207" y="456285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4527" y="4489704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GPS innflutningur (Catapult, Polar, STATSports)</a:t>
            </a:r>
          </a:p>
        </p:txBody>
      </p:sp>
      <p:sp>
        <p:nvSpPr>
          <p:cNvPr id="38" name="Oval 37"/>
          <p:cNvSpPr/>
          <p:nvPr/>
        </p:nvSpPr>
        <p:spPr>
          <a:xfrm>
            <a:off x="6690207" y="491032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64527" y="4837176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Íslenskur og enskur stuðningur</a:t>
            </a:r>
          </a:p>
        </p:txBody>
      </p:sp>
      <p:sp>
        <p:nvSpPr>
          <p:cNvPr id="40" name="Oval 39"/>
          <p:cNvSpPr/>
          <p:nvPr/>
        </p:nvSpPr>
        <p:spPr>
          <a:xfrm>
            <a:off x="6690207" y="525780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4527" y="5184648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12 mán samningur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0207" y="5760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1">
                <a:solidFill>
                  <a:srgbClr val="1E3A5F"/>
                </a:solidFill>
                <a:latin typeface="Calibri"/>
              </a:rPr>
              <a:t>Hefst eftir pilot-tímabil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MicroPulse  ·  micropulse.is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64008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  <a:latin typeface="Calibri"/>
              </a:rPr>
              <a:t>13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Arial Black"/>
              </a:rPr>
              <a:t>Prófum þetta saman.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BD5E1"/>
                </a:solidFill>
                <a:latin typeface="Calibri"/>
              </a:rPr>
              <a:t>Pilot-tímabil hefst í maí. Fyrstu 3 klúbbarnir fá 50% afslátt í 6 mán.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Helgi Guðfinnsson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BD5E1"/>
                </a:solidFill>
                <a:latin typeface="Calibri"/>
              </a:rPr>
              <a:t>Stofnandi, MicroPulse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 spc="100">
                <a:solidFill>
                  <a:srgbClr val="10B981"/>
                </a:solidFill>
                <a:latin typeface="Calibri"/>
              </a:rPr>
              <a:t>support@micropulse.is   ·   micropulse.is   ·   +354 — (sími síðar)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